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2563EB"/>
          </a:solidFill>
          <a:ln/>
        </p:spPr>
      </p:sp>
      <p:sp>
        <p:nvSpPr>
          <p:cNvPr id="3" name="Text 1"/>
          <p:cNvSpPr/>
          <p:nvPr/>
        </p:nvSpPr>
        <p:spPr>
          <a:xfrm>
            <a:off x="640080" y="1737360"/>
            <a:ext cx="10972800" cy="365760"/>
          </a:xfrm>
          <a:prstGeom prst="rect">
            <a:avLst/>
          </a:prstGeom>
          <a:noFill/>
          <a:ln/>
        </p:spPr>
        <p:txBody>
          <a:bodyPr wrap="square" lIns="0" tIns="0" rIns="0" bIns="0" rtlCol="0" anchor="ctr"/>
          <a:lstStyle/>
          <a:p>
            <a:pPr indent="0" marL="0">
              <a:buNone/>
            </a:pPr>
            <a:r>
              <a:rPr lang="en-US" sz="1600" b="1" dirty="0">
                <a:solidFill>
                  <a:srgbClr val="93C5FD"/>
                </a:solidFill>
                <a:latin typeface="Arial" pitchFamily="34" charset="0"/>
                <a:ea typeface="Arial" pitchFamily="34" charset="-122"/>
                <a:cs typeface="Arial" pitchFamily="34" charset="-120"/>
              </a:rPr>
              <a:t>SUPER SIMPLE GUIDE</a:t>
            </a:r>
            <a:endParaRPr lang="en-US" sz="1600" dirty="0"/>
          </a:p>
        </p:txBody>
      </p:sp>
      <p:sp>
        <p:nvSpPr>
          <p:cNvPr id="4" name="Text 2"/>
          <p:cNvSpPr/>
          <p:nvPr/>
        </p:nvSpPr>
        <p:spPr>
          <a:xfrm>
            <a:off x="640080" y="2286000"/>
            <a:ext cx="10972800" cy="822960"/>
          </a:xfrm>
          <a:prstGeom prst="rect">
            <a:avLst/>
          </a:prstGeom>
          <a:noFill/>
          <a:ln/>
        </p:spPr>
        <p:txBody>
          <a:bodyPr wrap="square" lIns="0" tIns="0" rIns="0" bIns="0" rtlCol="0" anchor="ctr"/>
          <a:lstStyle/>
          <a:p>
            <a:pPr indent="0" marL="0">
              <a:buNone/>
            </a:pPr>
            <a:r>
              <a:rPr lang="en-US" sz="4600" b="1" dirty="0">
                <a:solidFill>
                  <a:srgbClr val="FFFFFF"/>
                </a:solidFill>
                <a:latin typeface="Arial" pitchFamily="34" charset="0"/>
                <a:ea typeface="Arial" pitchFamily="34" charset="-122"/>
                <a:cs typeface="Arial" pitchFamily="34" charset="-120"/>
              </a:rPr>
              <a:t>LLM  →  RAG  →  MCP</a:t>
            </a:r>
            <a:endParaRPr lang="en-US" sz="4600" dirty="0"/>
          </a:p>
        </p:txBody>
      </p:sp>
      <p:sp>
        <p:nvSpPr>
          <p:cNvPr id="5" name="Text 3"/>
          <p:cNvSpPr/>
          <p:nvPr/>
        </p:nvSpPr>
        <p:spPr>
          <a:xfrm>
            <a:off x="640080" y="3200400"/>
            <a:ext cx="10972800" cy="457200"/>
          </a:xfrm>
          <a:prstGeom prst="rect">
            <a:avLst/>
          </a:prstGeom>
          <a:noFill/>
          <a:ln/>
        </p:spPr>
        <p:txBody>
          <a:bodyPr wrap="square" lIns="0" tIns="0" rIns="0" bIns="0" rtlCol="0" anchor="ctr"/>
          <a:lstStyle/>
          <a:p>
            <a:pPr indent="0" marL="0">
              <a:buNone/>
            </a:pPr>
            <a:r>
              <a:rPr lang="en-US" sz="2200" dirty="0">
                <a:solidFill>
                  <a:srgbClr val="93C5FD"/>
                </a:solidFill>
                <a:latin typeface="Arial" pitchFamily="34" charset="0"/>
                <a:ea typeface="Arial" pitchFamily="34" charset="-122"/>
                <a:cs typeface="Arial" pitchFamily="34" charset="-120"/>
              </a:rPr>
              <a:t>Learn modern AI in the easiest way possible</a:t>
            </a:r>
            <a:endParaRPr lang="en-US" sz="2200" dirty="0"/>
          </a:p>
        </p:txBody>
      </p:sp>
      <p:sp>
        <p:nvSpPr>
          <p:cNvPr id="6" name="Text 4"/>
          <p:cNvSpPr/>
          <p:nvPr/>
        </p:nvSpPr>
        <p:spPr>
          <a:xfrm>
            <a:off x="640080" y="3931920"/>
            <a:ext cx="10058400" cy="822960"/>
          </a:xfrm>
          <a:prstGeom prst="rect">
            <a:avLst/>
          </a:prstGeom>
          <a:noFill/>
          <a:ln/>
        </p:spPr>
        <p:txBody>
          <a:bodyPr wrap="square" lIns="0" tIns="0" rIns="0" bIns="0" rtlCol="0" anchor="ctr"/>
          <a:lstStyle/>
          <a:p>
            <a:pPr indent="0" marL="0">
              <a:buNone/>
            </a:pPr>
            <a:r>
              <a:rPr lang="en-US" sz="1600" dirty="0">
                <a:solidFill>
                  <a:srgbClr val="94A3B8"/>
                </a:solidFill>
                <a:latin typeface="Arial" pitchFamily="34" charset="0"/>
                <a:ea typeface="Arial" pitchFamily="34" charset="-122"/>
                <a:cs typeface="Arial" pitchFamily="34" charset="-120"/>
              </a:rPr>
              <a:t>No hard words. Simple examples. Clear pictures.</a:t>
            </a:r>
            <a:endParaRPr lang="en-US" sz="1600" dirty="0"/>
          </a:p>
          <a:p>
            <a:pPr indent="0" marL="0">
              <a:buNone/>
            </a:pPr>
            <a:r>
              <a:rPr lang="en-US" sz="1600" dirty="0">
                <a:solidFill>
                  <a:srgbClr val="94A3B8"/>
                </a:solidFill>
                <a:latin typeface="Arial" pitchFamily="34" charset="0"/>
                <a:ea typeface="Arial" pitchFamily="34" charset="-122"/>
                <a:cs typeface="Arial" pitchFamily="34" charset="-120"/>
              </a:rPr>
              <a:t>You can understand everything by yourself.</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indent="0" marL="0">
              <a:buNone/>
            </a:pPr>
            <a:r>
              <a:rPr lang="en-US" sz="2600" b="1" dirty="0">
                <a:solidFill>
                  <a:srgbClr val="0F172A"/>
                </a:solidFill>
                <a:latin typeface="Arial" pitchFamily="34" charset="0"/>
                <a:ea typeface="Arial" pitchFamily="34" charset="-122"/>
                <a:cs typeface="Arial" pitchFamily="34" charset="-120"/>
              </a:rPr>
              <a:t>What You Will Learn</a:t>
            </a:r>
            <a:endParaRPr lang="en-US" sz="2600" dirty="0"/>
          </a:p>
        </p:txBody>
      </p:sp>
      <p:sp>
        <p:nvSpPr>
          <p:cNvPr id="3" name="Shape 1"/>
          <p:cNvSpPr/>
          <p:nvPr/>
        </p:nvSpPr>
        <p:spPr>
          <a:xfrm>
            <a:off x="457200" y="868680"/>
            <a:ext cx="1463040" cy="64008"/>
          </a:xfrm>
          <a:prstGeom prst="rect">
            <a:avLst/>
          </a:prstGeom>
          <a:solidFill>
            <a:srgbClr val="2563EB"/>
          </a:solidFill>
          <a:ln/>
        </p:spPr>
      </p:sp>
      <p:sp>
        <p:nvSpPr>
          <p:cNvPr id="4" name="Shape 2"/>
          <p:cNvSpPr/>
          <p:nvPr/>
        </p:nvSpPr>
        <p:spPr>
          <a:xfrm>
            <a:off x="457200" y="1280160"/>
            <a:ext cx="3611880" cy="2194560"/>
          </a:xfrm>
          <a:prstGeom prst="roundRect">
            <a:avLst>
              <a:gd name="adj" fmla="val 5000"/>
            </a:avLst>
          </a:prstGeom>
          <a:solidFill>
            <a:srgbClr val="F1F5F9"/>
          </a:solidFill>
          <a:ln/>
        </p:spPr>
      </p:sp>
      <p:pic>
        <p:nvPicPr>
          <p:cNvPr id="5" name="Image 0" descr="preencoded.png">    </p:cNvPr>
          <p:cNvPicPr>
            <a:picLocks noChangeAspect="1"/>
          </p:cNvPicPr>
          <p:nvPr/>
        </p:nvPicPr>
        <p:blipFill>
          <a:blip r:embed="rId1"/>
          <a:stretch>
            <a:fillRect/>
          </a:stretch>
        </p:blipFill>
        <p:spPr>
          <a:xfrm>
            <a:off x="731520" y="1600200"/>
            <a:ext cx="457200" cy="457200"/>
          </a:xfrm>
          <a:prstGeom prst="rect">
            <a:avLst/>
          </a:prstGeom>
        </p:spPr>
      </p:pic>
      <p:sp>
        <p:nvSpPr>
          <p:cNvPr id="6" name="Text 3"/>
          <p:cNvSpPr/>
          <p:nvPr/>
        </p:nvSpPr>
        <p:spPr>
          <a:xfrm>
            <a:off x="731520" y="2286000"/>
            <a:ext cx="3108960" cy="365760"/>
          </a:xfrm>
          <a:prstGeom prst="rect">
            <a:avLst/>
          </a:prstGeom>
          <a:noFill/>
          <a:ln/>
        </p:spPr>
        <p:txBody>
          <a:bodyPr wrap="square" lIns="0" tIns="0" rIns="0" bIns="0" rtlCol="0" anchor="ctr"/>
          <a:lstStyle/>
          <a:p>
            <a:pPr indent="0" marL="0">
              <a:buNone/>
            </a:pPr>
            <a:r>
              <a:rPr lang="en-US" sz="1800" b="1" dirty="0">
                <a:solidFill>
                  <a:srgbClr val="0F172A"/>
                </a:solidFill>
                <a:latin typeface="Arial" pitchFamily="34" charset="0"/>
                <a:ea typeface="Arial" pitchFamily="34" charset="-122"/>
                <a:cs typeface="Arial" pitchFamily="34" charset="-120"/>
              </a:rPr>
              <a:t>What is an LLM?</a:t>
            </a:r>
            <a:endParaRPr lang="en-US" sz="1800" dirty="0"/>
          </a:p>
        </p:txBody>
      </p:sp>
      <p:sp>
        <p:nvSpPr>
          <p:cNvPr id="7" name="Text 4"/>
          <p:cNvSpPr/>
          <p:nvPr/>
        </p:nvSpPr>
        <p:spPr>
          <a:xfrm>
            <a:off x="731520" y="2697480"/>
            <a:ext cx="3108960" cy="457200"/>
          </a:xfrm>
          <a:prstGeom prst="rect">
            <a:avLst/>
          </a:prstGeom>
          <a:noFill/>
          <a:ln/>
        </p:spPr>
        <p:txBody>
          <a:bodyPr wrap="square" lIns="0" tIns="0" rIns="0" bIns="0" rtlCol="0" anchor="ctr"/>
          <a:lstStyle/>
          <a:p>
            <a:pPr indent="0" marL="0">
              <a:buNone/>
            </a:pPr>
            <a:r>
              <a:rPr lang="en-US" sz="1400" dirty="0">
                <a:solidFill>
                  <a:srgbClr val="64748B"/>
                </a:solidFill>
                <a:latin typeface="Arial" pitchFamily="34" charset="0"/>
                <a:ea typeface="Arial" pitchFamily="34" charset="-122"/>
                <a:cs typeface="Arial" pitchFamily="34" charset="-120"/>
              </a:rPr>
              <a:t>How ChatGPT-like models work</a:t>
            </a:r>
            <a:endParaRPr lang="en-US" sz="1400" dirty="0"/>
          </a:p>
        </p:txBody>
      </p:sp>
      <p:sp>
        <p:nvSpPr>
          <p:cNvPr id="8" name="Shape 5"/>
          <p:cNvSpPr/>
          <p:nvPr/>
        </p:nvSpPr>
        <p:spPr>
          <a:xfrm>
            <a:off x="4297680" y="1280160"/>
            <a:ext cx="3611880" cy="2194560"/>
          </a:xfrm>
          <a:prstGeom prst="roundRect">
            <a:avLst>
              <a:gd name="adj" fmla="val 5000"/>
            </a:avLst>
          </a:prstGeom>
          <a:solidFill>
            <a:srgbClr val="F1F5F9"/>
          </a:solidFill>
          <a:ln/>
        </p:spPr>
      </p:sp>
      <p:pic>
        <p:nvPicPr>
          <p:cNvPr id="9" name="Image 1" descr="preencoded.png">    </p:cNvPr>
          <p:cNvPicPr>
            <a:picLocks noChangeAspect="1"/>
          </p:cNvPicPr>
          <p:nvPr/>
        </p:nvPicPr>
        <p:blipFill>
          <a:blip r:embed="rId2"/>
          <a:stretch>
            <a:fillRect/>
          </a:stretch>
        </p:blipFill>
        <p:spPr>
          <a:xfrm>
            <a:off x="4572000" y="1600200"/>
            <a:ext cx="457200" cy="457200"/>
          </a:xfrm>
          <a:prstGeom prst="rect">
            <a:avLst/>
          </a:prstGeom>
        </p:spPr>
      </p:pic>
      <p:sp>
        <p:nvSpPr>
          <p:cNvPr id="10" name="Text 6"/>
          <p:cNvSpPr/>
          <p:nvPr/>
        </p:nvSpPr>
        <p:spPr>
          <a:xfrm>
            <a:off x="4572000" y="2286000"/>
            <a:ext cx="3108960" cy="365760"/>
          </a:xfrm>
          <a:prstGeom prst="rect">
            <a:avLst/>
          </a:prstGeom>
          <a:noFill/>
          <a:ln/>
        </p:spPr>
        <p:txBody>
          <a:bodyPr wrap="square" lIns="0" tIns="0" rIns="0" bIns="0" rtlCol="0" anchor="ctr"/>
          <a:lstStyle/>
          <a:p>
            <a:pPr indent="0" marL="0">
              <a:buNone/>
            </a:pPr>
            <a:r>
              <a:rPr lang="en-US" sz="1800" b="1" dirty="0">
                <a:solidFill>
                  <a:srgbClr val="0F172A"/>
                </a:solidFill>
                <a:latin typeface="Arial" pitchFamily="34" charset="0"/>
                <a:ea typeface="Arial" pitchFamily="34" charset="-122"/>
                <a:cs typeface="Arial" pitchFamily="34" charset="-120"/>
              </a:rPr>
              <a:t>Tokens &amp; Context</a:t>
            </a:r>
            <a:endParaRPr lang="en-US" sz="1800" dirty="0"/>
          </a:p>
        </p:txBody>
      </p:sp>
      <p:sp>
        <p:nvSpPr>
          <p:cNvPr id="11" name="Text 7"/>
          <p:cNvSpPr/>
          <p:nvPr/>
        </p:nvSpPr>
        <p:spPr>
          <a:xfrm>
            <a:off x="4572000" y="2697480"/>
            <a:ext cx="3108960" cy="457200"/>
          </a:xfrm>
          <a:prstGeom prst="rect">
            <a:avLst/>
          </a:prstGeom>
          <a:noFill/>
          <a:ln/>
        </p:spPr>
        <p:txBody>
          <a:bodyPr wrap="square" lIns="0" tIns="0" rIns="0" bIns="0" rtlCol="0" anchor="ctr"/>
          <a:lstStyle/>
          <a:p>
            <a:pPr indent="0" marL="0">
              <a:buNone/>
            </a:pPr>
            <a:r>
              <a:rPr lang="en-US" sz="1400" dirty="0">
                <a:solidFill>
                  <a:srgbClr val="64748B"/>
                </a:solidFill>
                <a:latin typeface="Arial" pitchFamily="34" charset="0"/>
                <a:ea typeface="Arial" pitchFamily="34" charset="-122"/>
                <a:cs typeface="Arial" pitchFamily="34" charset="-120"/>
              </a:rPr>
              <a:t>How the model reads text</a:t>
            </a:r>
            <a:endParaRPr lang="en-US" sz="1400" dirty="0"/>
          </a:p>
        </p:txBody>
      </p:sp>
      <p:sp>
        <p:nvSpPr>
          <p:cNvPr id="12" name="Shape 8"/>
          <p:cNvSpPr/>
          <p:nvPr/>
        </p:nvSpPr>
        <p:spPr>
          <a:xfrm>
            <a:off x="8138160" y="1280160"/>
            <a:ext cx="3611880" cy="2194560"/>
          </a:xfrm>
          <a:prstGeom prst="roundRect">
            <a:avLst>
              <a:gd name="adj" fmla="val 5000"/>
            </a:avLst>
          </a:prstGeom>
          <a:solidFill>
            <a:srgbClr val="F1F5F9"/>
          </a:solidFill>
          <a:ln/>
        </p:spPr>
      </p:sp>
      <p:pic>
        <p:nvPicPr>
          <p:cNvPr id="13" name="Image 2" descr="preencoded.png">    </p:cNvPr>
          <p:cNvPicPr>
            <a:picLocks noChangeAspect="1"/>
          </p:cNvPicPr>
          <p:nvPr/>
        </p:nvPicPr>
        <p:blipFill>
          <a:blip r:embed="rId3"/>
          <a:stretch>
            <a:fillRect/>
          </a:stretch>
        </p:blipFill>
        <p:spPr>
          <a:xfrm>
            <a:off x="8412480" y="1600200"/>
            <a:ext cx="457200" cy="457200"/>
          </a:xfrm>
          <a:prstGeom prst="rect">
            <a:avLst/>
          </a:prstGeom>
        </p:spPr>
      </p:pic>
      <p:sp>
        <p:nvSpPr>
          <p:cNvPr id="14" name="Text 9"/>
          <p:cNvSpPr/>
          <p:nvPr/>
        </p:nvSpPr>
        <p:spPr>
          <a:xfrm>
            <a:off x="8412480" y="2286000"/>
            <a:ext cx="3108960" cy="365760"/>
          </a:xfrm>
          <a:prstGeom prst="rect">
            <a:avLst/>
          </a:prstGeom>
          <a:noFill/>
          <a:ln/>
        </p:spPr>
        <p:txBody>
          <a:bodyPr wrap="square" lIns="0" tIns="0" rIns="0" bIns="0" rtlCol="0" anchor="ctr"/>
          <a:lstStyle/>
          <a:p>
            <a:pPr indent="0" marL="0">
              <a:buNone/>
            </a:pPr>
            <a:r>
              <a:rPr lang="en-US" sz="1800" b="1" dirty="0">
                <a:solidFill>
                  <a:srgbClr val="0F172A"/>
                </a:solidFill>
                <a:latin typeface="Arial" pitchFamily="34" charset="0"/>
                <a:ea typeface="Arial" pitchFamily="34" charset="-122"/>
                <a:cs typeface="Arial" pitchFamily="34" charset="-120"/>
              </a:rPr>
              <a:t>RAG</a:t>
            </a:r>
            <a:endParaRPr lang="en-US" sz="1800" dirty="0"/>
          </a:p>
        </p:txBody>
      </p:sp>
      <p:sp>
        <p:nvSpPr>
          <p:cNvPr id="15" name="Text 10"/>
          <p:cNvSpPr/>
          <p:nvPr/>
        </p:nvSpPr>
        <p:spPr>
          <a:xfrm>
            <a:off x="8412480" y="2697480"/>
            <a:ext cx="3108960" cy="457200"/>
          </a:xfrm>
          <a:prstGeom prst="rect">
            <a:avLst/>
          </a:prstGeom>
          <a:noFill/>
          <a:ln/>
        </p:spPr>
        <p:txBody>
          <a:bodyPr wrap="square" lIns="0" tIns="0" rIns="0" bIns="0" rtlCol="0" anchor="ctr"/>
          <a:lstStyle/>
          <a:p>
            <a:pPr indent="0" marL="0">
              <a:buNone/>
            </a:pPr>
            <a:r>
              <a:rPr lang="en-US" sz="1400" dirty="0">
                <a:solidFill>
                  <a:srgbClr val="64748B"/>
                </a:solidFill>
                <a:latin typeface="Arial" pitchFamily="34" charset="0"/>
                <a:ea typeface="Arial" pitchFamily="34" charset="-122"/>
                <a:cs typeface="Arial" pitchFamily="34" charset="-120"/>
              </a:rPr>
              <a:t>How AI uses your private data</a:t>
            </a:r>
            <a:endParaRPr lang="en-US" sz="1400" dirty="0"/>
          </a:p>
        </p:txBody>
      </p:sp>
      <p:sp>
        <p:nvSpPr>
          <p:cNvPr id="16" name="Shape 11"/>
          <p:cNvSpPr/>
          <p:nvPr/>
        </p:nvSpPr>
        <p:spPr>
          <a:xfrm>
            <a:off x="457200" y="3749040"/>
            <a:ext cx="3611880" cy="2194560"/>
          </a:xfrm>
          <a:prstGeom prst="roundRect">
            <a:avLst>
              <a:gd name="adj" fmla="val 5000"/>
            </a:avLst>
          </a:prstGeom>
          <a:solidFill>
            <a:srgbClr val="F1F5F9"/>
          </a:solidFill>
          <a:ln/>
        </p:spPr>
      </p:sp>
      <p:pic>
        <p:nvPicPr>
          <p:cNvPr id="17" name="Image 3" descr="preencoded.png">    </p:cNvPr>
          <p:cNvPicPr>
            <a:picLocks noChangeAspect="1"/>
          </p:cNvPicPr>
          <p:nvPr/>
        </p:nvPicPr>
        <p:blipFill>
          <a:blip r:embed="rId4"/>
          <a:stretch>
            <a:fillRect/>
          </a:stretch>
        </p:blipFill>
        <p:spPr>
          <a:xfrm>
            <a:off x="731520" y="4069080"/>
            <a:ext cx="457200" cy="457200"/>
          </a:xfrm>
          <a:prstGeom prst="rect">
            <a:avLst/>
          </a:prstGeom>
        </p:spPr>
      </p:pic>
      <p:sp>
        <p:nvSpPr>
          <p:cNvPr id="18" name="Text 12"/>
          <p:cNvSpPr/>
          <p:nvPr/>
        </p:nvSpPr>
        <p:spPr>
          <a:xfrm>
            <a:off x="731520" y="4754880"/>
            <a:ext cx="3108960" cy="365760"/>
          </a:xfrm>
          <a:prstGeom prst="rect">
            <a:avLst/>
          </a:prstGeom>
          <a:noFill/>
          <a:ln/>
        </p:spPr>
        <p:txBody>
          <a:bodyPr wrap="square" lIns="0" tIns="0" rIns="0" bIns="0" rtlCol="0" anchor="ctr"/>
          <a:lstStyle/>
          <a:p>
            <a:pPr indent="0" marL="0">
              <a:buNone/>
            </a:pPr>
            <a:r>
              <a:rPr lang="en-US" sz="1800" b="1" dirty="0">
                <a:solidFill>
                  <a:srgbClr val="0F172A"/>
                </a:solidFill>
                <a:latin typeface="Arial" pitchFamily="34" charset="0"/>
                <a:ea typeface="Arial" pitchFamily="34" charset="-122"/>
                <a:cs typeface="Arial" pitchFamily="34" charset="-120"/>
              </a:rPr>
              <a:t>MCP</a:t>
            </a:r>
            <a:endParaRPr lang="en-US" sz="1800" dirty="0"/>
          </a:p>
        </p:txBody>
      </p:sp>
      <p:sp>
        <p:nvSpPr>
          <p:cNvPr id="19" name="Text 13"/>
          <p:cNvSpPr/>
          <p:nvPr/>
        </p:nvSpPr>
        <p:spPr>
          <a:xfrm>
            <a:off x="731520" y="5166360"/>
            <a:ext cx="3108960" cy="457200"/>
          </a:xfrm>
          <a:prstGeom prst="rect">
            <a:avLst/>
          </a:prstGeom>
          <a:noFill/>
          <a:ln/>
        </p:spPr>
        <p:txBody>
          <a:bodyPr wrap="square" lIns="0" tIns="0" rIns="0" bIns="0" rtlCol="0" anchor="ctr"/>
          <a:lstStyle/>
          <a:p>
            <a:pPr indent="0" marL="0">
              <a:buNone/>
            </a:pPr>
            <a:r>
              <a:rPr lang="en-US" sz="1400" dirty="0">
                <a:solidFill>
                  <a:srgbClr val="64748B"/>
                </a:solidFill>
                <a:latin typeface="Arial" pitchFamily="34" charset="0"/>
                <a:ea typeface="Arial" pitchFamily="34" charset="-122"/>
                <a:cs typeface="Arial" pitchFamily="34" charset="-120"/>
              </a:rPr>
              <a:t>How AI connects to tools</a:t>
            </a:r>
            <a:endParaRPr lang="en-US" sz="1400" dirty="0"/>
          </a:p>
        </p:txBody>
      </p:sp>
      <p:sp>
        <p:nvSpPr>
          <p:cNvPr id="20" name="Shape 14"/>
          <p:cNvSpPr/>
          <p:nvPr/>
        </p:nvSpPr>
        <p:spPr>
          <a:xfrm>
            <a:off x="4297680" y="3749040"/>
            <a:ext cx="3611880" cy="2194560"/>
          </a:xfrm>
          <a:prstGeom prst="roundRect">
            <a:avLst>
              <a:gd name="adj" fmla="val 5000"/>
            </a:avLst>
          </a:prstGeom>
          <a:solidFill>
            <a:srgbClr val="F1F5F9"/>
          </a:solidFill>
          <a:ln/>
        </p:spPr>
      </p:sp>
      <p:pic>
        <p:nvPicPr>
          <p:cNvPr id="21" name="Image 4" descr="preencoded.png">    </p:cNvPr>
          <p:cNvPicPr>
            <a:picLocks noChangeAspect="1"/>
          </p:cNvPicPr>
          <p:nvPr/>
        </p:nvPicPr>
        <p:blipFill>
          <a:blip r:embed="rId5"/>
          <a:stretch>
            <a:fillRect/>
          </a:stretch>
        </p:blipFill>
        <p:spPr>
          <a:xfrm>
            <a:off x="4572000" y="4069080"/>
            <a:ext cx="457200" cy="457200"/>
          </a:xfrm>
          <a:prstGeom prst="rect">
            <a:avLst/>
          </a:prstGeom>
        </p:spPr>
      </p:pic>
      <p:sp>
        <p:nvSpPr>
          <p:cNvPr id="22" name="Text 15"/>
          <p:cNvSpPr/>
          <p:nvPr/>
        </p:nvSpPr>
        <p:spPr>
          <a:xfrm>
            <a:off x="4572000" y="4754880"/>
            <a:ext cx="3108960" cy="365760"/>
          </a:xfrm>
          <a:prstGeom prst="rect">
            <a:avLst/>
          </a:prstGeom>
          <a:noFill/>
          <a:ln/>
        </p:spPr>
        <p:txBody>
          <a:bodyPr wrap="square" lIns="0" tIns="0" rIns="0" bIns="0" rtlCol="0" anchor="ctr"/>
          <a:lstStyle/>
          <a:p>
            <a:pPr indent="0" marL="0">
              <a:buNone/>
            </a:pPr>
            <a:r>
              <a:rPr lang="en-US" sz="1800" b="1" dirty="0">
                <a:solidFill>
                  <a:srgbClr val="0F172A"/>
                </a:solidFill>
                <a:latin typeface="Arial" pitchFamily="34" charset="0"/>
                <a:ea typeface="Arial" pitchFamily="34" charset="-122"/>
                <a:cs typeface="Arial" pitchFamily="34" charset="-120"/>
              </a:rPr>
              <a:t>Full Picture</a:t>
            </a:r>
            <a:endParaRPr lang="en-US" sz="1800" dirty="0"/>
          </a:p>
        </p:txBody>
      </p:sp>
      <p:sp>
        <p:nvSpPr>
          <p:cNvPr id="23" name="Text 16"/>
          <p:cNvSpPr/>
          <p:nvPr/>
        </p:nvSpPr>
        <p:spPr>
          <a:xfrm>
            <a:off x="4572000" y="5166360"/>
            <a:ext cx="3108960" cy="457200"/>
          </a:xfrm>
          <a:prstGeom prst="rect">
            <a:avLst/>
          </a:prstGeom>
          <a:noFill/>
          <a:ln/>
        </p:spPr>
        <p:txBody>
          <a:bodyPr wrap="square" lIns="0" tIns="0" rIns="0" bIns="0" rtlCol="0" anchor="ctr"/>
          <a:lstStyle/>
          <a:p>
            <a:pPr indent="0" marL="0">
              <a:buNone/>
            </a:pPr>
            <a:r>
              <a:rPr lang="en-US" sz="1400" dirty="0">
                <a:solidFill>
                  <a:srgbClr val="64748B"/>
                </a:solidFill>
                <a:latin typeface="Arial" pitchFamily="34" charset="0"/>
                <a:ea typeface="Arial" pitchFamily="34" charset="-122"/>
                <a:cs typeface="Arial" pitchFamily="34" charset="-120"/>
              </a:rPr>
              <a:t>How everything works together</a:t>
            </a:r>
            <a:endParaRPr lang="en-US" sz="1400" dirty="0"/>
          </a:p>
        </p:txBody>
      </p:sp>
      <p:sp>
        <p:nvSpPr>
          <p:cNvPr id="24" name="Shape 17"/>
          <p:cNvSpPr/>
          <p:nvPr/>
        </p:nvSpPr>
        <p:spPr>
          <a:xfrm>
            <a:off x="8138160" y="3749040"/>
            <a:ext cx="3611880" cy="2194560"/>
          </a:xfrm>
          <a:prstGeom prst="roundRect">
            <a:avLst>
              <a:gd name="adj" fmla="val 5000"/>
            </a:avLst>
          </a:prstGeom>
          <a:solidFill>
            <a:srgbClr val="F1F5F9"/>
          </a:solidFill>
          <a:ln/>
        </p:spPr>
      </p:sp>
      <p:pic>
        <p:nvPicPr>
          <p:cNvPr id="25" name="Image 5" descr="preencoded.png">    </p:cNvPr>
          <p:cNvPicPr>
            <a:picLocks noChangeAspect="1"/>
          </p:cNvPicPr>
          <p:nvPr/>
        </p:nvPicPr>
        <p:blipFill>
          <a:blip r:embed="rId6"/>
          <a:stretch>
            <a:fillRect/>
          </a:stretch>
        </p:blipFill>
        <p:spPr>
          <a:xfrm>
            <a:off x="8412480" y="4069080"/>
            <a:ext cx="457200" cy="457200"/>
          </a:xfrm>
          <a:prstGeom prst="rect">
            <a:avLst/>
          </a:prstGeom>
        </p:spPr>
      </p:pic>
      <p:sp>
        <p:nvSpPr>
          <p:cNvPr id="26" name="Text 18"/>
          <p:cNvSpPr/>
          <p:nvPr/>
        </p:nvSpPr>
        <p:spPr>
          <a:xfrm>
            <a:off x="8412480" y="4754880"/>
            <a:ext cx="3108960" cy="365760"/>
          </a:xfrm>
          <a:prstGeom prst="rect">
            <a:avLst/>
          </a:prstGeom>
          <a:noFill/>
          <a:ln/>
        </p:spPr>
        <p:txBody>
          <a:bodyPr wrap="square" lIns="0" tIns="0" rIns="0" bIns="0" rtlCol="0" anchor="ctr"/>
          <a:lstStyle/>
          <a:p>
            <a:pPr indent="0" marL="0">
              <a:buNone/>
            </a:pPr>
            <a:r>
              <a:rPr lang="en-US" sz="1800" b="1" dirty="0">
                <a:solidFill>
                  <a:srgbClr val="0F172A"/>
                </a:solidFill>
                <a:latin typeface="Arial" pitchFamily="34" charset="0"/>
                <a:ea typeface="Arial" pitchFamily="34" charset="-122"/>
                <a:cs typeface="Arial" pitchFamily="34" charset="-120"/>
              </a:rPr>
              <a:t>Real Example</a:t>
            </a:r>
            <a:endParaRPr lang="en-US" sz="1800" dirty="0"/>
          </a:p>
        </p:txBody>
      </p:sp>
      <p:sp>
        <p:nvSpPr>
          <p:cNvPr id="27" name="Text 19"/>
          <p:cNvSpPr/>
          <p:nvPr/>
        </p:nvSpPr>
        <p:spPr>
          <a:xfrm>
            <a:off x="8412480" y="5166360"/>
            <a:ext cx="3108960" cy="457200"/>
          </a:xfrm>
          <a:prstGeom prst="rect">
            <a:avLst/>
          </a:prstGeom>
          <a:noFill/>
          <a:ln/>
        </p:spPr>
        <p:txBody>
          <a:bodyPr wrap="square" lIns="0" tIns="0" rIns="0" bIns="0" rtlCol="0" anchor="ctr"/>
          <a:lstStyle/>
          <a:p>
            <a:pPr indent="0" marL="0">
              <a:buNone/>
            </a:pPr>
            <a:r>
              <a:rPr lang="en-US" sz="1400" dirty="0">
                <a:solidFill>
                  <a:srgbClr val="64748B"/>
                </a:solidFill>
                <a:latin typeface="Arial" pitchFamily="34" charset="0"/>
                <a:ea typeface="Arial" pitchFamily="34" charset="-122"/>
                <a:cs typeface="Arial" pitchFamily="34" charset="-120"/>
              </a:rPr>
              <a:t>A company HR assistant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indent="0" marL="0">
              <a:buNone/>
            </a:pPr>
            <a:r>
              <a:rPr lang="en-US" sz="2600" b="1" dirty="0">
                <a:solidFill>
                  <a:srgbClr val="0F172A"/>
                </a:solidFill>
                <a:latin typeface="Arial" pitchFamily="34" charset="0"/>
                <a:ea typeface="Arial" pitchFamily="34" charset="-122"/>
                <a:cs typeface="Arial" pitchFamily="34" charset="-120"/>
              </a:rPr>
              <a:t>The Big Story (Remember This)</a:t>
            </a:r>
            <a:endParaRPr lang="en-US" sz="2600" dirty="0"/>
          </a:p>
        </p:txBody>
      </p:sp>
      <p:sp>
        <p:nvSpPr>
          <p:cNvPr id="3" name="Shape 1"/>
          <p:cNvSpPr/>
          <p:nvPr/>
        </p:nvSpPr>
        <p:spPr>
          <a:xfrm>
            <a:off x="457200" y="868680"/>
            <a:ext cx="1463040" cy="64008"/>
          </a:xfrm>
          <a:prstGeom prst="rect">
            <a:avLst/>
          </a:prstGeom>
          <a:solidFill>
            <a:srgbClr val="2563EB"/>
          </a:solidFill>
          <a:ln/>
        </p:spPr>
      </p:sp>
      <p:sp>
        <p:nvSpPr>
          <p:cNvPr id="4" name="Shape 2"/>
          <p:cNvSpPr/>
          <p:nvPr/>
        </p:nvSpPr>
        <p:spPr>
          <a:xfrm>
            <a:off x="457200" y="1188720"/>
            <a:ext cx="1188720" cy="1097280"/>
          </a:xfrm>
          <a:prstGeom prst="roundRect">
            <a:avLst>
              <a:gd name="adj" fmla="val 10000"/>
            </a:avLst>
          </a:prstGeom>
          <a:solidFill>
            <a:srgbClr val="2563EB"/>
          </a:solidFill>
          <a:ln/>
        </p:spPr>
      </p:sp>
      <p:sp>
        <p:nvSpPr>
          <p:cNvPr id="5" name="Text 3"/>
          <p:cNvSpPr/>
          <p:nvPr/>
        </p:nvSpPr>
        <p:spPr>
          <a:xfrm>
            <a:off x="457200" y="1508760"/>
            <a:ext cx="1188720" cy="45720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1</a:t>
            </a:r>
            <a:endParaRPr lang="en-US" sz="2800" dirty="0"/>
          </a:p>
        </p:txBody>
      </p:sp>
      <p:sp>
        <p:nvSpPr>
          <p:cNvPr id="6" name="Text 4"/>
          <p:cNvSpPr/>
          <p:nvPr/>
        </p:nvSpPr>
        <p:spPr>
          <a:xfrm>
            <a:off x="1920240" y="1325880"/>
            <a:ext cx="2286000" cy="365760"/>
          </a:xfrm>
          <a:prstGeom prst="rect">
            <a:avLst/>
          </a:prstGeom>
          <a:noFill/>
          <a:ln/>
        </p:spPr>
        <p:txBody>
          <a:bodyPr wrap="square" lIns="0" tIns="0" rIns="0" bIns="0" rtlCol="0" anchor="ctr"/>
          <a:lstStyle/>
          <a:p>
            <a:pPr indent="0" marL="0">
              <a:buNone/>
            </a:pPr>
            <a:r>
              <a:rPr lang="en-US" sz="1800" b="1" dirty="0">
                <a:solidFill>
                  <a:srgbClr val="0F172A"/>
                </a:solidFill>
                <a:latin typeface="Arial" pitchFamily="34" charset="0"/>
                <a:ea typeface="Arial" pitchFamily="34" charset="-122"/>
                <a:cs typeface="Arial" pitchFamily="34" charset="-120"/>
              </a:rPr>
              <a:t>LLM</a:t>
            </a:r>
            <a:endParaRPr lang="en-US" sz="1800" dirty="0"/>
          </a:p>
        </p:txBody>
      </p:sp>
      <p:sp>
        <p:nvSpPr>
          <p:cNvPr id="7" name="Text 5"/>
          <p:cNvSpPr/>
          <p:nvPr/>
        </p:nvSpPr>
        <p:spPr>
          <a:xfrm>
            <a:off x="4389120" y="1325880"/>
            <a:ext cx="7132320" cy="914400"/>
          </a:xfrm>
          <a:prstGeom prst="rect">
            <a:avLst/>
          </a:prstGeom>
          <a:noFill/>
          <a:ln/>
        </p:spPr>
        <p:txBody>
          <a:bodyPr wrap="square" lIns="0" tIns="0" rIns="0" bIns="0" rtlCol="0" anchor="ctr"/>
          <a:lstStyle/>
          <a:p>
            <a:pPr indent="0" marL="0">
              <a:buNone/>
            </a:pPr>
            <a:r>
              <a:rPr lang="en-US" sz="1500" dirty="0">
                <a:solidFill>
                  <a:srgbClr val="1E293B"/>
                </a:solidFill>
                <a:latin typeface="Arial" pitchFamily="34" charset="0"/>
                <a:ea typeface="Arial" pitchFamily="34" charset="-122"/>
                <a:cs typeface="Arial" pitchFamily="34" charset="-120"/>
              </a:rPr>
              <a:t>AI can write text.</a:t>
            </a:r>
            <a:endParaRPr lang="en-US" sz="1500" dirty="0"/>
          </a:p>
          <a:p>
            <a:pPr indent="0" marL="0">
              <a:buNone/>
            </a:pPr>
            <a:r>
              <a:rPr lang="en-US" sz="1500" dirty="0">
                <a:solidFill>
                  <a:srgbClr val="1E293B"/>
                </a:solidFill>
                <a:latin typeface="Arial" pitchFamily="34" charset="0"/>
                <a:ea typeface="Arial" pitchFamily="34" charset="-122"/>
                <a:cs typeface="Arial" pitchFamily="34" charset="-120"/>
              </a:rPr>
              <a:t>But it does not know your private data.</a:t>
            </a:r>
            <a:endParaRPr lang="en-US" sz="1500" dirty="0"/>
          </a:p>
          <a:p>
            <a:pPr indent="0" marL="0">
              <a:buNone/>
            </a:pPr>
            <a:r>
              <a:rPr lang="en-US" sz="1500" dirty="0">
                <a:solidFill>
                  <a:srgbClr val="1E293B"/>
                </a:solidFill>
                <a:latin typeface="Arial" pitchFamily="34" charset="0"/>
                <a:ea typeface="Arial" pitchFamily="34" charset="-122"/>
                <a:cs typeface="Arial" pitchFamily="34" charset="-120"/>
              </a:rPr>
              <a:t>And it cannot do real actions.</a:t>
            </a:r>
            <a:endParaRPr lang="en-US" sz="1500" dirty="0"/>
          </a:p>
        </p:txBody>
      </p:sp>
      <p:sp>
        <p:nvSpPr>
          <p:cNvPr id="8" name="Shape 6"/>
          <p:cNvSpPr/>
          <p:nvPr/>
        </p:nvSpPr>
        <p:spPr>
          <a:xfrm>
            <a:off x="457200" y="2468880"/>
            <a:ext cx="1188720" cy="1097280"/>
          </a:xfrm>
          <a:prstGeom prst="roundRect">
            <a:avLst>
              <a:gd name="adj" fmla="val 10000"/>
            </a:avLst>
          </a:prstGeom>
          <a:solidFill>
            <a:srgbClr val="2563EB"/>
          </a:solidFill>
          <a:ln/>
        </p:spPr>
      </p:sp>
      <p:sp>
        <p:nvSpPr>
          <p:cNvPr id="9" name="Text 7"/>
          <p:cNvSpPr/>
          <p:nvPr/>
        </p:nvSpPr>
        <p:spPr>
          <a:xfrm>
            <a:off x="457200" y="2788920"/>
            <a:ext cx="1188720" cy="45720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2</a:t>
            </a:r>
            <a:endParaRPr lang="en-US" sz="2800" dirty="0"/>
          </a:p>
        </p:txBody>
      </p:sp>
      <p:sp>
        <p:nvSpPr>
          <p:cNvPr id="10" name="Text 8"/>
          <p:cNvSpPr/>
          <p:nvPr/>
        </p:nvSpPr>
        <p:spPr>
          <a:xfrm>
            <a:off x="1920240" y="2606040"/>
            <a:ext cx="2286000" cy="365760"/>
          </a:xfrm>
          <a:prstGeom prst="rect">
            <a:avLst/>
          </a:prstGeom>
          <a:noFill/>
          <a:ln/>
        </p:spPr>
        <p:txBody>
          <a:bodyPr wrap="square" lIns="0" tIns="0" rIns="0" bIns="0" rtlCol="0" anchor="ctr"/>
          <a:lstStyle/>
          <a:p>
            <a:pPr indent="0" marL="0">
              <a:buNone/>
            </a:pPr>
            <a:r>
              <a:rPr lang="en-US" sz="1800" b="1" dirty="0">
                <a:solidFill>
                  <a:srgbClr val="0F172A"/>
                </a:solidFill>
                <a:latin typeface="Arial" pitchFamily="34" charset="0"/>
                <a:ea typeface="Arial" pitchFamily="34" charset="-122"/>
                <a:cs typeface="Arial" pitchFamily="34" charset="-120"/>
              </a:rPr>
              <a:t>RAG</a:t>
            </a:r>
            <a:endParaRPr lang="en-US" sz="1800" dirty="0"/>
          </a:p>
        </p:txBody>
      </p:sp>
      <p:sp>
        <p:nvSpPr>
          <p:cNvPr id="11" name="Text 9"/>
          <p:cNvSpPr/>
          <p:nvPr/>
        </p:nvSpPr>
        <p:spPr>
          <a:xfrm>
            <a:off x="4389120" y="2606040"/>
            <a:ext cx="7132320" cy="914400"/>
          </a:xfrm>
          <a:prstGeom prst="rect">
            <a:avLst/>
          </a:prstGeom>
          <a:noFill/>
          <a:ln/>
        </p:spPr>
        <p:txBody>
          <a:bodyPr wrap="square" lIns="0" tIns="0" rIns="0" bIns="0" rtlCol="0" anchor="ctr"/>
          <a:lstStyle/>
          <a:p>
            <a:pPr indent="0" marL="0">
              <a:buNone/>
            </a:pPr>
            <a:r>
              <a:rPr lang="en-US" sz="1500" dirty="0">
                <a:solidFill>
                  <a:srgbClr val="1E293B"/>
                </a:solidFill>
                <a:latin typeface="Arial" pitchFamily="34" charset="0"/>
                <a:ea typeface="Arial" pitchFamily="34" charset="-122"/>
                <a:cs typeface="Arial" pitchFamily="34" charset="-120"/>
              </a:rPr>
              <a:t>We give the AI your documents.</a:t>
            </a:r>
            <a:endParaRPr lang="en-US" sz="1500" dirty="0"/>
          </a:p>
          <a:p>
            <a:pPr indent="0" marL="0">
              <a:buNone/>
            </a:pPr>
            <a:r>
              <a:rPr lang="en-US" sz="1500" dirty="0">
                <a:solidFill>
                  <a:srgbClr val="1E293B"/>
                </a:solidFill>
                <a:latin typeface="Arial" pitchFamily="34" charset="0"/>
                <a:ea typeface="Arial" pitchFamily="34" charset="-122"/>
                <a:cs typeface="Arial" pitchFamily="34" charset="-120"/>
              </a:rPr>
              <a:t>Now it can answer using your real data.</a:t>
            </a:r>
            <a:endParaRPr lang="en-US" sz="1500" dirty="0"/>
          </a:p>
        </p:txBody>
      </p:sp>
      <p:sp>
        <p:nvSpPr>
          <p:cNvPr id="12" name="Shape 10"/>
          <p:cNvSpPr/>
          <p:nvPr/>
        </p:nvSpPr>
        <p:spPr>
          <a:xfrm>
            <a:off x="457200" y="3749040"/>
            <a:ext cx="1188720" cy="1097280"/>
          </a:xfrm>
          <a:prstGeom prst="roundRect">
            <a:avLst>
              <a:gd name="adj" fmla="val 10000"/>
            </a:avLst>
          </a:prstGeom>
          <a:solidFill>
            <a:srgbClr val="2563EB"/>
          </a:solidFill>
          <a:ln/>
        </p:spPr>
      </p:sp>
      <p:sp>
        <p:nvSpPr>
          <p:cNvPr id="13" name="Text 11"/>
          <p:cNvSpPr/>
          <p:nvPr/>
        </p:nvSpPr>
        <p:spPr>
          <a:xfrm>
            <a:off x="457200" y="4069080"/>
            <a:ext cx="1188720" cy="45720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3</a:t>
            </a:r>
            <a:endParaRPr lang="en-US" sz="2800" dirty="0"/>
          </a:p>
        </p:txBody>
      </p:sp>
      <p:sp>
        <p:nvSpPr>
          <p:cNvPr id="14" name="Text 12"/>
          <p:cNvSpPr/>
          <p:nvPr/>
        </p:nvSpPr>
        <p:spPr>
          <a:xfrm>
            <a:off x="1920240" y="3886200"/>
            <a:ext cx="2286000" cy="365760"/>
          </a:xfrm>
          <a:prstGeom prst="rect">
            <a:avLst/>
          </a:prstGeom>
          <a:noFill/>
          <a:ln/>
        </p:spPr>
        <p:txBody>
          <a:bodyPr wrap="square" lIns="0" tIns="0" rIns="0" bIns="0" rtlCol="0" anchor="ctr"/>
          <a:lstStyle/>
          <a:p>
            <a:pPr indent="0" marL="0">
              <a:buNone/>
            </a:pPr>
            <a:r>
              <a:rPr lang="en-US" sz="1800" b="1" dirty="0">
                <a:solidFill>
                  <a:srgbClr val="0F172A"/>
                </a:solidFill>
                <a:latin typeface="Arial" pitchFamily="34" charset="0"/>
                <a:ea typeface="Arial" pitchFamily="34" charset="-122"/>
                <a:cs typeface="Arial" pitchFamily="34" charset="-120"/>
              </a:rPr>
              <a:t>MCP</a:t>
            </a:r>
            <a:endParaRPr lang="en-US" sz="1800" dirty="0"/>
          </a:p>
        </p:txBody>
      </p:sp>
      <p:sp>
        <p:nvSpPr>
          <p:cNvPr id="15" name="Text 13"/>
          <p:cNvSpPr/>
          <p:nvPr/>
        </p:nvSpPr>
        <p:spPr>
          <a:xfrm>
            <a:off x="4389120" y="3886200"/>
            <a:ext cx="7132320" cy="914400"/>
          </a:xfrm>
          <a:prstGeom prst="rect">
            <a:avLst/>
          </a:prstGeom>
          <a:noFill/>
          <a:ln/>
        </p:spPr>
        <p:txBody>
          <a:bodyPr wrap="square" lIns="0" tIns="0" rIns="0" bIns="0" rtlCol="0" anchor="ctr"/>
          <a:lstStyle/>
          <a:p>
            <a:pPr indent="0" marL="0">
              <a:buNone/>
            </a:pPr>
            <a:r>
              <a:rPr lang="en-US" sz="1500" dirty="0">
                <a:solidFill>
                  <a:srgbClr val="1E293B"/>
                </a:solidFill>
                <a:latin typeface="Arial" pitchFamily="34" charset="0"/>
                <a:ea typeface="Arial" pitchFamily="34" charset="-122"/>
                <a:cs typeface="Arial" pitchFamily="34" charset="-120"/>
              </a:rPr>
              <a:t>We connect the AI to tools.</a:t>
            </a:r>
            <a:endParaRPr lang="en-US" sz="1500" dirty="0"/>
          </a:p>
          <a:p>
            <a:pPr indent="0" marL="0">
              <a:buNone/>
            </a:pPr>
            <a:r>
              <a:rPr lang="en-US" sz="1500" dirty="0">
                <a:solidFill>
                  <a:srgbClr val="1E293B"/>
                </a:solidFill>
                <a:latin typeface="Arial" pitchFamily="34" charset="0"/>
                <a:ea typeface="Arial" pitchFamily="34" charset="-122"/>
                <a:cs typeface="Arial" pitchFamily="34" charset="-120"/>
              </a:rPr>
              <a:t>Now it can check databases, send emails, and take actions.</a:t>
            </a:r>
            <a:endParaRPr lang="en-US" sz="1500" dirty="0"/>
          </a:p>
        </p:txBody>
      </p:sp>
      <p:sp>
        <p:nvSpPr>
          <p:cNvPr id="16" name="Shape 14"/>
          <p:cNvSpPr/>
          <p:nvPr/>
        </p:nvSpPr>
        <p:spPr>
          <a:xfrm>
            <a:off x="457200" y="5029200"/>
            <a:ext cx="1188720" cy="1097280"/>
          </a:xfrm>
          <a:prstGeom prst="roundRect">
            <a:avLst>
              <a:gd name="adj" fmla="val 10000"/>
            </a:avLst>
          </a:prstGeom>
          <a:solidFill>
            <a:srgbClr val="2563EB"/>
          </a:solidFill>
          <a:ln/>
        </p:spPr>
      </p:sp>
      <p:sp>
        <p:nvSpPr>
          <p:cNvPr id="17" name="Text 15"/>
          <p:cNvSpPr/>
          <p:nvPr/>
        </p:nvSpPr>
        <p:spPr>
          <a:xfrm>
            <a:off x="457200" y="5349240"/>
            <a:ext cx="1188720" cy="45720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4</a:t>
            </a:r>
            <a:endParaRPr lang="en-US" sz="2800" dirty="0"/>
          </a:p>
        </p:txBody>
      </p:sp>
      <p:sp>
        <p:nvSpPr>
          <p:cNvPr id="18" name="Text 16"/>
          <p:cNvSpPr/>
          <p:nvPr/>
        </p:nvSpPr>
        <p:spPr>
          <a:xfrm>
            <a:off x="1920240" y="5166360"/>
            <a:ext cx="2286000" cy="365760"/>
          </a:xfrm>
          <a:prstGeom prst="rect">
            <a:avLst/>
          </a:prstGeom>
          <a:noFill/>
          <a:ln/>
        </p:spPr>
        <p:txBody>
          <a:bodyPr wrap="square" lIns="0" tIns="0" rIns="0" bIns="0" rtlCol="0" anchor="ctr"/>
          <a:lstStyle/>
          <a:p>
            <a:pPr indent="0" marL="0">
              <a:buNone/>
            </a:pPr>
            <a:r>
              <a:rPr lang="en-US" sz="1800" b="1" dirty="0">
                <a:solidFill>
                  <a:srgbClr val="0F172A"/>
                </a:solidFill>
                <a:latin typeface="Arial" pitchFamily="34" charset="0"/>
                <a:ea typeface="Arial" pitchFamily="34" charset="-122"/>
                <a:cs typeface="Arial" pitchFamily="34" charset="-120"/>
              </a:rPr>
              <a:t>Full App</a:t>
            </a:r>
            <a:endParaRPr lang="en-US" sz="1800" dirty="0"/>
          </a:p>
        </p:txBody>
      </p:sp>
      <p:sp>
        <p:nvSpPr>
          <p:cNvPr id="19" name="Text 17"/>
          <p:cNvSpPr/>
          <p:nvPr/>
        </p:nvSpPr>
        <p:spPr>
          <a:xfrm>
            <a:off x="4389120" y="5166360"/>
            <a:ext cx="7132320" cy="914400"/>
          </a:xfrm>
          <a:prstGeom prst="rect">
            <a:avLst/>
          </a:prstGeom>
          <a:noFill/>
          <a:ln/>
        </p:spPr>
        <p:txBody>
          <a:bodyPr wrap="square" lIns="0" tIns="0" rIns="0" bIns="0" rtlCol="0" anchor="ctr"/>
          <a:lstStyle/>
          <a:p>
            <a:pPr indent="0" marL="0">
              <a:buNone/>
            </a:pPr>
            <a:r>
              <a:rPr lang="en-US" sz="1500" dirty="0">
                <a:solidFill>
                  <a:srgbClr val="1E293B"/>
                </a:solidFill>
                <a:latin typeface="Arial" pitchFamily="34" charset="0"/>
                <a:ea typeface="Arial" pitchFamily="34" charset="-122"/>
                <a:cs typeface="Arial" pitchFamily="34" charset="-120"/>
              </a:rPr>
              <a:t>LLM + RAG + MCP</a:t>
            </a:r>
            <a:endParaRPr lang="en-US" sz="1500" dirty="0"/>
          </a:p>
          <a:p>
            <a:pPr indent="0" marL="0">
              <a:buNone/>
            </a:pPr>
            <a:r>
              <a:rPr lang="en-US" sz="1500" dirty="0">
                <a:solidFill>
                  <a:srgbClr val="1E293B"/>
                </a:solidFill>
                <a:latin typeface="Arial" pitchFamily="34" charset="0"/>
                <a:ea typeface="Arial" pitchFamily="34" charset="-122"/>
                <a:cs typeface="Arial" pitchFamily="34" charset="-120"/>
              </a:rPr>
              <a:t>= Smart AI that knows your data</a:t>
            </a:r>
            <a:endParaRPr lang="en-US" sz="1500" dirty="0"/>
          </a:p>
          <a:p>
            <a:pPr indent="0" marL="0">
              <a:buNone/>
            </a:pPr>
            <a:r>
              <a:rPr lang="en-US" sz="1500" dirty="0">
                <a:solidFill>
                  <a:srgbClr val="1E293B"/>
                </a:solidFill>
                <a:latin typeface="Arial" pitchFamily="34" charset="0"/>
                <a:ea typeface="Arial" pitchFamily="34" charset="-122"/>
                <a:cs typeface="Arial" pitchFamily="34" charset="-120"/>
              </a:rPr>
              <a:t>and can do real work.</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377440"/>
            <a:ext cx="11247120" cy="365760"/>
          </a:xfrm>
          <a:prstGeom prst="rect">
            <a:avLst/>
          </a:prstGeom>
          <a:noFill/>
          <a:ln/>
        </p:spPr>
        <p:txBody>
          <a:bodyPr wrap="square" lIns="0" tIns="0" rIns="0" bIns="0" rtlCol="0" anchor="ctr"/>
          <a:lstStyle/>
          <a:p>
            <a:pPr algn="ctr" indent="0" marL="0">
              <a:buNone/>
            </a:pPr>
            <a:r>
              <a:rPr lang="en-US" sz="1800" b="1" dirty="0">
                <a:solidFill>
                  <a:srgbClr val="93C5FD"/>
                </a:solidFill>
                <a:latin typeface="Arial" pitchFamily="34" charset="0"/>
                <a:ea typeface="Arial" pitchFamily="34" charset="-122"/>
                <a:cs typeface="Arial" pitchFamily="34" charset="-120"/>
              </a:rPr>
              <a:t>DAY 1</a:t>
            </a:r>
            <a:endParaRPr lang="en-US" sz="1800" dirty="0"/>
          </a:p>
        </p:txBody>
      </p:sp>
      <p:sp>
        <p:nvSpPr>
          <p:cNvPr id="3" name="Text 1"/>
          <p:cNvSpPr/>
          <p:nvPr/>
        </p:nvSpPr>
        <p:spPr>
          <a:xfrm>
            <a:off x="457200" y="2926080"/>
            <a:ext cx="11247120" cy="640080"/>
          </a:xfrm>
          <a:prstGeom prst="rect">
            <a:avLst/>
          </a:prstGeom>
          <a:noFill/>
          <a:ln/>
        </p:spPr>
        <p:txBody>
          <a:bodyPr wrap="square" lIns="0" tIns="0" rIns="0" bIns="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What is an LLM?</a:t>
            </a:r>
            <a:endParaRPr lang="en-US" sz="4000" dirty="0"/>
          </a:p>
        </p:txBody>
      </p:sp>
      <p:sp>
        <p:nvSpPr>
          <p:cNvPr id="4" name="Text 2"/>
          <p:cNvSpPr/>
          <p:nvPr/>
        </p:nvSpPr>
        <p:spPr>
          <a:xfrm>
            <a:off x="457200" y="3749040"/>
            <a:ext cx="11247120" cy="365760"/>
          </a:xfrm>
          <a:prstGeom prst="rect">
            <a:avLst/>
          </a:prstGeom>
          <a:noFill/>
          <a:ln/>
        </p:spPr>
        <p:txBody>
          <a:bodyPr wrap="square" lIns="0" tIns="0" rIns="0" bIns="0" rtlCol="0" anchor="ctr"/>
          <a:lstStyle/>
          <a:p>
            <a:pPr algn="ctr" indent="0" marL="0">
              <a:buNone/>
            </a:pPr>
            <a:r>
              <a:rPr lang="en-US" sz="1800" dirty="0">
                <a:solidFill>
                  <a:srgbClr val="94A3B8"/>
                </a:solidFill>
                <a:latin typeface="Arial" pitchFamily="34" charset="0"/>
                <a:ea typeface="Arial" pitchFamily="34" charset="-122"/>
                <a:cs typeface="Arial" pitchFamily="34" charset="-120"/>
              </a:rPr>
              <a:t>Simple words only</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indent="0" marL="0">
              <a:buNone/>
            </a:pPr>
            <a:r>
              <a:rPr lang="en-US" sz="2600" b="1" dirty="0">
                <a:solidFill>
                  <a:srgbClr val="0F172A"/>
                </a:solidFill>
                <a:latin typeface="Arial" pitchFamily="34" charset="0"/>
                <a:ea typeface="Arial" pitchFamily="34" charset="-122"/>
                <a:cs typeface="Arial" pitchFamily="34" charset="-120"/>
              </a:rPr>
              <a:t>1. The AI Family Tree</a:t>
            </a:r>
            <a:endParaRPr lang="en-US" sz="2600" dirty="0"/>
          </a:p>
        </p:txBody>
      </p:sp>
      <p:sp>
        <p:nvSpPr>
          <p:cNvPr id="3" name="Shape 1"/>
          <p:cNvSpPr/>
          <p:nvPr/>
        </p:nvSpPr>
        <p:spPr>
          <a:xfrm>
            <a:off x="457200" y="868680"/>
            <a:ext cx="1463040" cy="64008"/>
          </a:xfrm>
          <a:prstGeom prst="rect">
            <a:avLst/>
          </a:prstGeom>
          <a:solidFill>
            <a:srgbClr val="2563EB"/>
          </a:solidFill>
          <a:ln/>
        </p:spPr>
      </p:sp>
      <p:sp>
        <p:nvSpPr>
          <p:cNvPr id="4" name="Text 2"/>
          <p:cNvSpPr/>
          <p:nvPr/>
        </p:nvSpPr>
        <p:spPr>
          <a:xfrm>
            <a:off x="457200" y="1143000"/>
            <a:ext cx="10972800" cy="365760"/>
          </a:xfrm>
          <a:prstGeom prst="rect">
            <a:avLst/>
          </a:prstGeom>
          <a:noFill/>
          <a:ln/>
        </p:spPr>
        <p:txBody>
          <a:bodyPr wrap="square" lIns="0" tIns="0" rIns="0" bIns="0" rtlCol="0" anchor="ctr"/>
          <a:lstStyle/>
          <a:p>
            <a:pPr indent="0" marL="0">
              <a:buNone/>
            </a:pPr>
            <a:r>
              <a:rPr lang="en-US" sz="1500" dirty="0">
                <a:solidFill>
                  <a:srgbClr val="64748B"/>
                </a:solidFill>
                <a:latin typeface="Arial" pitchFamily="34" charset="0"/>
                <a:ea typeface="Arial" pitchFamily="34" charset="-122"/>
                <a:cs typeface="Arial" pitchFamily="34" charset="-120"/>
              </a:rPr>
              <a:t>These words are often mixed up. Here is the simple order:</a:t>
            </a:r>
            <a:endParaRPr lang="en-US" sz="1500" dirty="0"/>
          </a:p>
        </p:txBody>
      </p:sp>
      <p:sp>
        <p:nvSpPr>
          <p:cNvPr id="5" name="Shape 3"/>
          <p:cNvSpPr/>
          <p:nvPr/>
        </p:nvSpPr>
        <p:spPr>
          <a:xfrm>
            <a:off x="1097280" y="1645920"/>
            <a:ext cx="9601200" cy="777240"/>
          </a:xfrm>
          <a:prstGeom prst="roundRect">
            <a:avLst>
              <a:gd name="adj" fmla="val 14118"/>
            </a:avLst>
          </a:prstGeom>
          <a:solidFill>
            <a:srgbClr val="2563EB"/>
          </a:solidFill>
          <a:ln/>
        </p:spPr>
      </p:sp>
      <p:sp>
        <p:nvSpPr>
          <p:cNvPr id="6" name="Text 4"/>
          <p:cNvSpPr/>
          <p:nvPr/>
        </p:nvSpPr>
        <p:spPr>
          <a:xfrm>
            <a:off x="1371600" y="1737360"/>
            <a:ext cx="8686800" cy="27432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AI</a:t>
            </a:r>
            <a:endParaRPr lang="en-US" sz="1600" dirty="0"/>
          </a:p>
        </p:txBody>
      </p:sp>
      <p:sp>
        <p:nvSpPr>
          <p:cNvPr id="7" name="Text 5"/>
          <p:cNvSpPr/>
          <p:nvPr/>
        </p:nvSpPr>
        <p:spPr>
          <a:xfrm>
            <a:off x="1371600" y="2029968"/>
            <a:ext cx="8686800" cy="274320"/>
          </a:xfrm>
          <a:prstGeom prst="rect">
            <a:avLst/>
          </a:prstGeom>
          <a:noFill/>
          <a:ln/>
        </p:spPr>
        <p:txBody>
          <a:bodyPr wrap="square" lIns="0" tIns="0" rIns="0" bIns="0" rtlCol="0" anchor="ctr"/>
          <a:lstStyle/>
          <a:p>
            <a:pPr indent="0" marL="0">
              <a:buNone/>
            </a:pPr>
            <a:r>
              <a:rPr lang="en-US" sz="1300" dirty="0">
                <a:solidFill>
                  <a:srgbClr val="E0E7FF"/>
                </a:solidFill>
                <a:latin typeface="Arial" pitchFamily="34" charset="0"/>
                <a:ea typeface="Arial" pitchFamily="34" charset="-122"/>
                <a:cs typeface="Arial" pitchFamily="34" charset="-120"/>
              </a:rPr>
              <a:t>Making computers smart</a:t>
            </a:r>
            <a:endParaRPr lang="en-US" sz="1300" dirty="0"/>
          </a:p>
        </p:txBody>
      </p:sp>
      <p:sp>
        <p:nvSpPr>
          <p:cNvPr id="8" name="Shape 6"/>
          <p:cNvSpPr/>
          <p:nvPr/>
        </p:nvSpPr>
        <p:spPr>
          <a:xfrm>
            <a:off x="1325880" y="2560320"/>
            <a:ext cx="9144000" cy="777240"/>
          </a:xfrm>
          <a:prstGeom prst="roundRect">
            <a:avLst>
              <a:gd name="adj" fmla="val 14118"/>
            </a:avLst>
          </a:prstGeom>
          <a:solidFill>
            <a:srgbClr val="3B82F6"/>
          </a:solidFill>
          <a:ln/>
        </p:spPr>
      </p:sp>
      <p:sp>
        <p:nvSpPr>
          <p:cNvPr id="9" name="Text 7"/>
          <p:cNvSpPr/>
          <p:nvPr/>
        </p:nvSpPr>
        <p:spPr>
          <a:xfrm>
            <a:off x="1600200" y="2651760"/>
            <a:ext cx="8686800" cy="27432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Machine Learning</a:t>
            </a:r>
            <a:endParaRPr lang="en-US" sz="1600" dirty="0"/>
          </a:p>
        </p:txBody>
      </p:sp>
      <p:sp>
        <p:nvSpPr>
          <p:cNvPr id="10" name="Text 8"/>
          <p:cNvSpPr/>
          <p:nvPr/>
        </p:nvSpPr>
        <p:spPr>
          <a:xfrm>
            <a:off x="1600200" y="2944368"/>
            <a:ext cx="8686800" cy="274320"/>
          </a:xfrm>
          <a:prstGeom prst="rect">
            <a:avLst/>
          </a:prstGeom>
          <a:noFill/>
          <a:ln/>
        </p:spPr>
        <p:txBody>
          <a:bodyPr wrap="square" lIns="0" tIns="0" rIns="0" bIns="0" rtlCol="0" anchor="ctr"/>
          <a:lstStyle/>
          <a:p>
            <a:pPr indent="0" marL="0">
              <a:buNone/>
            </a:pPr>
            <a:r>
              <a:rPr lang="en-US" sz="1300" dirty="0">
                <a:solidFill>
                  <a:srgbClr val="E0E7FF"/>
                </a:solidFill>
                <a:latin typeface="Arial" pitchFamily="34" charset="0"/>
                <a:ea typeface="Arial" pitchFamily="34" charset="-122"/>
                <a:cs typeface="Arial" pitchFamily="34" charset="-120"/>
              </a:rPr>
              <a:t>Computer learns from examples</a:t>
            </a:r>
            <a:endParaRPr lang="en-US" sz="1300" dirty="0"/>
          </a:p>
        </p:txBody>
      </p:sp>
      <p:sp>
        <p:nvSpPr>
          <p:cNvPr id="11" name="Shape 9"/>
          <p:cNvSpPr/>
          <p:nvPr/>
        </p:nvSpPr>
        <p:spPr>
          <a:xfrm>
            <a:off x="1554480" y="3474720"/>
            <a:ext cx="8686800" cy="777240"/>
          </a:xfrm>
          <a:prstGeom prst="roundRect">
            <a:avLst>
              <a:gd name="adj" fmla="val 14118"/>
            </a:avLst>
          </a:prstGeom>
          <a:solidFill>
            <a:srgbClr val="6366F1"/>
          </a:solidFill>
          <a:ln/>
        </p:spPr>
      </p:sp>
      <p:sp>
        <p:nvSpPr>
          <p:cNvPr id="12" name="Text 10"/>
          <p:cNvSpPr/>
          <p:nvPr/>
        </p:nvSpPr>
        <p:spPr>
          <a:xfrm>
            <a:off x="1828800" y="3566160"/>
            <a:ext cx="8686800" cy="27432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Deep Learning</a:t>
            </a:r>
            <a:endParaRPr lang="en-US" sz="1600" dirty="0"/>
          </a:p>
        </p:txBody>
      </p:sp>
      <p:sp>
        <p:nvSpPr>
          <p:cNvPr id="13" name="Text 11"/>
          <p:cNvSpPr/>
          <p:nvPr/>
        </p:nvSpPr>
        <p:spPr>
          <a:xfrm>
            <a:off x="1828800" y="3858768"/>
            <a:ext cx="8686800" cy="274320"/>
          </a:xfrm>
          <a:prstGeom prst="rect">
            <a:avLst/>
          </a:prstGeom>
          <a:noFill/>
          <a:ln/>
        </p:spPr>
        <p:txBody>
          <a:bodyPr wrap="square" lIns="0" tIns="0" rIns="0" bIns="0" rtlCol="0" anchor="ctr"/>
          <a:lstStyle/>
          <a:p>
            <a:pPr indent="0" marL="0">
              <a:buNone/>
            </a:pPr>
            <a:r>
              <a:rPr lang="en-US" sz="1300" dirty="0">
                <a:solidFill>
                  <a:srgbClr val="E0E7FF"/>
                </a:solidFill>
                <a:latin typeface="Arial" pitchFamily="34" charset="0"/>
                <a:ea typeface="Arial" pitchFamily="34" charset="-122"/>
                <a:cs typeface="Arial" pitchFamily="34" charset="-120"/>
              </a:rPr>
              <a:t>Uses many layers of brain-like networks</a:t>
            </a:r>
            <a:endParaRPr lang="en-US" sz="1300" dirty="0"/>
          </a:p>
        </p:txBody>
      </p:sp>
      <p:sp>
        <p:nvSpPr>
          <p:cNvPr id="14" name="Shape 12"/>
          <p:cNvSpPr/>
          <p:nvPr/>
        </p:nvSpPr>
        <p:spPr>
          <a:xfrm>
            <a:off x="1783080" y="4389120"/>
            <a:ext cx="8229600" cy="777240"/>
          </a:xfrm>
          <a:prstGeom prst="roundRect">
            <a:avLst>
              <a:gd name="adj" fmla="val 14118"/>
            </a:avLst>
          </a:prstGeom>
          <a:solidFill>
            <a:srgbClr val="7C3AED"/>
          </a:solidFill>
          <a:ln/>
        </p:spPr>
      </p:sp>
      <p:sp>
        <p:nvSpPr>
          <p:cNvPr id="15" name="Text 13"/>
          <p:cNvSpPr/>
          <p:nvPr/>
        </p:nvSpPr>
        <p:spPr>
          <a:xfrm>
            <a:off x="2057400" y="4480560"/>
            <a:ext cx="8686800" cy="27432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Generative AI</a:t>
            </a:r>
            <a:endParaRPr lang="en-US" sz="1600" dirty="0"/>
          </a:p>
        </p:txBody>
      </p:sp>
      <p:sp>
        <p:nvSpPr>
          <p:cNvPr id="16" name="Text 14"/>
          <p:cNvSpPr/>
          <p:nvPr/>
        </p:nvSpPr>
        <p:spPr>
          <a:xfrm>
            <a:off x="2057400" y="4773168"/>
            <a:ext cx="8686800" cy="274320"/>
          </a:xfrm>
          <a:prstGeom prst="rect">
            <a:avLst/>
          </a:prstGeom>
          <a:noFill/>
          <a:ln/>
        </p:spPr>
        <p:txBody>
          <a:bodyPr wrap="square" lIns="0" tIns="0" rIns="0" bIns="0" rtlCol="0" anchor="ctr"/>
          <a:lstStyle/>
          <a:p>
            <a:pPr indent="0" marL="0">
              <a:buNone/>
            </a:pPr>
            <a:r>
              <a:rPr lang="en-US" sz="1300" dirty="0">
                <a:solidFill>
                  <a:srgbClr val="E0E7FF"/>
                </a:solidFill>
                <a:latin typeface="Arial" pitchFamily="34" charset="0"/>
                <a:ea typeface="Arial" pitchFamily="34" charset="-122"/>
                <a:cs typeface="Arial" pitchFamily="34" charset="-120"/>
              </a:rPr>
              <a:t>Creates new text, images, code, video</a:t>
            </a:r>
            <a:endParaRPr lang="en-US" sz="1300" dirty="0"/>
          </a:p>
        </p:txBody>
      </p:sp>
      <p:sp>
        <p:nvSpPr>
          <p:cNvPr id="17" name="Shape 15"/>
          <p:cNvSpPr/>
          <p:nvPr/>
        </p:nvSpPr>
        <p:spPr>
          <a:xfrm>
            <a:off x="2011680" y="5303520"/>
            <a:ext cx="7772400" cy="777240"/>
          </a:xfrm>
          <a:prstGeom prst="roundRect">
            <a:avLst>
              <a:gd name="adj" fmla="val 14118"/>
            </a:avLst>
          </a:prstGeom>
          <a:solidFill>
            <a:srgbClr val="0D9488"/>
          </a:solidFill>
          <a:ln/>
        </p:spPr>
      </p:sp>
      <p:sp>
        <p:nvSpPr>
          <p:cNvPr id="18" name="Text 16"/>
          <p:cNvSpPr/>
          <p:nvPr/>
        </p:nvSpPr>
        <p:spPr>
          <a:xfrm>
            <a:off x="2286000" y="5394960"/>
            <a:ext cx="8686800" cy="27432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LLM</a:t>
            </a:r>
            <a:endParaRPr lang="en-US" sz="1600" dirty="0"/>
          </a:p>
        </p:txBody>
      </p:sp>
      <p:sp>
        <p:nvSpPr>
          <p:cNvPr id="19" name="Text 17"/>
          <p:cNvSpPr/>
          <p:nvPr/>
        </p:nvSpPr>
        <p:spPr>
          <a:xfrm>
            <a:off x="2286000" y="5687568"/>
            <a:ext cx="8686800" cy="274320"/>
          </a:xfrm>
          <a:prstGeom prst="rect">
            <a:avLst/>
          </a:prstGeom>
          <a:noFill/>
          <a:ln/>
        </p:spPr>
        <p:txBody>
          <a:bodyPr wrap="square" lIns="0" tIns="0" rIns="0" bIns="0" rtlCol="0" anchor="ctr"/>
          <a:lstStyle/>
          <a:p>
            <a:pPr indent="0" marL="0">
              <a:buNone/>
            </a:pPr>
            <a:r>
              <a:rPr lang="en-US" sz="1300" dirty="0">
                <a:solidFill>
                  <a:srgbClr val="E0E7FF"/>
                </a:solidFill>
                <a:latin typeface="Arial" pitchFamily="34" charset="0"/>
                <a:ea typeface="Arial" pitchFamily="34" charset="-122"/>
                <a:cs typeface="Arial" pitchFamily="34" charset="-120"/>
              </a:rPr>
              <a:t>Special model that understands and writes language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indent="0" marL="0">
              <a:buNone/>
            </a:pPr>
            <a:r>
              <a:rPr lang="en-US" sz="2600" b="1" dirty="0">
                <a:solidFill>
                  <a:srgbClr val="0F172A"/>
                </a:solidFill>
                <a:latin typeface="Arial" pitchFamily="34" charset="0"/>
                <a:ea typeface="Arial" pitchFamily="34" charset="-122"/>
                <a:cs typeface="Arial" pitchFamily="34" charset="-120"/>
              </a:rPr>
              <a:t>What is AI? (Very Simple)</a:t>
            </a:r>
            <a:endParaRPr lang="en-US" sz="2600" dirty="0"/>
          </a:p>
        </p:txBody>
      </p:sp>
      <p:sp>
        <p:nvSpPr>
          <p:cNvPr id="3" name="Shape 1"/>
          <p:cNvSpPr/>
          <p:nvPr/>
        </p:nvSpPr>
        <p:spPr>
          <a:xfrm>
            <a:off x="457200" y="868680"/>
            <a:ext cx="1463040" cy="64008"/>
          </a:xfrm>
          <a:prstGeom prst="rect">
            <a:avLst/>
          </a:prstGeom>
          <a:solidFill>
            <a:srgbClr val="2563EB"/>
          </a:solidFill>
          <a:ln/>
        </p:spPr>
      </p:sp>
      <p:sp>
        <p:nvSpPr>
          <p:cNvPr id="4" name="Shape 2"/>
          <p:cNvSpPr/>
          <p:nvPr/>
        </p:nvSpPr>
        <p:spPr>
          <a:xfrm>
            <a:off x="457200" y="1280160"/>
            <a:ext cx="11247120" cy="1371600"/>
          </a:xfrm>
          <a:prstGeom prst="roundRect">
            <a:avLst>
              <a:gd name="adj" fmla="val 8000"/>
            </a:avLst>
          </a:prstGeom>
          <a:solidFill>
            <a:srgbClr val="DBEAFE"/>
          </a:solidFill>
          <a:ln/>
        </p:spPr>
      </p:sp>
      <p:sp>
        <p:nvSpPr>
          <p:cNvPr id="5" name="Text 3"/>
          <p:cNvSpPr/>
          <p:nvPr/>
        </p:nvSpPr>
        <p:spPr>
          <a:xfrm>
            <a:off x="822960" y="1645920"/>
            <a:ext cx="10515600" cy="640080"/>
          </a:xfrm>
          <a:prstGeom prst="rect">
            <a:avLst/>
          </a:prstGeom>
          <a:noFill/>
          <a:ln/>
        </p:spPr>
        <p:txBody>
          <a:bodyPr wrap="square" lIns="0" tIns="0" rIns="0" bIns="0" rtlCol="0" anchor="ctr"/>
          <a:lstStyle/>
          <a:p>
            <a:pPr indent="0" marL="0">
              <a:buNone/>
            </a:pPr>
            <a:r>
              <a:rPr lang="en-US" sz="2000" dirty="0">
                <a:solidFill>
                  <a:srgbClr val="0F172A"/>
                </a:solidFill>
                <a:latin typeface="Arial" pitchFamily="34" charset="0"/>
                <a:ea typeface="Arial" pitchFamily="34" charset="-122"/>
                <a:cs typeface="Arial" pitchFamily="34" charset="-120"/>
              </a:rPr>
              <a:t>AI means making computers do things that normally need human thinking.</a:t>
            </a:r>
            <a:endParaRPr lang="en-US" sz="2000" dirty="0"/>
          </a:p>
        </p:txBody>
      </p:sp>
      <p:sp>
        <p:nvSpPr>
          <p:cNvPr id="6" name="Text 4"/>
          <p:cNvSpPr/>
          <p:nvPr/>
        </p:nvSpPr>
        <p:spPr>
          <a:xfrm>
            <a:off x="457200" y="2926080"/>
            <a:ext cx="10972800" cy="365760"/>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Examples you already use:</a:t>
            </a:r>
            <a:endParaRPr lang="en-US" sz="1600" dirty="0"/>
          </a:p>
        </p:txBody>
      </p:sp>
      <p:sp>
        <p:nvSpPr>
          <p:cNvPr id="7" name="Shape 5"/>
          <p:cNvSpPr/>
          <p:nvPr/>
        </p:nvSpPr>
        <p:spPr>
          <a:xfrm>
            <a:off x="457200" y="3474720"/>
            <a:ext cx="3657600" cy="1188720"/>
          </a:xfrm>
          <a:prstGeom prst="roundRect">
            <a:avLst>
              <a:gd name="adj" fmla="val 9231"/>
            </a:avLst>
          </a:prstGeom>
          <a:solidFill>
            <a:srgbClr val="F1F5F9"/>
          </a:solidFill>
          <a:ln/>
        </p:spPr>
      </p:sp>
      <p:sp>
        <p:nvSpPr>
          <p:cNvPr id="8" name="Text 6"/>
          <p:cNvSpPr/>
          <p:nvPr/>
        </p:nvSpPr>
        <p:spPr>
          <a:xfrm>
            <a:off x="685800" y="3749040"/>
            <a:ext cx="3200400" cy="320040"/>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Phone face unlock</a:t>
            </a:r>
            <a:endParaRPr lang="en-US" sz="1500" dirty="0"/>
          </a:p>
        </p:txBody>
      </p:sp>
      <p:sp>
        <p:nvSpPr>
          <p:cNvPr id="9" name="Text 7"/>
          <p:cNvSpPr/>
          <p:nvPr/>
        </p:nvSpPr>
        <p:spPr>
          <a:xfrm>
            <a:off x="685800" y="4114800"/>
            <a:ext cx="3200400" cy="320040"/>
          </a:xfrm>
          <a:prstGeom prst="rect">
            <a:avLst/>
          </a:prstGeom>
          <a:noFill/>
          <a:ln/>
        </p:spPr>
        <p:txBody>
          <a:bodyPr wrap="square" lIns="0" tIns="0" rIns="0" bIns="0" rtlCol="0" anchor="ctr"/>
          <a:lstStyle/>
          <a:p>
            <a:pPr indent="0" marL="0">
              <a:buNone/>
            </a:pPr>
            <a:r>
              <a:rPr lang="en-US" sz="1400" dirty="0">
                <a:solidFill>
                  <a:srgbClr val="64748B"/>
                </a:solidFill>
                <a:latin typeface="Arial" pitchFamily="34" charset="0"/>
                <a:ea typeface="Arial" pitchFamily="34" charset="-122"/>
                <a:cs typeface="Arial" pitchFamily="34" charset="-120"/>
              </a:rPr>
              <a:t>Recognizes your face</a:t>
            </a:r>
            <a:endParaRPr lang="en-US" sz="1400" dirty="0"/>
          </a:p>
        </p:txBody>
      </p:sp>
      <p:sp>
        <p:nvSpPr>
          <p:cNvPr id="10" name="Shape 8"/>
          <p:cNvSpPr/>
          <p:nvPr/>
        </p:nvSpPr>
        <p:spPr>
          <a:xfrm>
            <a:off x="4297680" y="3474720"/>
            <a:ext cx="3657600" cy="1188720"/>
          </a:xfrm>
          <a:prstGeom prst="roundRect">
            <a:avLst>
              <a:gd name="adj" fmla="val 9231"/>
            </a:avLst>
          </a:prstGeom>
          <a:solidFill>
            <a:srgbClr val="F1F5F9"/>
          </a:solidFill>
          <a:ln/>
        </p:spPr>
      </p:sp>
      <p:sp>
        <p:nvSpPr>
          <p:cNvPr id="11" name="Text 9"/>
          <p:cNvSpPr/>
          <p:nvPr/>
        </p:nvSpPr>
        <p:spPr>
          <a:xfrm>
            <a:off x="4526280" y="3749040"/>
            <a:ext cx="3200400" cy="320040"/>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Netflix / YouTube</a:t>
            </a:r>
            <a:endParaRPr lang="en-US" sz="1500" dirty="0"/>
          </a:p>
        </p:txBody>
      </p:sp>
      <p:sp>
        <p:nvSpPr>
          <p:cNvPr id="12" name="Text 10"/>
          <p:cNvSpPr/>
          <p:nvPr/>
        </p:nvSpPr>
        <p:spPr>
          <a:xfrm>
            <a:off x="4526280" y="4114800"/>
            <a:ext cx="3200400" cy="320040"/>
          </a:xfrm>
          <a:prstGeom prst="rect">
            <a:avLst/>
          </a:prstGeom>
          <a:noFill/>
          <a:ln/>
        </p:spPr>
        <p:txBody>
          <a:bodyPr wrap="square" lIns="0" tIns="0" rIns="0" bIns="0" rtlCol="0" anchor="ctr"/>
          <a:lstStyle/>
          <a:p>
            <a:pPr indent="0" marL="0">
              <a:buNone/>
            </a:pPr>
            <a:r>
              <a:rPr lang="en-US" sz="1400" dirty="0">
                <a:solidFill>
                  <a:srgbClr val="64748B"/>
                </a:solidFill>
                <a:latin typeface="Arial" pitchFamily="34" charset="0"/>
                <a:ea typeface="Arial" pitchFamily="34" charset="-122"/>
                <a:cs typeface="Arial" pitchFamily="34" charset="-120"/>
              </a:rPr>
              <a:t>Suggests what to watch</a:t>
            </a:r>
            <a:endParaRPr lang="en-US" sz="1400" dirty="0"/>
          </a:p>
        </p:txBody>
      </p:sp>
      <p:sp>
        <p:nvSpPr>
          <p:cNvPr id="13" name="Shape 11"/>
          <p:cNvSpPr/>
          <p:nvPr/>
        </p:nvSpPr>
        <p:spPr>
          <a:xfrm>
            <a:off x="8138160" y="3474720"/>
            <a:ext cx="3657600" cy="1188720"/>
          </a:xfrm>
          <a:prstGeom prst="roundRect">
            <a:avLst>
              <a:gd name="adj" fmla="val 9231"/>
            </a:avLst>
          </a:prstGeom>
          <a:solidFill>
            <a:srgbClr val="F1F5F9"/>
          </a:solidFill>
          <a:ln/>
        </p:spPr>
      </p:sp>
      <p:sp>
        <p:nvSpPr>
          <p:cNvPr id="14" name="Text 12"/>
          <p:cNvSpPr/>
          <p:nvPr/>
        </p:nvSpPr>
        <p:spPr>
          <a:xfrm>
            <a:off x="8366760" y="3749040"/>
            <a:ext cx="3200400" cy="320040"/>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Google Maps</a:t>
            </a:r>
            <a:endParaRPr lang="en-US" sz="1500" dirty="0"/>
          </a:p>
        </p:txBody>
      </p:sp>
      <p:sp>
        <p:nvSpPr>
          <p:cNvPr id="15" name="Text 13"/>
          <p:cNvSpPr/>
          <p:nvPr/>
        </p:nvSpPr>
        <p:spPr>
          <a:xfrm>
            <a:off x="8366760" y="4114800"/>
            <a:ext cx="3200400" cy="320040"/>
          </a:xfrm>
          <a:prstGeom prst="rect">
            <a:avLst/>
          </a:prstGeom>
          <a:noFill/>
          <a:ln/>
        </p:spPr>
        <p:txBody>
          <a:bodyPr wrap="square" lIns="0" tIns="0" rIns="0" bIns="0" rtlCol="0" anchor="ctr"/>
          <a:lstStyle/>
          <a:p>
            <a:pPr indent="0" marL="0">
              <a:buNone/>
            </a:pPr>
            <a:r>
              <a:rPr lang="en-US" sz="1400" dirty="0">
                <a:solidFill>
                  <a:srgbClr val="64748B"/>
                </a:solidFill>
                <a:latin typeface="Arial" pitchFamily="34" charset="0"/>
                <a:ea typeface="Arial" pitchFamily="34" charset="-122"/>
                <a:cs typeface="Arial" pitchFamily="34" charset="-120"/>
              </a:rPr>
              <a:t>Predicts traffic</a:t>
            </a:r>
            <a:endParaRPr lang="en-US" sz="1400" dirty="0"/>
          </a:p>
        </p:txBody>
      </p:sp>
      <p:sp>
        <p:nvSpPr>
          <p:cNvPr id="16" name="Shape 14"/>
          <p:cNvSpPr/>
          <p:nvPr/>
        </p:nvSpPr>
        <p:spPr>
          <a:xfrm>
            <a:off x="457200" y="4846320"/>
            <a:ext cx="3657600" cy="1188720"/>
          </a:xfrm>
          <a:prstGeom prst="roundRect">
            <a:avLst>
              <a:gd name="adj" fmla="val 9231"/>
            </a:avLst>
          </a:prstGeom>
          <a:solidFill>
            <a:srgbClr val="F1F5F9"/>
          </a:solidFill>
          <a:ln/>
        </p:spPr>
      </p:sp>
      <p:sp>
        <p:nvSpPr>
          <p:cNvPr id="17" name="Text 15"/>
          <p:cNvSpPr/>
          <p:nvPr/>
        </p:nvSpPr>
        <p:spPr>
          <a:xfrm>
            <a:off x="685800" y="5120640"/>
            <a:ext cx="3200400" cy="320040"/>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Spam filter</a:t>
            </a:r>
            <a:endParaRPr lang="en-US" sz="1500" dirty="0"/>
          </a:p>
        </p:txBody>
      </p:sp>
      <p:sp>
        <p:nvSpPr>
          <p:cNvPr id="18" name="Text 16"/>
          <p:cNvSpPr/>
          <p:nvPr/>
        </p:nvSpPr>
        <p:spPr>
          <a:xfrm>
            <a:off x="685800" y="5486400"/>
            <a:ext cx="3200400" cy="320040"/>
          </a:xfrm>
          <a:prstGeom prst="rect">
            <a:avLst/>
          </a:prstGeom>
          <a:noFill/>
          <a:ln/>
        </p:spPr>
        <p:txBody>
          <a:bodyPr wrap="square" lIns="0" tIns="0" rIns="0" bIns="0" rtlCol="0" anchor="ctr"/>
          <a:lstStyle/>
          <a:p>
            <a:pPr indent="0" marL="0">
              <a:buNone/>
            </a:pPr>
            <a:r>
              <a:rPr lang="en-US" sz="1400" dirty="0">
                <a:solidFill>
                  <a:srgbClr val="64748B"/>
                </a:solidFill>
                <a:latin typeface="Arial" pitchFamily="34" charset="0"/>
                <a:ea typeface="Arial" pitchFamily="34" charset="-122"/>
                <a:cs typeface="Arial" pitchFamily="34" charset="-120"/>
              </a:rPr>
              <a:t>Blocks junk emails</a:t>
            </a:r>
            <a:endParaRPr lang="en-US" sz="1400" dirty="0"/>
          </a:p>
        </p:txBody>
      </p:sp>
      <p:sp>
        <p:nvSpPr>
          <p:cNvPr id="19" name="Shape 17"/>
          <p:cNvSpPr/>
          <p:nvPr/>
        </p:nvSpPr>
        <p:spPr>
          <a:xfrm>
            <a:off x="4297680" y="4846320"/>
            <a:ext cx="3657600" cy="1188720"/>
          </a:xfrm>
          <a:prstGeom prst="roundRect">
            <a:avLst>
              <a:gd name="adj" fmla="val 9231"/>
            </a:avLst>
          </a:prstGeom>
          <a:solidFill>
            <a:srgbClr val="F1F5F9"/>
          </a:solidFill>
          <a:ln/>
        </p:spPr>
      </p:sp>
      <p:sp>
        <p:nvSpPr>
          <p:cNvPr id="20" name="Text 18"/>
          <p:cNvSpPr/>
          <p:nvPr/>
        </p:nvSpPr>
        <p:spPr>
          <a:xfrm>
            <a:off x="4526280" y="5120640"/>
            <a:ext cx="3200400" cy="320040"/>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Siri / Alexa</a:t>
            </a:r>
            <a:endParaRPr lang="en-US" sz="1500" dirty="0"/>
          </a:p>
        </p:txBody>
      </p:sp>
      <p:sp>
        <p:nvSpPr>
          <p:cNvPr id="21" name="Text 19"/>
          <p:cNvSpPr/>
          <p:nvPr/>
        </p:nvSpPr>
        <p:spPr>
          <a:xfrm>
            <a:off x="4526280" y="5486400"/>
            <a:ext cx="3200400" cy="320040"/>
          </a:xfrm>
          <a:prstGeom prst="rect">
            <a:avLst/>
          </a:prstGeom>
          <a:noFill/>
          <a:ln/>
        </p:spPr>
        <p:txBody>
          <a:bodyPr wrap="square" lIns="0" tIns="0" rIns="0" bIns="0" rtlCol="0" anchor="ctr"/>
          <a:lstStyle/>
          <a:p>
            <a:pPr indent="0" marL="0">
              <a:buNone/>
            </a:pPr>
            <a:r>
              <a:rPr lang="en-US" sz="1400" dirty="0">
                <a:solidFill>
                  <a:srgbClr val="64748B"/>
                </a:solidFill>
                <a:latin typeface="Arial" pitchFamily="34" charset="0"/>
                <a:ea typeface="Arial" pitchFamily="34" charset="-122"/>
                <a:cs typeface="Arial" pitchFamily="34" charset="-120"/>
              </a:rPr>
              <a:t>Understands your voice</a:t>
            </a:r>
            <a:endParaRPr lang="en-US" sz="1400" dirty="0"/>
          </a:p>
        </p:txBody>
      </p:sp>
      <p:sp>
        <p:nvSpPr>
          <p:cNvPr id="22" name="Shape 20"/>
          <p:cNvSpPr/>
          <p:nvPr/>
        </p:nvSpPr>
        <p:spPr>
          <a:xfrm>
            <a:off x="8138160" y="4846320"/>
            <a:ext cx="3657600" cy="1188720"/>
          </a:xfrm>
          <a:prstGeom prst="roundRect">
            <a:avLst>
              <a:gd name="adj" fmla="val 9231"/>
            </a:avLst>
          </a:prstGeom>
          <a:solidFill>
            <a:srgbClr val="F1F5F9"/>
          </a:solidFill>
          <a:ln/>
        </p:spPr>
      </p:sp>
      <p:sp>
        <p:nvSpPr>
          <p:cNvPr id="23" name="Text 21"/>
          <p:cNvSpPr/>
          <p:nvPr/>
        </p:nvSpPr>
        <p:spPr>
          <a:xfrm>
            <a:off x="8366760" y="5120640"/>
            <a:ext cx="3200400" cy="320040"/>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ChatGPT</a:t>
            </a:r>
            <a:endParaRPr lang="en-US" sz="1500" dirty="0"/>
          </a:p>
        </p:txBody>
      </p:sp>
      <p:sp>
        <p:nvSpPr>
          <p:cNvPr id="24" name="Text 22"/>
          <p:cNvSpPr/>
          <p:nvPr/>
        </p:nvSpPr>
        <p:spPr>
          <a:xfrm>
            <a:off x="8366760" y="5486400"/>
            <a:ext cx="3200400" cy="320040"/>
          </a:xfrm>
          <a:prstGeom prst="rect">
            <a:avLst/>
          </a:prstGeom>
          <a:noFill/>
          <a:ln/>
        </p:spPr>
        <p:txBody>
          <a:bodyPr wrap="square" lIns="0" tIns="0" rIns="0" bIns="0" rtlCol="0" anchor="ctr"/>
          <a:lstStyle/>
          <a:p>
            <a:pPr indent="0" marL="0">
              <a:buNone/>
            </a:pPr>
            <a:r>
              <a:rPr lang="en-US" sz="1400" dirty="0">
                <a:solidFill>
                  <a:srgbClr val="64748B"/>
                </a:solidFill>
                <a:latin typeface="Arial" pitchFamily="34" charset="0"/>
                <a:ea typeface="Arial" pitchFamily="34" charset="-122"/>
                <a:cs typeface="Arial" pitchFamily="34" charset="-120"/>
              </a:rPr>
              <a:t>Writes answers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indent="0" marL="0">
              <a:buNone/>
            </a:pPr>
            <a:r>
              <a:rPr lang="en-US" sz="2600" b="1" dirty="0">
                <a:solidFill>
                  <a:srgbClr val="0F172A"/>
                </a:solidFill>
                <a:latin typeface="Arial" pitchFamily="34" charset="0"/>
                <a:ea typeface="Arial" pitchFamily="34" charset="-122"/>
                <a:cs typeface="Arial" pitchFamily="34" charset="-120"/>
              </a:rPr>
              <a:t>What is Machine Learning?</a:t>
            </a:r>
            <a:endParaRPr lang="en-US" sz="2600" dirty="0"/>
          </a:p>
        </p:txBody>
      </p:sp>
      <p:sp>
        <p:nvSpPr>
          <p:cNvPr id="3" name="Shape 1"/>
          <p:cNvSpPr/>
          <p:nvPr/>
        </p:nvSpPr>
        <p:spPr>
          <a:xfrm>
            <a:off x="457200" y="868680"/>
            <a:ext cx="1463040" cy="64008"/>
          </a:xfrm>
          <a:prstGeom prst="rect">
            <a:avLst/>
          </a:prstGeom>
          <a:solidFill>
            <a:srgbClr val="2563EB"/>
          </a:solidFill>
          <a:ln/>
        </p:spPr>
      </p:sp>
      <p:sp>
        <p:nvSpPr>
          <p:cNvPr id="4" name="Shape 2"/>
          <p:cNvSpPr/>
          <p:nvPr/>
        </p:nvSpPr>
        <p:spPr>
          <a:xfrm>
            <a:off x="457200" y="1188720"/>
            <a:ext cx="11247120" cy="1188720"/>
          </a:xfrm>
          <a:prstGeom prst="roundRect">
            <a:avLst>
              <a:gd name="adj" fmla="val 9231"/>
            </a:avLst>
          </a:prstGeom>
          <a:solidFill>
            <a:srgbClr val="F1F5F9"/>
          </a:solidFill>
          <a:ln/>
        </p:spPr>
      </p:sp>
      <p:sp>
        <p:nvSpPr>
          <p:cNvPr id="5" name="Text 3"/>
          <p:cNvSpPr/>
          <p:nvPr/>
        </p:nvSpPr>
        <p:spPr>
          <a:xfrm>
            <a:off x="822960" y="1417320"/>
            <a:ext cx="10515600" cy="777240"/>
          </a:xfrm>
          <a:prstGeom prst="rect">
            <a:avLst/>
          </a:prstGeom>
          <a:noFill/>
          <a:ln/>
        </p:spPr>
        <p:txBody>
          <a:bodyPr wrap="square" lIns="0" tIns="0" rIns="0" bIns="0" rtlCol="0" anchor="ctr"/>
          <a:lstStyle/>
          <a:p>
            <a:pPr indent="0" marL="0">
              <a:buNone/>
            </a:pPr>
            <a:r>
              <a:rPr lang="en-US" sz="1700" dirty="0">
                <a:solidFill>
                  <a:srgbClr val="0F172A"/>
                </a:solidFill>
                <a:latin typeface="Arial" pitchFamily="34" charset="0"/>
                <a:ea typeface="Arial" pitchFamily="34" charset="-122"/>
                <a:cs typeface="Arial" pitchFamily="34" charset="-120"/>
              </a:rPr>
              <a:t>Instead of writing every rule, we show the computer many examples.</a:t>
            </a:r>
            <a:endParaRPr lang="en-US" sz="1700" dirty="0"/>
          </a:p>
          <a:p>
            <a:pPr indent="0" marL="0">
              <a:buNone/>
            </a:pPr>
            <a:r>
              <a:rPr lang="en-US" sz="1700" dirty="0">
                <a:solidFill>
                  <a:srgbClr val="0F172A"/>
                </a:solidFill>
                <a:latin typeface="Arial" pitchFamily="34" charset="0"/>
                <a:ea typeface="Arial" pitchFamily="34" charset="-122"/>
                <a:cs typeface="Arial" pitchFamily="34" charset="-120"/>
              </a:rPr>
              <a:t>It finds the patterns by itself.</a:t>
            </a:r>
            <a:endParaRPr lang="en-US" sz="1700" dirty="0"/>
          </a:p>
        </p:txBody>
      </p:sp>
      <p:sp>
        <p:nvSpPr>
          <p:cNvPr id="6" name="Shape 4"/>
          <p:cNvSpPr/>
          <p:nvPr/>
        </p:nvSpPr>
        <p:spPr>
          <a:xfrm>
            <a:off x="457200" y="2651760"/>
            <a:ext cx="5394960" cy="3657600"/>
          </a:xfrm>
          <a:prstGeom prst="roundRect">
            <a:avLst>
              <a:gd name="adj" fmla="val 3000"/>
            </a:avLst>
          </a:prstGeom>
          <a:solidFill>
            <a:srgbClr val="FEE2E2"/>
          </a:solidFill>
          <a:ln/>
        </p:spPr>
      </p:sp>
      <p:sp>
        <p:nvSpPr>
          <p:cNvPr id="7" name="Text 5"/>
          <p:cNvSpPr/>
          <p:nvPr/>
        </p:nvSpPr>
        <p:spPr>
          <a:xfrm>
            <a:off x="731520" y="2880360"/>
            <a:ext cx="4846320" cy="365760"/>
          </a:xfrm>
          <a:prstGeom prst="rect">
            <a:avLst/>
          </a:prstGeom>
          <a:noFill/>
          <a:ln/>
        </p:spPr>
        <p:txBody>
          <a:bodyPr wrap="square" lIns="0" tIns="0" rIns="0" bIns="0" rtlCol="0" anchor="ctr"/>
          <a:lstStyle/>
          <a:p>
            <a:pPr indent="0" marL="0">
              <a:buNone/>
            </a:pPr>
            <a:r>
              <a:rPr lang="en-US" sz="1800" b="1" dirty="0">
                <a:solidFill>
                  <a:srgbClr val="DC2626"/>
                </a:solidFill>
                <a:latin typeface="Arial" pitchFamily="34" charset="0"/>
                <a:ea typeface="Arial" pitchFamily="34" charset="-122"/>
                <a:cs typeface="Arial" pitchFamily="34" charset="-120"/>
              </a:rPr>
              <a:t>Old way</a:t>
            </a:r>
            <a:endParaRPr lang="en-US" sz="1800" dirty="0"/>
          </a:p>
        </p:txBody>
      </p:sp>
      <p:sp>
        <p:nvSpPr>
          <p:cNvPr id="8" name="Text 6"/>
          <p:cNvSpPr/>
          <p:nvPr/>
        </p:nvSpPr>
        <p:spPr>
          <a:xfrm>
            <a:off x="731520" y="3383280"/>
            <a:ext cx="4846320" cy="320040"/>
          </a:xfrm>
          <a:prstGeom prst="rect">
            <a:avLst/>
          </a:prstGeom>
          <a:noFill/>
          <a:ln/>
        </p:spPr>
        <p:txBody>
          <a:bodyPr wrap="square" lIns="0" tIns="0" rIns="0" bIns="0" rtlCol="0" anchor="ctr"/>
          <a:lstStyle/>
          <a:p>
            <a:pPr indent="0" marL="0">
              <a:buNone/>
            </a:pPr>
            <a:r>
              <a:rPr lang="en-US" sz="1400" dirty="0">
                <a:solidFill>
                  <a:srgbClr val="0F172A"/>
                </a:solidFill>
                <a:latin typeface="Arial" pitchFamily="34" charset="0"/>
                <a:ea typeface="Arial" pitchFamily="34" charset="-122"/>
                <a:cs typeface="Arial" pitchFamily="34" charset="-120"/>
              </a:rPr>
              <a:t>You write every rule:</a:t>
            </a:r>
            <a:endParaRPr lang="en-US" sz="1400" dirty="0"/>
          </a:p>
        </p:txBody>
      </p:sp>
      <p:sp>
        <p:nvSpPr>
          <p:cNvPr id="9" name="Text 7"/>
          <p:cNvSpPr/>
          <p:nvPr/>
        </p:nvSpPr>
        <p:spPr>
          <a:xfrm>
            <a:off x="731520" y="3840480"/>
            <a:ext cx="4846320" cy="2103120"/>
          </a:xfrm>
          <a:prstGeom prst="rect">
            <a:avLst/>
          </a:prstGeom>
          <a:noFill/>
          <a:ln/>
        </p:spPr>
        <p:txBody>
          <a:bodyPr wrap="square" lIns="0" tIns="0" rIns="0" bIns="0" rtlCol="0" anchor="ctr"/>
          <a:lstStyle/>
          <a:p>
            <a:pPr indent="0" marL="0">
              <a:buNone/>
            </a:pPr>
            <a:r>
              <a:rPr lang="en-US" sz="1400" dirty="0">
                <a:solidFill>
                  <a:srgbClr val="1E293B"/>
                </a:solidFill>
                <a:latin typeface="Arial" pitchFamily="34" charset="0"/>
                <a:ea typeface="Arial" pitchFamily="34" charset="-122"/>
                <a:cs typeface="Arial" pitchFamily="34" charset="-120"/>
              </a:rPr>
              <a:t>If temperature &gt; 30 → turn on AC</a:t>
            </a:r>
            <a:endParaRPr lang="en-US" sz="1400" dirty="0"/>
          </a:p>
          <a:p>
            <a:pPr indent="0" marL="0">
              <a:buNone/>
            </a:pPr>
            <a:r>
              <a:rPr lang="en-US" sz="1400" dirty="0">
                <a:solidFill>
                  <a:srgbClr val="1E293B"/>
                </a:solidFill>
                <a:latin typeface="Arial" pitchFamily="34" charset="0"/>
                <a:ea typeface="Arial" pitchFamily="34" charset="-122"/>
                <a:cs typeface="Arial" pitchFamily="34" charset="-120"/>
              </a:rPr>
              <a:t>If temperature &lt; 18 → turn on heater</a:t>
            </a:r>
            <a:endParaRPr lang="en-US" sz="1400" dirty="0"/>
          </a:p>
          <a:p>
            <a:pPr indent="0" marL="0">
              <a:buNone/>
            </a:pPr>
            <a:r>
              <a:rPr lang="en-US" sz="1400" dirty="0">
                <a:solidFill>
                  <a:srgbClr val="1E293B"/>
                </a:solidFill>
                <a:latin typeface="Arial" pitchFamily="34" charset="0"/>
                <a:ea typeface="Arial" pitchFamily="34" charset="-122"/>
                <a:cs typeface="Arial" pitchFamily="34" charset="-120"/>
              </a:rPr>
              <a:t>If rain → open umbrella</a:t>
            </a:r>
            <a:endParaRPr lang="en-US" sz="1400" dirty="0"/>
          </a:p>
          <a:p>
            <a:pPr indent="0" marL="0">
              <a:buNone/>
            </a:pPr>
            <a:endParaRPr lang="en-US" sz="1400" dirty="0"/>
          </a:p>
          <a:p>
            <a:pPr indent="0" marL="0">
              <a:buNone/>
            </a:pPr>
            <a:r>
              <a:rPr lang="en-US" sz="1400" dirty="0">
                <a:solidFill>
                  <a:srgbClr val="1E293B"/>
                </a:solidFill>
                <a:latin typeface="Arial" pitchFamily="34" charset="0"/>
                <a:ea typeface="Arial" pitchFamily="34" charset="-122"/>
                <a:cs typeface="Arial" pitchFamily="34" charset="-120"/>
              </a:rPr>
              <a:t>You must think of every case.</a:t>
            </a:r>
            <a:endParaRPr lang="en-US" sz="1400" dirty="0"/>
          </a:p>
        </p:txBody>
      </p:sp>
      <p:sp>
        <p:nvSpPr>
          <p:cNvPr id="10" name="Shape 8"/>
          <p:cNvSpPr/>
          <p:nvPr/>
        </p:nvSpPr>
        <p:spPr>
          <a:xfrm>
            <a:off x="6309360" y="2651760"/>
            <a:ext cx="5394960" cy="3657600"/>
          </a:xfrm>
          <a:prstGeom prst="roundRect">
            <a:avLst>
              <a:gd name="adj" fmla="val 3000"/>
            </a:avLst>
          </a:prstGeom>
          <a:solidFill>
            <a:srgbClr val="D1FAE5"/>
          </a:solidFill>
          <a:ln/>
        </p:spPr>
      </p:sp>
      <p:sp>
        <p:nvSpPr>
          <p:cNvPr id="11" name="Text 9"/>
          <p:cNvSpPr/>
          <p:nvPr/>
        </p:nvSpPr>
        <p:spPr>
          <a:xfrm>
            <a:off x="6583680" y="2880360"/>
            <a:ext cx="4846320" cy="365760"/>
          </a:xfrm>
          <a:prstGeom prst="rect">
            <a:avLst/>
          </a:prstGeom>
          <a:noFill/>
          <a:ln/>
        </p:spPr>
        <p:txBody>
          <a:bodyPr wrap="square" lIns="0" tIns="0" rIns="0" bIns="0" rtlCol="0" anchor="ctr"/>
          <a:lstStyle/>
          <a:p>
            <a:pPr indent="0" marL="0">
              <a:buNone/>
            </a:pPr>
            <a:r>
              <a:rPr lang="en-US" sz="1800" b="1" dirty="0">
                <a:solidFill>
                  <a:srgbClr val="059669"/>
                </a:solidFill>
                <a:latin typeface="Arial" pitchFamily="34" charset="0"/>
                <a:ea typeface="Arial" pitchFamily="34" charset="-122"/>
                <a:cs typeface="Arial" pitchFamily="34" charset="-120"/>
              </a:rPr>
              <a:t>Machine Learning way</a:t>
            </a:r>
            <a:endParaRPr lang="en-US" sz="1800" dirty="0"/>
          </a:p>
        </p:txBody>
      </p:sp>
      <p:sp>
        <p:nvSpPr>
          <p:cNvPr id="12" name="Text 10"/>
          <p:cNvSpPr/>
          <p:nvPr/>
        </p:nvSpPr>
        <p:spPr>
          <a:xfrm>
            <a:off x="6583680" y="3383280"/>
            <a:ext cx="4846320" cy="320040"/>
          </a:xfrm>
          <a:prstGeom prst="rect">
            <a:avLst/>
          </a:prstGeom>
          <a:noFill/>
          <a:ln/>
        </p:spPr>
        <p:txBody>
          <a:bodyPr wrap="square" lIns="0" tIns="0" rIns="0" bIns="0" rtlCol="0" anchor="ctr"/>
          <a:lstStyle/>
          <a:p>
            <a:pPr indent="0" marL="0">
              <a:buNone/>
            </a:pPr>
            <a:r>
              <a:rPr lang="en-US" sz="1400" dirty="0">
                <a:solidFill>
                  <a:srgbClr val="0F172A"/>
                </a:solidFill>
                <a:latin typeface="Arial" pitchFamily="34" charset="0"/>
                <a:ea typeface="Arial" pitchFamily="34" charset="-122"/>
                <a:cs typeface="Arial" pitchFamily="34" charset="-120"/>
              </a:rPr>
              <a:t>You give many examples:</a:t>
            </a:r>
            <a:endParaRPr lang="en-US" sz="1400" dirty="0"/>
          </a:p>
        </p:txBody>
      </p:sp>
      <p:sp>
        <p:nvSpPr>
          <p:cNvPr id="13" name="Text 11"/>
          <p:cNvSpPr/>
          <p:nvPr/>
        </p:nvSpPr>
        <p:spPr>
          <a:xfrm>
            <a:off x="6583680" y="3840480"/>
            <a:ext cx="4846320" cy="2103120"/>
          </a:xfrm>
          <a:prstGeom prst="rect">
            <a:avLst/>
          </a:prstGeom>
          <a:noFill/>
          <a:ln/>
        </p:spPr>
        <p:txBody>
          <a:bodyPr wrap="square" lIns="0" tIns="0" rIns="0" bIns="0" rtlCol="0" anchor="ctr"/>
          <a:lstStyle/>
          <a:p>
            <a:pPr indent="0" marL="0">
              <a:buNone/>
            </a:pPr>
            <a:r>
              <a:rPr lang="en-US" sz="1400" dirty="0">
                <a:solidFill>
                  <a:srgbClr val="1E293B"/>
                </a:solidFill>
                <a:latin typeface="Arial" pitchFamily="34" charset="0"/>
                <a:ea typeface="Arial" pitchFamily="34" charset="-122"/>
                <a:cs typeface="Arial" pitchFamily="34" charset="-120"/>
              </a:rPr>
              <a:t>Show thousands of days:</a:t>
            </a:r>
            <a:endParaRPr lang="en-US" sz="1400" dirty="0"/>
          </a:p>
          <a:p>
            <a:pPr indent="0" marL="0">
              <a:buNone/>
            </a:pPr>
            <a:r>
              <a:rPr lang="en-US" sz="1400" dirty="0">
                <a:solidFill>
                  <a:srgbClr val="1E293B"/>
                </a:solidFill>
                <a:latin typeface="Arial" pitchFamily="34" charset="0"/>
                <a:ea typeface="Arial" pitchFamily="34" charset="-122"/>
                <a:cs typeface="Arial" pitchFamily="34" charset="-120"/>
              </a:rPr>
              <a:t>weather + what people did</a:t>
            </a:r>
            <a:endParaRPr lang="en-US" sz="1400" dirty="0"/>
          </a:p>
          <a:p>
            <a:pPr indent="0" marL="0">
              <a:buNone/>
            </a:pPr>
            <a:endParaRPr lang="en-US" sz="1400" dirty="0"/>
          </a:p>
          <a:p>
            <a:pPr indent="0" marL="0">
              <a:buNone/>
            </a:pPr>
            <a:r>
              <a:rPr lang="en-US" sz="1400" dirty="0">
                <a:solidFill>
                  <a:srgbClr val="1E293B"/>
                </a:solidFill>
                <a:latin typeface="Arial" pitchFamily="34" charset="0"/>
                <a:ea typeface="Arial" pitchFamily="34" charset="-122"/>
                <a:cs typeface="Arial" pitchFamily="34" charset="-120"/>
              </a:rPr>
              <a:t>The computer finds the pattern.</a:t>
            </a:r>
            <a:endParaRPr lang="en-US" sz="1400" dirty="0"/>
          </a:p>
          <a:p>
            <a:pPr indent="0" marL="0">
              <a:buNone/>
            </a:pPr>
            <a:r>
              <a:rPr lang="en-US" sz="1400" dirty="0">
                <a:solidFill>
                  <a:srgbClr val="1E293B"/>
                </a:solidFill>
                <a:latin typeface="Arial" pitchFamily="34" charset="0"/>
                <a:ea typeface="Arial" pitchFamily="34" charset="-122"/>
                <a:cs typeface="Arial" pitchFamily="34" charset="-120"/>
              </a:rPr>
              <a:t>Then it can decide by itself.</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indent="0" marL="0">
              <a:buNone/>
            </a:pPr>
            <a:r>
              <a:rPr lang="en-US" sz="2600" b="1" dirty="0">
                <a:solidFill>
                  <a:srgbClr val="0F172A"/>
                </a:solidFill>
                <a:latin typeface="Arial" pitchFamily="34" charset="0"/>
                <a:ea typeface="Arial" pitchFamily="34" charset="-122"/>
                <a:cs typeface="Arial" pitchFamily="34" charset="-120"/>
              </a:rPr>
              <a:t>Deep Learning &amp; Generative AI</a:t>
            </a:r>
            <a:endParaRPr lang="en-US" sz="2600" dirty="0"/>
          </a:p>
        </p:txBody>
      </p:sp>
      <p:sp>
        <p:nvSpPr>
          <p:cNvPr id="3" name="Shape 1"/>
          <p:cNvSpPr/>
          <p:nvPr/>
        </p:nvSpPr>
        <p:spPr>
          <a:xfrm>
            <a:off x="457200" y="868680"/>
            <a:ext cx="1463040" cy="64008"/>
          </a:xfrm>
          <a:prstGeom prst="rect">
            <a:avLst/>
          </a:prstGeom>
          <a:solidFill>
            <a:srgbClr val="2563EB"/>
          </a:solidFill>
          <a:ln/>
        </p:spPr>
      </p:sp>
      <p:sp>
        <p:nvSpPr>
          <p:cNvPr id="4" name="Shape 2"/>
          <p:cNvSpPr/>
          <p:nvPr/>
        </p:nvSpPr>
        <p:spPr>
          <a:xfrm>
            <a:off x="457200" y="1234440"/>
            <a:ext cx="5486400" cy="5029200"/>
          </a:xfrm>
          <a:prstGeom prst="roundRect">
            <a:avLst>
              <a:gd name="adj" fmla="val 2182"/>
            </a:avLst>
          </a:prstGeom>
          <a:solidFill>
            <a:srgbClr val="EDE9FE"/>
          </a:solidFill>
          <a:ln/>
        </p:spPr>
      </p:sp>
      <p:sp>
        <p:nvSpPr>
          <p:cNvPr id="5" name="Text 3"/>
          <p:cNvSpPr/>
          <p:nvPr/>
        </p:nvSpPr>
        <p:spPr>
          <a:xfrm>
            <a:off x="731520" y="1463040"/>
            <a:ext cx="4937760" cy="365760"/>
          </a:xfrm>
          <a:prstGeom prst="rect">
            <a:avLst/>
          </a:prstGeom>
          <a:noFill/>
          <a:ln/>
        </p:spPr>
        <p:txBody>
          <a:bodyPr wrap="square" lIns="0" tIns="0" rIns="0" bIns="0" rtlCol="0" anchor="ctr"/>
          <a:lstStyle/>
          <a:p>
            <a:pPr indent="0" marL="0">
              <a:buNone/>
            </a:pPr>
            <a:r>
              <a:rPr lang="en-US" sz="2000" b="1" dirty="0">
                <a:solidFill>
                  <a:srgbClr val="7C3AED"/>
                </a:solidFill>
                <a:latin typeface="Arial" pitchFamily="34" charset="0"/>
                <a:ea typeface="Arial" pitchFamily="34" charset="-122"/>
                <a:cs typeface="Arial" pitchFamily="34" charset="-120"/>
              </a:rPr>
              <a:t>Deep Learning</a:t>
            </a:r>
            <a:endParaRPr lang="en-US" sz="2000" dirty="0"/>
          </a:p>
        </p:txBody>
      </p:sp>
      <p:sp>
        <p:nvSpPr>
          <p:cNvPr id="6" name="Text 4"/>
          <p:cNvSpPr/>
          <p:nvPr/>
        </p:nvSpPr>
        <p:spPr>
          <a:xfrm>
            <a:off x="731520" y="2011680"/>
            <a:ext cx="4937760" cy="3840480"/>
          </a:xfrm>
          <a:prstGeom prst="rect">
            <a:avLst/>
          </a:prstGeom>
          <a:noFill/>
          <a:ln/>
        </p:spPr>
        <p:txBody>
          <a:bodyPr wrap="square" lIns="0" tIns="0" rIns="0" bIns="0" rtlCol="0" anchor="ctr"/>
          <a:lstStyle/>
          <a:p>
            <a:pPr indent="0" marL="0">
              <a:buNone/>
            </a:pPr>
            <a:r>
              <a:rPr lang="en-US" sz="1500" dirty="0">
                <a:solidFill>
                  <a:srgbClr val="1E293B"/>
                </a:solidFill>
                <a:latin typeface="Arial" pitchFamily="34" charset="0"/>
                <a:ea typeface="Arial" pitchFamily="34" charset="-122"/>
                <a:cs typeface="Arial" pitchFamily="34" charset="-120"/>
              </a:rPr>
              <a:t>Uses neural networks with many layers.</a:t>
            </a:r>
            <a:endParaRPr lang="en-US" sz="1500" dirty="0"/>
          </a:p>
          <a:p>
            <a:pPr indent="0" marL="0">
              <a:buNone/>
            </a:pPr>
            <a:endParaRPr lang="en-US" sz="1500" dirty="0"/>
          </a:p>
          <a:p>
            <a:pPr indent="0" marL="0">
              <a:buNone/>
            </a:pPr>
            <a:r>
              <a:rPr lang="en-US" sz="1500" dirty="0">
                <a:solidFill>
                  <a:srgbClr val="1E293B"/>
                </a:solidFill>
                <a:latin typeface="Arial" pitchFamily="34" charset="0"/>
                <a:ea typeface="Arial" pitchFamily="34" charset="-122"/>
                <a:cs typeface="Arial" pitchFamily="34" charset="-120"/>
              </a:rPr>
              <a:t>Think of it like this:</a:t>
            </a:r>
            <a:endParaRPr lang="en-US" sz="1500" dirty="0"/>
          </a:p>
          <a:p>
            <a:pPr indent="0" marL="0">
              <a:buNone/>
            </a:pPr>
            <a:endParaRPr lang="en-US" sz="1500" dirty="0"/>
          </a:p>
          <a:p>
            <a:pPr indent="0" marL="0">
              <a:buNone/>
            </a:pPr>
            <a:r>
              <a:rPr lang="en-US" sz="1500" dirty="0">
                <a:solidFill>
                  <a:srgbClr val="1E293B"/>
                </a:solidFill>
                <a:latin typeface="Arial" pitchFamily="34" charset="0"/>
                <a:ea typeface="Arial" pitchFamily="34" charset="-122"/>
                <a:cs typeface="Arial" pitchFamily="34" charset="-120"/>
              </a:rPr>
              <a:t>Layer 1 → sees simple shapes</a:t>
            </a:r>
            <a:endParaRPr lang="en-US" sz="1500" dirty="0"/>
          </a:p>
          <a:p>
            <a:pPr indent="0" marL="0">
              <a:buNone/>
            </a:pPr>
            <a:r>
              <a:rPr lang="en-US" sz="1500" dirty="0">
                <a:solidFill>
                  <a:srgbClr val="1E293B"/>
                </a:solidFill>
                <a:latin typeface="Arial" pitchFamily="34" charset="0"/>
                <a:ea typeface="Arial" pitchFamily="34" charset="-122"/>
                <a:cs typeface="Arial" pitchFamily="34" charset="-120"/>
              </a:rPr>
              <a:t>Layer 2 → sees edges</a:t>
            </a:r>
            <a:endParaRPr lang="en-US" sz="1500" dirty="0"/>
          </a:p>
          <a:p>
            <a:pPr indent="0" marL="0">
              <a:buNone/>
            </a:pPr>
            <a:r>
              <a:rPr lang="en-US" sz="1500" dirty="0">
                <a:solidFill>
                  <a:srgbClr val="1E293B"/>
                </a:solidFill>
                <a:latin typeface="Arial" pitchFamily="34" charset="0"/>
                <a:ea typeface="Arial" pitchFamily="34" charset="-122"/>
                <a:cs typeface="Arial" pitchFamily="34" charset="-120"/>
              </a:rPr>
              <a:t>Layer 3 → sees objects</a:t>
            </a:r>
            <a:endParaRPr lang="en-US" sz="1500" dirty="0"/>
          </a:p>
          <a:p>
            <a:pPr indent="0" marL="0">
              <a:buNone/>
            </a:pPr>
            <a:r>
              <a:rPr lang="en-US" sz="1500" dirty="0">
                <a:solidFill>
                  <a:srgbClr val="1E293B"/>
                </a:solidFill>
                <a:latin typeface="Arial" pitchFamily="34" charset="0"/>
                <a:ea typeface="Arial" pitchFamily="34" charset="-122"/>
                <a:cs typeface="Arial" pitchFamily="34" charset="-120"/>
              </a:rPr>
              <a:t>Layer 4 → understands the picture</a:t>
            </a:r>
            <a:endParaRPr lang="en-US" sz="1500" dirty="0"/>
          </a:p>
          <a:p>
            <a:pPr indent="0" marL="0">
              <a:buNone/>
            </a:pPr>
            <a:endParaRPr lang="en-US" sz="1500" dirty="0"/>
          </a:p>
          <a:p>
            <a:pPr indent="0" marL="0">
              <a:buNone/>
            </a:pPr>
            <a:r>
              <a:rPr lang="en-US" sz="1500" dirty="0">
                <a:solidFill>
                  <a:srgbClr val="1E293B"/>
                </a:solidFill>
                <a:latin typeface="Arial" pitchFamily="34" charset="0"/>
                <a:ea typeface="Arial" pitchFamily="34" charset="-122"/>
                <a:cs typeface="Arial" pitchFamily="34" charset="-120"/>
              </a:rPr>
              <a:t>More layers = can learn harder things.</a:t>
            </a:r>
            <a:endParaRPr lang="en-US" sz="1500" dirty="0"/>
          </a:p>
        </p:txBody>
      </p:sp>
      <p:sp>
        <p:nvSpPr>
          <p:cNvPr id="7" name="Shape 5"/>
          <p:cNvSpPr/>
          <p:nvPr/>
        </p:nvSpPr>
        <p:spPr>
          <a:xfrm>
            <a:off x="6217920" y="1234440"/>
            <a:ext cx="5486400" cy="5029200"/>
          </a:xfrm>
          <a:prstGeom prst="roundRect">
            <a:avLst>
              <a:gd name="adj" fmla="val 2182"/>
            </a:avLst>
          </a:prstGeom>
          <a:solidFill>
            <a:srgbClr val="FFEDD5"/>
          </a:solidFill>
          <a:ln/>
        </p:spPr>
      </p:sp>
      <p:sp>
        <p:nvSpPr>
          <p:cNvPr id="8" name="Text 6"/>
          <p:cNvSpPr/>
          <p:nvPr/>
        </p:nvSpPr>
        <p:spPr>
          <a:xfrm>
            <a:off x="6492240" y="1463040"/>
            <a:ext cx="4937760" cy="365760"/>
          </a:xfrm>
          <a:prstGeom prst="rect">
            <a:avLst/>
          </a:prstGeom>
          <a:noFill/>
          <a:ln/>
        </p:spPr>
        <p:txBody>
          <a:bodyPr wrap="square" lIns="0" tIns="0" rIns="0" bIns="0" rtlCol="0" anchor="ctr"/>
          <a:lstStyle/>
          <a:p>
            <a:pPr indent="0" marL="0">
              <a:buNone/>
            </a:pPr>
            <a:r>
              <a:rPr lang="en-US" sz="2000" b="1" dirty="0">
                <a:solidFill>
                  <a:srgbClr val="EA580C"/>
                </a:solidFill>
                <a:latin typeface="Arial" pitchFamily="34" charset="0"/>
                <a:ea typeface="Arial" pitchFamily="34" charset="-122"/>
                <a:cs typeface="Arial" pitchFamily="34" charset="-120"/>
              </a:rPr>
              <a:t>Generative AI</a:t>
            </a:r>
            <a:endParaRPr lang="en-US" sz="2000" dirty="0"/>
          </a:p>
        </p:txBody>
      </p:sp>
      <p:sp>
        <p:nvSpPr>
          <p:cNvPr id="9" name="Text 7"/>
          <p:cNvSpPr/>
          <p:nvPr/>
        </p:nvSpPr>
        <p:spPr>
          <a:xfrm>
            <a:off x="6492240" y="2011680"/>
            <a:ext cx="4937760" cy="3840480"/>
          </a:xfrm>
          <a:prstGeom prst="rect">
            <a:avLst/>
          </a:prstGeom>
          <a:noFill/>
          <a:ln/>
        </p:spPr>
        <p:txBody>
          <a:bodyPr wrap="square" lIns="0" tIns="0" rIns="0" bIns="0" rtlCol="0" anchor="ctr"/>
          <a:lstStyle/>
          <a:p>
            <a:pPr indent="0" marL="0">
              <a:buNone/>
            </a:pPr>
            <a:r>
              <a:rPr lang="en-US" sz="1500" dirty="0">
                <a:solidFill>
                  <a:srgbClr val="1E293B"/>
                </a:solidFill>
                <a:latin typeface="Arial" pitchFamily="34" charset="0"/>
                <a:ea typeface="Arial" pitchFamily="34" charset="-122"/>
                <a:cs typeface="Arial" pitchFamily="34" charset="-120"/>
              </a:rPr>
              <a:t>AI that creates new things.</a:t>
            </a:r>
            <a:endParaRPr lang="en-US" sz="1500" dirty="0"/>
          </a:p>
          <a:p>
            <a:pPr indent="0" marL="0">
              <a:buNone/>
            </a:pPr>
            <a:endParaRPr lang="en-US" sz="1500" dirty="0"/>
          </a:p>
          <a:p>
            <a:pPr indent="0" marL="0">
              <a:buNone/>
            </a:pPr>
            <a:r>
              <a:rPr lang="en-US" sz="1500" dirty="0">
                <a:solidFill>
                  <a:srgbClr val="1E293B"/>
                </a:solidFill>
                <a:latin typeface="Arial" pitchFamily="34" charset="0"/>
                <a:ea typeface="Arial" pitchFamily="34" charset="-122"/>
                <a:cs typeface="Arial" pitchFamily="34" charset="-120"/>
              </a:rPr>
              <a:t>• Text (ChatGPT)</a:t>
            </a:r>
            <a:endParaRPr lang="en-US" sz="1500" dirty="0"/>
          </a:p>
          <a:p>
            <a:pPr indent="0" marL="0">
              <a:buNone/>
            </a:pPr>
            <a:r>
              <a:rPr lang="en-US" sz="1500" dirty="0">
                <a:solidFill>
                  <a:srgbClr val="1E293B"/>
                </a:solidFill>
                <a:latin typeface="Arial" pitchFamily="34" charset="0"/>
                <a:ea typeface="Arial" pitchFamily="34" charset="-122"/>
                <a:cs typeface="Arial" pitchFamily="34" charset="-120"/>
              </a:rPr>
              <a:t>• Images (DALL·E, Midjourney)</a:t>
            </a:r>
            <a:endParaRPr lang="en-US" sz="1500" dirty="0"/>
          </a:p>
          <a:p>
            <a:pPr indent="0" marL="0">
              <a:buNone/>
            </a:pPr>
            <a:r>
              <a:rPr lang="en-US" sz="1500" dirty="0">
                <a:solidFill>
                  <a:srgbClr val="1E293B"/>
                </a:solidFill>
                <a:latin typeface="Arial" pitchFamily="34" charset="0"/>
                <a:ea typeface="Arial" pitchFamily="34" charset="-122"/>
                <a:cs typeface="Arial" pitchFamily="34" charset="-120"/>
              </a:rPr>
              <a:t>• Music</a:t>
            </a:r>
            <a:endParaRPr lang="en-US" sz="1500" dirty="0"/>
          </a:p>
          <a:p>
            <a:pPr indent="0" marL="0">
              <a:buNone/>
            </a:pPr>
            <a:r>
              <a:rPr lang="en-US" sz="1500" dirty="0">
                <a:solidFill>
                  <a:srgbClr val="1E293B"/>
                </a:solidFill>
                <a:latin typeface="Arial" pitchFamily="34" charset="0"/>
                <a:ea typeface="Arial" pitchFamily="34" charset="-122"/>
                <a:cs typeface="Arial" pitchFamily="34" charset="-120"/>
              </a:rPr>
              <a:t>• Video</a:t>
            </a:r>
            <a:endParaRPr lang="en-US" sz="1500" dirty="0"/>
          </a:p>
          <a:p>
            <a:pPr indent="0" marL="0">
              <a:buNone/>
            </a:pPr>
            <a:r>
              <a:rPr lang="en-US" sz="1500" dirty="0">
                <a:solidFill>
                  <a:srgbClr val="1E293B"/>
                </a:solidFill>
                <a:latin typeface="Arial" pitchFamily="34" charset="0"/>
                <a:ea typeface="Arial" pitchFamily="34" charset="-122"/>
                <a:cs typeface="Arial" pitchFamily="34" charset="-120"/>
              </a:rPr>
              <a:t>• Code (GitHub Copilot)</a:t>
            </a:r>
            <a:endParaRPr lang="en-US" sz="1500" dirty="0"/>
          </a:p>
          <a:p>
            <a:pPr indent="0" marL="0">
              <a:buNone/>
            </a:pPr>
            <a:endParaRPr lang="en-US" sz="1500" dirty="0"/>
          </a:p>
          <a:p>
            <a:pPr indent="0" marL="0">
              <a:buNone/>
            </a:pPr>
            <a:r>
              <a:rPr lang="en-US" sz="1500" dirty="0">
                <a:solidFill>
                  <a:srgbClr val="1E293B"/>
                </a:solidFill>
                <a:latin typeface="Arial" pitchFamily="34" charset="0"/>
                <a:ea typeface="Arial" pitchFamily="34" charset="-122"/>
                <a:cs typeface="Arial" pitchFamily="34" charset="-120"/>
              </a:rPr>
              <a:t>It does not only answer.</a:t>
            </a:r>
            <a:endParaRPr lang="en-US" sz="1500" dirty="0"/>
          </a:p>
          <a:p>
            <a:pPr indent="0" marL="0">
              <a:buNone/>
            </a:pPr>
            <a:r>
              <a:rPr lang="en-US" sz="1500" dirty="0">
                <a:solidFill>
                  <a:srgbClr val="1E293B"/>
                </a:solidFill>
                <a:latin typeface="Arial" pitchFamily="34" charset="0"/>
                <a:ea typeface="Arial" pitchFamily="34" charset="-122"/>
                <a:cs typeface="Arial" pitchFamily="34" charset="-120"/>
              </a:rPr>
              <a:t>It can create.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indent="0" marL="0">
              <a:buNone/>
            </a:pPr>
            <a:r>
              <a:rPr lang="en-US" sz="2600" b="1" dirty="0">
                <a:solidFill>
                  <a:srgbClr val="0F172A"/>
                </a:solidFill>
                <a:latin typeface="Arial" pitchFamily="34" charset="0"/>
                <a:ea typeface="Arial" pitchFamily="34" charset="-122"/>
                <a:cs typeface="Arial" pitchFamily="34" charset="-120"/>
              </a:rPr>
              <a:t>2. What is an LLM?</a:t>
            </a:r>
            <a:endParaRPr lang="en-US" sz="2600" dirty="0"/>
          </a:p>
        </p:txBody>
      </p:sp>
      <p:sp>
        <p:nvSpPr>
          <p:cNvPr id="3" name="Shape 1"/>
          <p:cNvSpPr/>
          <p:nvPr/>
        </p:nvSpPr>
        <p:spPr>
          <a:xfrm>
            <a:off x="457200" y="868680"/>
            <a:ext cx="1463040" cy="64008"/>
          </a:xfrm>
          <a:prstGeom prst="rect">
            <a:avLst/>
          </a:prstGeom>
          <a:solidFill>
            <a:srgbClr val="2563EB"/>
          </a:solidFill>
          <a:ln/>
        </p:spPr>
      </p:sp>
      <p:sp>
        <p:nvSpPr>
          <p:cNvPr id="4" name="Shape 2"/>
          <p:cNvSpPr/>
          <p:nvPr/>
        </p:nvSpPr>
        <p:spPr>
          <a:xfrm>
            <a:off x="457200" y="1188720"/>
            <a:ext cx="11247120" cy="1463040"/>
          </a:xfrm>
          <a:prstGeom prst="roundRect">
            <a:avLst>
              <a:gd name="adj" fmla="val 7500"/>
            </a:avLst>
          </a:prstGeom>
          <a:solidFill>
            <a:srgbClr val="DBEAFE"/>
          </a:solidFill>
          <a:ln/>
        </p:spPr>
      </p:sp>
      <p:sp>
        <p:nvSpPr>
          <p:cNvPr id="5" name="Text 3"/>
          <p:cNvSpPr/>
          <p:nvPr/>
        </p:nvSpPr>
        <p:spPr>
          <a:xfrm>
            <a:off x="822960" y="1371600"/>
            <a:ext cx="10515600" cy="1097280"/>
          </a:xfrm>
          <a:prstGeom prst="rect">
            <a:avLst/>
          </a:prstGeom>
          <a:noFill/>
          <a:ln/>
        </p:spPr>
        <p:txBody>
          <a:bodyPr wrap="square" lIns="0" tIns="0" rIns="0" bIns="0" rtlCol="0" anchor="ctr"/>
          <a:lstStyle/>
          <a:p>
            <a:pPr indent="0" marL="0">
              <a:buNone/>
            </a:pPr>
            <a:r>
              <a:rPr lang="en-US" sz="1800" dirty="0">
                <a:solidFill>
                  <a:srgbClr val="0F172A"/>
                </a:solidFill>
                <a:latin typeface="Arial" pitchFamily="34" charset="0"/>
                <a:ea typeface="Arial" pitchFamily="34" charset="-122"/>
                <a:cs typeface="Arial" pitchFamily="34" charset="-120"/>
              </a:rPr>
              <a:t>LLM = Large Language Model</a:t>
            </a:r>
            <a:endParaRPr lang="en-US" sz="1800" dirty="0"/>
          </a:p>
          <a:p>
            <a:pPr indent="0" marL="0">
              <a:buNone/>
            </a:pPr>
            <a:endParaRPr lang="en-US" sz="1800" dirty="0"/>
          </a:p>
          <a:p>
            <a:pPr indent="0" marL="0">
              <a:buNone/>
            </a:pPr>
            <a:r>
              <a:rPr lang="en-US" sz="1800" dirty="0">
                <a:solidFill>
                  <a:srgbClr val="0F172A"/>
                </a:solidFill>
                <a:latin typeface="Arial" pitchFamily="34" charset="0"/>
                <a:ea typeface="Arial" pitchFamily="34" charset="-122"/>
                <a:cs typeface="Arial" pitchFamily="34" charset="-120"/>
              </a:rPr>
              <a:t>A computer program trained on huge amounts of text so it can understand language and write useful answers.</a:t>
            </a:r>
            <a:endParaRPr lang="en-US" sz="1800" dirty="0"/>
          </a:p>
        </p:txBody>
      </p:sp>
      <p:sp>
        <p:nvSpPr>
          <p:cNvPr id="6" name="Text 4"/>
          <p:cNvSpPr/>
          <p:nvPr/>
        </p:nvSpPr>
        <p:spPr>
          <a:xfrm>
            <a:off x="457200" y="2926080"/>
            <a:ext cx="10972800" cy="365760"/>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Simple example:</a:t>
            </a:r>
            <a:endParaRPr lang="en-US" sz="1600" dirty="0"/>
          </a:p>
        </p:txBody>
      </p:sp>
      <p:sp>
        <p:nvSpPr>
          <p:cNvPr id="7" name="Shape 5"/>
          <p:cNvSpPr/>
          <p:nvPr/>
        </p:nvSpPr>
        <p:spPr>
          <a:xfrm>
            <a:off x="731520" y="3474720"/>
            <a:ext cx="3474720" cy="2286000"/>
          </a:xfrm>
          <a:prstGeom prst="roundRect">
            <a:avLst>
              <a:gd name="adj" fmla="val 4800"/>
            </a:avLst>
          </a:prstGeom>
          <a:solidFill>
            <a:srgbClr val="F1F5F9"/>
          </a:solidFill>
          <a:ln/>
        </p:spPr>
      </p:sp>
      <p:sp>
        <p:nvSpPr>
          <p:cNvPr id="8" name="Text 6"/>
          <p:cNvSpPr/>
          <p:nvPr/>
        </p:nvSpPr>
        <p:spPr>
          <a:xfrm>
            <a:off x="914400" y="3657600"/>
            <a:ext cx="3108960" cy="365760"/>
          </a:xfrm>
          <a:prstGeom prst="rect">
            <a:avLst/>
          </a:prstGeom>
          <a:noFill/>
          <a:ln/>
        </p:spPr>
        <p:txBody>
          <a:bodyPr wrap="square" lIns="0" tIns="0" rIns="0" bIns="0" rtlCol="0" anchor="ctr"/>
          <a:lstStyle/>
          <a:p>
            <a:pPr indent="0" marL="0">
              <a:buNone/>
            </a:pPr>
            <a:r>
              <a:rPr lang="en-US" sz="1400" b="1" dirty="0">
                <a:solidFill>
                  <a:srgbClr val="2563EB"/>
                </a:solidFill>
                <a:latin typeface="Arial" pitchFamily="34" charset="0"/>
                <a:ea typeface="Arial" pitchFamily="34" charset="-122"/>
                <a:cs typeface="Arial" pitchFamily="34" charset="-120"/>
              </a:rPr>
              <a:t>You type</a:t>
            </a:r>
            <a:endParaRPr lang="en-US" sz="1400" dirty="0"/>
          </a:p>
        </p:txBody>
      </p:sp>
      <p:sp>
        <p:nvSpPr>
          <p:cNvPr id="9" name="Text 7"/>
          <p:cNvSpPr/>
          <p:nvPr/>
        </p:nvSpPr>
        <p:spPr>
          <a:xfrm>
            <a:off x="914400" y="4206240"/>
            <a:ext cx="3108960" cy="1097280"/>
          </a:xfrm>
          <a:prstGeom prst="rect">
            <a:avLst/>
          </a:prstGeom>
          <a:noFill/>
          <a:ln/>
        </p:spPr>
        <p:txBody>
          <a:bodyPr wrap="square" lIns="0" tIns="0" rIns="0" bIns="0" rtlCol="0" anchor="ctr"/>
          <a:lstStyle/>
          <a:p>
            <a:pPr indent="0" marL="0">
              <a:buNone/>
            </a:pPr>
            <a:r>
              <a:rPr lang="en-US" sz="1600" dirty="0">
                <a:solidFill>
                  <a:srgbClr val="0F172A"/>
                </a:solidFill>
                <a:latin typeface="Arial" pitchFamily="34" charset="0"/>
                <a:ea typeface="Arial" pitchFamily="34" charset="-122"/>
                <a:cs typeface="Arial" pitchFamily="34" charset="-120"/>
              </a:rPr>
              <a:t>What is Django?</a:t>
            </a:r>
            <a:endParaRPr lang="en-US" sz="1600" dirty="0"/>
          </a:p>
        </p:txBody>
      </p:sp>
      <p:sp>
        <p:nvSpPr>
          <p:cNvPr id="10" name="Shape 8"/>
          <p:cNvSpPr/>
          <p:nvPr/>
        </p:nvSpPr>
        <p:spPr>
          <a:xfrm>
            <a:off x="4572000" y="3474720"/>
            <a:ext cx="3474720" cy="2286000"/>
          </a:xfrm>
          <a:prstGeom prst="roundRect">
            <a:avLst>
              <a:gd name="adj" fmla="val 4800"/>
            </a:avLst>
          </a:prstGeom>
          <a:solidFill>
            <a:srgbClr val="2563EB"/>
          </a:solidFill>
          <a:ln/>
        </p:spPr>
      </p:sp>
      <p:sp>
        <p:nvSpPr>
          <p:cNvPr id="11" name="Text 9"/>
          <p:cNvSpPr/>
          <p:nvPr/>
        </p:nvSpPr>
        <p:spPr>
          <a:xfrm>
            <a:off x="4754880" y="3657600"/>
            <a:ext cx="3108960" cy="365760"/>
          </a:xfrm>
          <a:prstGeom prst="rect">
            <a:avLst/>
          </a:prstGeom>
          <a:noFill/>
          <a:ln/>
        </p:spPr>
        <p:txBody>
          <a:bodyPr wrap="square" lIns="0" tIns="0" rIns="0" bIns="0" rtlCol="0" anchor="ctr"/>
          <a:lstStyle/>
          <a:p>
            <a:pPr indent="0" marL="0">
              <a:buNone/>
            </a:pPr>
            <a:r>
              <a:rPr lang="en-US" sz="1400" b="1" dirty="0">
                <a:solidFill>
                  <a:srgbClr val="93C5FD"/>
                </a:solidFill>
                <a:latin typeface="Arial" pitchFamily="34" charset="0"/>
                <a:ea typeface="Arial" pitchFamily="34" charset="-122"/>
                <a:cs typeface="Arial" pitchFamily="34" charset="-120"/>
              </a:rPr>
              <a:t>LLM thinks</a:t>
            </a:r>
            <a:endParaRPr lang="en-US" sz="1400" dirty="0"/>
          </a:p>
        </p:txBody>
      </p:sp>
      <p:sp>
        <p:nvSpPr>
          <p:cNvPr id="12" name="Text 10"/>
          <p:cNvSpPr/>
          <p:nvPr/>
        </p:nvSpPr>
        <p:spPr>
          <a:xfrm>
            <a:off x="4754880" y="4206240"/>
            <a:ext cx="3108960" cy="1097280"/>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Uses patterns</a:t>
            </a:r>
            <a:endParaRPr lang="en-US" sz="1600" dirty="0"/>
          </a:p>
          <a:p>
            <a:pPr indent="0" marL="0">
              <a:buNone/>
            </a:pPr>
            <a:r>
              <a:rPr lang="en-US" sz="1600" dirty="0">
                <a:solidFill>
                  <a:srgbClr val="FFFFFF"/>
                </a:solidFill>
                <a:latin typeface="Arial" pitchFamily="34" charset="0"/>
                <a:ea typeface="Arial" pitchFamily="34" charset="-122"/>
                <a:cs typeface="Arial" pitchFamily="34" charset="-120"/>
              </a:rPr>
              <a:t>it learned</a:t>
            </a:r>
            <a:endParaRPr lang="en-US" sz="1600" dirty="0"/>
          </a:p>
        </p:txBody>
      </p:sp>
      <p:sp>
        <p:nvSpPr>
          <p:cNvPr id="13" name="Shape 11"/>
          <p:cNvSpPr/>
          <p:nvPr/>
        </p:nvSpPr>
        <p:spPr>
          <a:xfrm>
            <a:off x="8412480" y="3474720"/>
            <a:ext cx="3474720" cy="2286000"/>
          </a:xfrm>
          <a:prstGeom prst="roundRect">
            <a:avLst>
              <a:gd name="adj" fmla="val 4800"/>
            </a:avLst>
          </a:prstGeom>
          <a:solidFill>
            <a:srgbClr val="F1F5F9"/>
          </a:solidFill>
          <a:ln/>
        </p:spPr>
      </p:sp>
      <p:sp>
        <p:nvSpPr>
          <p:cNvPr id="14" name="Text 12"/>
          <p:cNvSpPr/>
          <p:nvPr/>
        </p:nvSpPr>
        <p:spPr>
          <a:xfrm>
            <a:off x="8595360" y="3657600"/>
            <a:ext cx="3108960" cy="365760"/>
          </a:xfrm>
          <a:prstGeom prst="rect">
            <a:avLst/>
          </a:prstGeom>
          <a:noFill/>
          <a:ln/>
        </p:spPr>
        <p:txBody>
          <a:bodyPr wrap="square" lIns="0" tIns="0" rIns="0" bIns="0" rtlCol="0" anchor="ctr"/>
          <a:lstStyle/>
          <a:p>
            <a:pPr indent="0" marL="0">
              <a:buNone/>
            </a:pPr>
            <a:r>
              <a:rPr lang="en-US" sz="1400" b="1" dirty="0">
                <a:solidFill>
                  <a:srgbClr val="2563EB"/>
                </a:solidFill>
                <a:latin typeface="Arial" pitchFamily="34" charset="0"/>
                <a:ea typeface="Arial" pitchFamily="34" charset="-122"/>
                <a:cs typeface="Arial" pitchFamily="34" charset="-120"/>
              </a:rPr>
              <a:t>You get answer</a:t>
            </a:r>
            <a:endParaRPr lang="en-US" sz="1400" dirty="0"/>
          </a:p>
        </p:txBody>
      </p:sp>
      <p:sp>
        <p:nvSpPr>
          <p:cNvPr id="15" name="Text 13"/>
          <p:cNvSpPr/>
          <p:nvPr/>
        </p:nvSpPr>
        <p:spPr>
          <a:xfrm>
            <a:off x="8595360" y="4206240"/>
            <a:ext cx="3108960" cy="1097280"/>
          </a:xfrm>
          <a:prstGeom prst="rect">
            <a:avLst/>
          </a:prstGeom>
          <a:noFill/>
          <a:ln/>
        </p:spPr>
        <p:txBody>
          <a:bodyPr wrap="square" lIns="0" tIns="0" rIns="0" bIns="0" rtlCol="0" anchor="ctr"/>
          <a:lstStyle/>
          <a:p>
            <a:pPr indent="0" marL="0">
              <a:buNone/>
            </a:pPr>
            <a:r>
              <a:rPr lang="en-US" sz="1600" dirty="0">
                <a:solidFill>
                  <a:srgbClr val="0F172A"/>
                </a:solidFill>
                <a:latin typeface="Arial" pitchFamily="34" charset="0"/>
                <a:ea typeface="Arial" pitchFamily="34" charset="-122"/>
                <a:cs typeface="Arial" pitchFamily="34" charset="-120"/>
              </a:rPr>
              <a:t>Django is a Python</a:t>
            </a:r>
            <a:endParaRPr lang="en-US" sz="1600" dirty="0"/>
          </a:p>
          <a:p>
            <a:pPr indent="0" marL="0">
              <a:buNone/>
            </a:pPr>
            <a:r>
              <a:rPr lang="en-US" sz="1600" dirty="0">
                <a:solidFill>
                  <a:srgbClr val="0F172A"/>
                </a:solidFill>
                <a:latin typeface="Arial" pitchFamily="34" charset="0"/>
                <a:ea typeface="Arial" pitchFamily="34" charset="-122"/>
                <a:cs typeface="Arial" pitchFamily="34" charset="-120"/>
              </a:rPr>
              <a:t>web framework...</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indent="0" marL="0">
              <a:buNone/>
            </a:pPr>
            <a:r>
              <a:rPr lang="en-US" sz="2600" b="1" dirty="0">
                <a:solidFill>
                  <a:srgbClr val="0F172A"/>
                </a:solidFill>
                <a:latin typeface="Arial" pitchFamily="34" charset="0"/>
                <a:ea typeface="Arial" pitchFamily="34" charset="-122"/>
                <a:cs typeface="Arial" pitchFamily="34" charset="-120"/>
              </a:rPr>
              <a:t>Important: LLM is NOT Google</a:t>
            </a:r>
            <a:endParaRPr lang="en-US" sz="2600" dirty="0"/>
          </a:p>
        </p:txBody>
      </p:sp>
      <p:sp>
        <p:nvSpPr>
          <p:cNvPr id="3" name="Shape 1"/>
          <p:cNvSpPr/>
          <p:nvPr/>
        </p:nvSpPr>
        <p:spPr>
          <a:xfrm>
            <a:off x="457200" y="868680"/>
            <a:ext cx="1463040" cy="64008"/>
          </a:xfrm>
          <a:prstGeom prst="rect">
            <a:avLst/>
          </a:prstGeom>
          <a:solidFill>
            <a:srgbClr val="2563EB"/>
          </a:solidFill>
          <a:ln/>
        </p:spPr>
      </p:sp>
      <p:sp>
        <p:nvSpPr>
          <p:cNvPr id="4" name="Text 2"/>
          <p:cNvSpPr/>
          <p:nvPr/>
        </p:nvSpPr>
        <p:spPr>
          <a:xfrm>
            <a:off x="457200" y="1143000"/>
            <a:ext cx="10972800" cy="365760"/>
          </a:xfrm>
          <a:prstGeom prst="rect">
            <a:avLst/>
          </a:prstGeom>
          <a:noFill/>
          <a:ln/>
        </p:spPr>
        <p:txBody>
          <a:bodyPr wrap="square" lIns="0" tIns="0" rIns="0" bIns="0" rtlCol="0" anchor="ctr"/>
          <a:lstStyle/>
          <a:p>
            <a:pPr indent="0" marL="0">
              <a:buNone/>
            </a:pPr>
            <a:r>
              <a:rPr lang="en-US" sz="1500" dirty="0">
                <a:solidFill>
                  <a:srgbClr val="64748B"/>
                </a:solidFill>
                <a:latin typeface="Arial" pitchFamily="34" charset="0"/>
                <a:ea typeface="Arial" pitchFamily="34" charset="-122"/>
                <a:cs typeface="Arial" pitchFamily="34" charset="-120"/>
              </a:rPr>
              <a:t>This is the most important idea to understand first.</a:t>
            </a:r>
            <a:endParaRPr lang="en-US" sz="1500" dirty="0"/>
          </a:p>
        </p:txBody>
      </p:sp>
      <p:sp>
        <p:nvSpPr>
          <p:cNvPr id="5" name="Shape 3"/>
          <p:cNvSpPr/>
          <p:nvPr/>
        </p:nvSpPr>
        <p:spPr>
          <a:xfrm>
            <a:off x="457200" y="1737360"/>
            <a:ext cx="5394960" cy="4572000"/>
          </a:xfrm>
          <a:prstGeom prst="roundRect">
            <a:avLst>
              <a:gd name="adj" fmla="val 2400"/>
            </a:avLst>
          </a:prstGeom>
          <a:solidFill>
            <a:srgbClr val="FEE2E2"/>
          </a:solidFill>
          <a:ln/>
        </p:spPr>
      </p:sp>
      <p:sp>
        <p:nvSpPr>
          <p:cNvPr id="6" name="Text 4"/>
          <p:cNvSpPr/>
          <p:nvPr/>
        </p:nvSpPr>
        <p:spPr>
          <a:xfrm>
            <a:off x="731520" y="2011680"/>
            <a:ext cx="4846320" cy="411480"/>
          </a:xfrm>
          <a:prstGeom prst="rect">
            <a:avLst/>
          </a:prstGeom>
          <a:noFill/>
          <a:ln/>
        </p:spPr>
        <p:txBody>
          <a:bodyPr wrap="square" lIns="0" tIns="0" rIns="0" bIns="0" rtlCol="0" anchor="ctr"/>
          <a:lstStyle/>
          <a:p>
            <a:pPr indent="0" marL="0">
              <a:buNone/>
            </a:pPr>
            <a:r>
              <a:rPr lang="en-US" sz="1800" b="1" dirty="0">
                <a:solidFill>
                  <a:srgbClr val="DC2626"/>
                </a:solidFill>
                <a:latin typeface="Arial" pitchFamily="34" charset="0"/>
                <a:ea typeface="Arial" pitchFamily="34" charset="-122"/>
                <a:cs typeface="Arial" pitchFamily="34" charset="-120"/>
              </a:rPr>
              <a:t>Search Engine (Google)</a:t>
            </a:r>
            <a:endParaRPr lang="en-US" sz="1800" dirty="0"/>
          </a:p>
        </p:txBody>
      </p:sp>
      <p:sp>
        <p:nvSpPr>
          <p:cNvPr id="7" name="Text 5"/>
          <p:cNvSpPr/>
          <p:nvPr/>
        </p:nvSpPr>
        <p:spPr>
          <a:xfrm>
            <a:off x="731520" y="2651760"/>
            <a:ext cx="4846320" cy="3200400"/>
          </a:xfrm>
          <a:prstGeom prst="rect">
            <a:avLst/>
          </a:prstGeom>
          <a:noFill/>
          <a:ln/>
        </p:spPr>
        <p:txBody>
          <a:bodyPr wrap="square" lIns="0" tIns="0" rIns="0" bIns="0" rtlCol="0" anchor="ctr"/>
          <a:lstStyle/>
          <a:p>
            <a:pPr indent="0" marL="0">
              <a:buNone/>
            </a:pPr>
            <a:r>
              <a:rPr lang="en-US" sz="1500" dirty="0">
                <a:solidFill>
                  <a:srgbClr val="1E293B"/>
                </a:solidFill>
                <a:latin typeface="Arial" pitchFamily="34" charset="0"/>
                <a:ea typeface="Arial" pitchFamily="34" charset="-122"/>
                <a:cs typeface="Arial" pitchFamily="34" charset="-120"/>
              </a:rPr>
              <a:t>• Goes to the internet every time</a:t>
            </a:r>
            <a:endParaRPr lang="en-US" sz="1500" dirty="0"/>
          </a:p>
          <a:p>
            <a:pPr indent="0" marL="0">
              <a:buNone/>
            </a:pPr>
            <a:r>
              <a:rPr lang="en-US" sz="1500" dirty="0">
                <a:solidFill>
                  <a:srgbClr val="1E293B"/>
                </a:solidFill>
                <a:latin typeface="Arial" pitchFamily="34" charset="0"/>
                <a:ea typeface="Arial" pitchFamily="34" charset="-122"/>
                <a:cs typeface="Arial" pitchFamily="34" charset="-120"/>
              </a:rPr>
              <a:t>• Finds existing web pages</a:t>
            </a:r>
            <a:endParaRPr lang="en-US" sz="1500" dirty="0"/>
          </a:p>
          <a:p>
            <a:pPr indent="0" marL="0">
              <a:buNone/>
            </a:pPr>
            <a:r>
              <a:rPr lang="en-US" sz="1500" dirty="0">
                <a:solidFill>
                  <a:srgbClr val="1E293B"/>
                </a:solidFill>
                <a:latin typeface="Arial" pitchFamily="34" charset="0"/>
                <a:ea typeface="Arial" pitchFamily="34" charset="-122"/>
                <a:cs typeface="Arial" pitchFamily="34" charset="-120"/>
              </a:rPr>
              <a:t>• Shows you links</a:t>
            </a:r>
            <a:endParaRPr lang="en-US" sz="1500" dirty="0"/>
          </a:p>
          <a:p>
            <a:pPr indent="0" marL="0">
              <a:buNone/>
            </a:pPr>
            <a:r>
              <a:rPr lang="en-US" sz="1500" dirty="0">
                <a:solidFill>
                  <a:srgbClr val="1E293B"/>
                </a:solidFill>
                <a:latin typeface="Arial" pitchFamily="34" charset="0"/>
                <a:ea typeface="Arial" pitchFamily="34" charset="-122"/>
                <a:cs typeface="Arial" pitchFamily="34" charset="-120"/>
              </a:rPr>
              <a:t>• Does not really “understand”</a:t>
            </a:r>
            <a:endParaRPr lang="en-US" sz="1500" dirty="0"/>
          </a:p>
          <a:p>
            <a:pPr indent="0" marL="0">
              <a:buNone/>
            </a:pPr>
            <a:r>
              <a:rPr lang="en-US" sz="1500" dirty="0">
                <a:solidFill>
                  <a:srgbClr val="1E293B"/>
                </a:solidFill>
                <a:latin typeface="Arial" pitchFamily="34" charset="0"/>
                <a:ea typeface="Arial" pitchFamily="34" charset="-122"/>
                <a:cs typeface="Arial" pitchFamily="34" charset="-120"/>
              </a:rPr>
              <a:t>• Just finds and ranks pages</a:t>
            </a:r>
            <a:endParaRPr lang="en-US" sz="1500" dirty="0"/>
          </a:p>
          <a:p>
            <a:pPr indent="0" marL="0">
              <a:buNone/>
            </a:pPr>
            <a:endParaRPr lang="en-US" sz="1500" dirty="0"/>
          </a:p>
          <a:p>
            <a:pPr indent="0" marL="0">
              <a:buNone/>
            </a:pPr>
            <a:r>
              <a:rPr lang="en-US" sz="1500" dirty="0">
                <a:solidFill>
                  <a:srgbClr val="1E293B"/>
                </a:solidFill>
                <a:latin typeface="Arial" pitchFamily="34" charset="0"/>
                <a:ea typeface="Arial" pitchFamily="34" charset="-122"/>
                <a:cs typeface="Arial" pitchFamily="34" charset="-120"/>
              </a:rPr>
              <a:t>Example: Google, Bing</a:t>
            </a:r>
            <a:endParaRPr lang="en-US" sz="1500" dirty="0"/>
          </a:p>
        </p:txBody>
      </p:sp>
      <p:sp>
        <p:nvSpPr>
          <p:cNvPr id="8" name="Shape 6"/>
          <p:cNvSpPr/>
          <p:nvPr/>
        </p:nvSpPr>
        <p:spPr>
          <a:xfrm>
            <a:off x="6309360" y="1737360"/>
            <a:ext cx="5394960" cy="4572000"/>
          </a:xfrm>
          <a:prstGeom prst="roundRect">
            <a:avLst>
              <a:gd name="adj" fmla="val 2400"/>
            </a:avLst>
          </a:prstGeom>
          <a:solidFill>
            <a:srgbClr val="D1FAE5"/>
          </a:solidFill>
          <a:ln/>
        </p:spPr>
      </p:sp>
      <p:sp>
        <p:nvSpPr>
          <p:cNvPr id="9" name="Text 7"/>
          <p:cNvSpPr/>
          <p:nvPr/>
        </p:nvSpPr>
        <p:spPr>
          <a:xfrm>
            <a:off x="6583680" y="2011680"/>
            <a:ext cx="4846320" cy="411480"/>
          </a:xfrm>
          <a:prstGeom prst="rect">
            <a:avLst/>
          </a:prstGeom>
          <a:noFill/>
          <a:ln/>
        </p:spPr>
        <p:txBody>
          <a:bodyPr wrap="square" lIns="0" tIns="0" rIns="0" bIns="0" rtlCol="0" anchor="ctr"/>
          <a:lstStyle/>
          <a:p>
            <a:pPr indent="0" marL="0">
              <a:buNone/>
            </a:pPr>
            <a:r>
              <a:rPr lang="en-US" sz="1800" b="1" dirty="0">
                <a:solidFill>
                  <a:srgbClr val="059669"/>
                </a:solidFill>
                <a:latin typeface="Arial" pitchFamily="34" charset="0"/>
                <a:ea typeface="Arial" pitchFamily="34" charset="-122"/>
                <a:cs typeface="Arial" pitchFamily="34" charset="-120"/>
              </a:rPr>
              <a:t>Large Language Model</a:t>
            </a:r>
            <a:endParaRPr lang="en-US" sz="1800" dirty="0"/>
          </a:p>
        </p:txBody>
      </p:sp>
      <p:sp>
        <p:nvSpPr>
          <p:cNvPr id="10" name="Text 8"/>
          <p:cNvSpPr/>
          <p:nvPr/>
        </p:nvSpPr>
        <p:spPr>
          <a:xfrm>
            <a:off x="6583680" y="2651760"/>
            <a:ext cx="4846320" cy="3200400"/>
          </a:xfrm>
          <a:prstGeom prst="rect">
            <a:avLst/>
          </a:prstGeom>
          <a:noFill/>
          <a:ln/>
        </p:spPr>
        <p:txBody>
          <a:bodyPr wrap="square" lIns="0" tIns="0" rIns="0" bIns="0" rtlCol="0" anchor="ctr"/>
          <a:lstStyle/>
          <a:p>
            <a:pPr indent="0" marL="0">
              <a:buNone/>
            </a:pPr>
            <a:r>
              <a:rPr lang="en-US" sz="1500" dirty="0">
                <a:solidFill>
                  <a:srgbClr val="1E293B"/>
                </a:solidFill>
                <a:latin typeface="Arial" pitchFamily="34" charset="0"/>
                <a:ea typeface="Arial" pitchFamily="34" charset="-122"/>
                <a:cs typeface="Arial" pitchFamily="34" charset="-120"/>
              </a:rPr>
              <a:t>• Learned patterns from lots of text</a:t>
            </a:r>
            <a:endParaRPr lang="en-US" sz="1500" dirty="0"/>
          </a:p>
          <a:p>
            <a:pPr indent="0" marL="0">
              <a:buNone/>
            </a:pPr>
            <a:r>
              <a:rPr lang="en-US" sz="1500" dirty="0">
                <a:solidFill>
                  <a:srgbClr val="1E293B"/>
                </a:solidFill>
                <a:latin typeface="Arial" pitchFamily="34" charset="0"/>
                <a:ea typeface="Arial" pitchFamily="34" charset="-122"/>
                <a:cs typeface="Arial" pitchFamily="34" charset="-120"/>
              </a:rPr>
              <a:t>• Creates new answers</a:t>
            </a:r>
            <a:endParaRPr lang="en-US" sz="1500" dirty="0"/>
          </a:p>
          <a:p>
            <a:pPr indent="0" marL="0">
              <a:buNone/>
            </a:pPr>
            <a:r>
              <a:rPr lang="en-US" sz="1500" dirty="0">
                <a:solidFill>
                  <a:srgbClr val="1E293B"/>
                </a:solidFill>
                <a:latin typeface="Arial" pitchFamily="34" charset="0"/>
                <a:ea typeface="Arial" pitchFamily="34" charset="-122"/>
                <a:cs typeface="Arial" pitchFamily="34" charset="-120"/>
              </a:rPr>
              <a:t>• Can explain, rewrite, summarize</a:t>
            </a:r>
            <a:endParaRPr lang="en-US" sz="1500" dirty="0"/>
          </a:p>
          <a:p>
            <a:pPr indent="0" marL="0">
              <a:buNone/>
            </a:pPr>
            <a:r>
              <a:rPr lang="en-US" sz="1500" dirty="0">
                <a:solidFill>
                  <a:srgbClr val="1E293B"/>
                </a:solidFill>
                <a:latin typeface="Arial" pitchFamily="34" charset="0"/>
                <a:ea typeface="Arial" pitchFamily="34" charset="-122"/>
                <a:cs typeface="Arial" pitchFamily="34" charset="-120"/>
              </a:rPr>
              <a:t>• Does not search by default</a:t>
            </a:r>
            <a:endParaRPr lang="en-US" sz="1500" dirty="0"/>
          </a:p>
          <a:p>
            <a:pPr indent="0" marL="0">
              <a:buNone/>
            </a:pPr>
            <a:r>
              <a:rPr lang="en-US" sz="1500" dirty="0">
                <a:solidFill>
                  <a:srgbClr val="1E293B"/>
                </a:solidFill>
                <a:latin typeface="Arial" pitchFamily="34" charset="0"/>
                <a:ea typeface="Arial" pitchFamily="34" charset="-122"/>
                <a:cs typeface="Arial" pitchFamily="34" charset="-120"/>
              </a:rPr>
              <a:t>• Can still be wrong or outdated</a:t>
            </a:r>
            <a:endParaRPr lang="en-US" sz="1500" dirty="0"/>
          </a:p>
          <a:p>
            <a:pPr indent="0" marL="0">
              <a:buNone/>
            </a:pPr>
            <a:endParaRPr lang="en-US" sz="1500" dirty="0"/>
          </a:p>
          <a:p>
            <a:pPr indent="0" marL="0">
              <a:buNone/>
            </a:pPr>
            <a:r>
              <a:rPr lang="en-US" sz="1500" dirty="0">
                <a:solidFill>
                  <a:srgbClr val="1E293B"/>
                </a:solidFill>
                <a:latin typeface="Arial" pitchFamily="34" charset="0"/>
                <a:ea typeface="Arial" pitchFamily="34" charset="-122"/>
                <a:cs typeface="Arial" pitchFamily="34" charset="-120"/>
              </a:rPr>
              <a:t>Example: ChatGPT, Claude, Gemini</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indent="0" marL="0">
              <a:buNone/>
            </a:pPr>
            <a:r>
              <a:rPr lang="en-US" sz="2600" b="1" dirty="0">
                <a:solidFill>
                  <a:srgbClr val="0F172A"/>
                </a:solidFill>
                <a:latin typeface="Arial" pitchFamily="34" charset="0"/>
                <a:ea typeface="Arial" pitchFamily="34" charset="-122"/>
                <a:cs typeface="Arial" pitchFamily="34" charset="-120"/>
              </a:rPr>
              <a:t>3. How Does an LLM Learn?</a:t>
            </a:r>
            <a:endParaRPr lang="en-US" sz="2600" dirty="0"/>
          </a:p>
        </p:txBody>
      </p:sp>
      <p:sp>
        <p:nvSpPr>
          <p:cNvPr id="3" name="Shape 1"/>
          <p:cNvSpPr/>
          <p:nvPr/>
        </p:nvSpPr>
        <p:spPr>
          <a:xfrm>
            <a:off x="457200" y="868680"/>
            <a:ext cx="1463040" cy="64008"/>
          </a:xfrm>
          <a:prstGeom prst="rect">
            <a:avLst/>
          </a:prstGeom>
          <a:solidFill>
            <a:srgbClr val="2563EB"/>
          </a:solidFill>
          <a:ln/>
        </p:spPr>
      </p:sp>
      <p:sp>
        <p:nvSpPr>
          <p:cNvPr id="4" name="Text 2"/>
          <p:cNvSpPr/>
          <p:nvPr/>
        </p:nvSpPr>
        <p:spPr>
          <a:xfrm>
            <a:off x="457200" y="1143000"/>
            <a:ext cx="10972800" cy="365760"/>
          </a:xfrm>
          <a:prstGeom prst="rect">
            <a:avLst/>
          </a:prstGeom>
          <a:noFill/>
          <a:ln/>
        </p:spPr>
        <p:txBody>
          <a:bodyPr wrap="square" lIns="0" tIns="0" rIns="0" bIns="0" rtlCol="0" anchor="ctr"/>
          <a:lstStyle/>
          <a:p>
            <a:pPr indent="0" marL="0">
              <a:buNone/>
            </a:pPr>
            <a:r>
              <a:rPr lang="en-US" sz="1600" dirty="0">
                <a:solidFill>
                  <a:srgbClr val="64748B"/>
                </a:solidFill>
                <a:latin typeface="Arial" pitchFamily="34" charset="0"/>
                <a:ea typeface="Arial" pitchFamily="34" charset="-122"/>
                <a:cs typeface="Arial" pitchFamily="34" charset="-120"/>
              </a:rPr>
              <a:t>There are only two big steps:</a:t>
            </a:r>
            <a:endParaRPr lang="en-US" sz="1600" dirty="0"/>
          </a:p>
        </p:txBody>
      </p:sp>
      <p:sp>
        <p:nvSpPr>
          <p:cNvPr id="5" name="Shape 3"/>
          <p:cNvSpPr/>
          <p:nvPr/>
        </p:nvSpPr>
        <p:spPr>
          <a:xfrm>
            <a:off x="457200" y="1737360"/>
            <a:ext cx="5486400" cy="4572000"/>
          </a:xfrm>
          <a:prstGeom prst="roundRect">
            <a:avLst>
              <a:gd name="adj" fmla="val 2400"/>
            </a:avLst>
          </a:prstGeom>
          <a:solidFill>
            <a:srgbClr val="DBEAFE"/>
          </a:solidFill>
          <a:ln/>
        </p:spPr>
      </p:sp>
      <p:sp>
        <p:nvSpPr>
          <p:cNvPr id="6" name="Text 4"/>
          <p:cNvSpPr/>
          <p:nvPr/>
        </p:nvSpPr>
        <p:spPr>
          <a:xfrm>
            <a:off x="731520" y="1965960"/>
            <a:ext cx="4937760" cy="365760"/>
          </a:xfrm>
          <a:prstGeom prst="rect">
            <a:avLst/>
          </a:prstGeom>
          <a:noFill/>
          <a:ln/>
        </p:spPr>
        <p:txBody>
          <a:bodyPr wrap="square" lIns="0" tIns="0" rIns="0" bIns="0" rtlCol="0" anchor="ctr"/>
          <a:lstStyle/>
          <a:p>
            <a:pPr indent="0" marL="0">
              <a:buNone/>
            </a:pPr>
            <a:r>
              <a:rPr lang="en-US" sz="2000" b="1" dirty="0">
                <a:solidFill>
                  <a:srgbClr val="2563EB"/>
                </a:solidFill>
                <a:latin typeface="Arial" pitchFamily="34" charset="0"/>
                <a:ea typeface="Arial" pitchFamily="34" charset="-122"/>
                <a:cs typeface="Arial" pitchFamily="34" charset="-120"/>
              </a:rPr>
              <a:t>1. TRAINING</a:t>
            </a:r>
            <a:endParaRPr lang="en-US" sz="2000" dirty="0"/>
          </a:p>
        </p:txBody>
      </p:sp>
      <p:sp>
        <p:nvSpPr>
          <p:cNvPr id="7" name="Text 5"/>
          <p:cNvSpPr/>
          <p:nvPr/>
        </p:nvSpPr>
        <p:spPr>
          <a:xfrm>
            <a:off x="731520" y="2560320"/>
            <a:ext cx="4937760" cy="3291840"/>
          </a:xfrm>
          <a:prstGeom prst="rect">
            <a:avLst/>
          </a:prstGeom>
          <a:noFill/>
          <a:ln/>
        </p:spPr>
        <p:txBody>
          <a:bodyPr wrap="square" lIns="0" tIns="0" rIns="0" bIns="0" rtlCol="0" anchor="ctr"/>
          <a:lstStyle/>
          <a:p>
            <a:pPr indent="0" marL="0">
              <a:buNone/>
            </a:pPr>
            <a:r>
              <a:rPr lang="en-US" sz="1500" dirty="0">
                <a:solidFill>
                  <a:srgbClr val="1E293B"/>
                </a:solidFill>
                <a:latin typeface="Arial" pitchFamily="34" charset="0"/>
                <a:ea typeface="Arial" pitchFamily="34" charset="-122"/>
                <a:cs typeface="Arial" pitchFamily="34" charset="-120"/>
              </a:rPr>
              <a:t>Done by companies like OpenAI, Google, etc.</a:t>
            </a:r>
            <a:endParaRPr lang="en-US" sz="1500" dirty="0"/>
          </a:p>
          <a:p>
            <a:pPr indent="0" marL="0">
              <a:buNone/>
            </a:pPr>
            <a:endParaRPr lang="en-US" sz="1500" dirty="0"/>
          </a:p>
          <a:p>
            <a:pPr indent="0" marL="0">
              <a:buNone/>
            </a:pPr>
            <a:r>
              <a:rPr lang="en-US" sz="1500" dirty="0">
                <a:solidFill>
                  <a:srgbClr val="1E293B"/>
                </a:solidFill>
                <a:latin typeface="Arial" pitchFamily="34" charset="0"/>
                <a:ea typeface="Arial" pitchFamily="34" charset="-122"/>
                <a:cs typeface="Arial" pitchFamily="34" charset="-120"/>
              </a:rPr>
              <a:t>They give the model huge amounts of text.</a:t>
            </a:r>
            <a:endParaRPr lang="en-US" sz="1500" dirty="0"/>
          </a:p>
          <a:p>
            <a:pPr indent="0" marL="0">
              <a:buNone/>
            </a:pPr>
            <a:r>
              <a:rPr lang="en-US" sz="1500" dirty="0">
                <a:solidFill>
                  <a:srgbClr val="1E293B"/>
                </a:solidFill>
                <a:latin typeface="Arial" pitchFamily="34" charset="0"/>
                <a:ea typeface="Arial" pitchFamily="34" charset="-122"/>
                <a:cs typeface="Arial" pitchFamily="34" charset="-120"/>
              </a:rPr>
              <a:t>The model reads and learns patterns.</a:t>
            </a:r>
            <a:endParaRPr lang="en-US" sz="1500" dirty="0"/>
          </a:p>
          <a:p>
            <a:pPr indent="0" marL="0">
              <a:buNone/>
            </a:pPr>
            <a:endParaRPr lang="en-US" sz="1500" dirty="0"/>
          </a:p>
          <a:p>
            <a:pPr indent="0" marL="0">
              <a:buNone/>
            </a:pPr>
            <a:r>
              <a:rPr lang="en-US" sz="1500" dirty="0">
                <a:solidFill>
                  <a:srgbClr val="1E293B"/>
                </a:solidFill>
                <a:latin typeface="Arial" pitchFamily="34" charset="0"/>
                <a:ea typeface="Arial" pitchFamily="34" charset="-122"/>
                <a:cs typeface="Arial" pitchFamily="34" charset="-120"/>
              </a:rPr>
              <a:t>This takes weeks and costs a lot of money.</a:t>
            </a:r>
            <a:endParaRPr lang="en-US" sz="1500" dirty="0"/>
          </a:p>
          <a:p>
            <a:pPr indent="0" marL="0">
              <a:buNone/>
            </a:pPr>
            <a:endParaRPr lang="en-US" sz="1500" dirty="0"/>
          </a:p>
          <a:p>
            <a:pPr indent="0" marL="0">
              <a:buNone/>
            </a:pPr>
            <a:r>
              <a:rPr lang="en-US" sz="1500" dirty="0">
                <a:solidFill>
                  <a:srgbClr val="1E293B"/>
                </a:solidFill>
                <a:latin typeface="Arial" pitchFamily="34" charset="0"/>
                <a:ea typeface="Arial" pitchFamily="34" charset="-122"/>
                <a:cs typeface="Arial" pitchFamily="34" charset="-120"/>
              </a:rPr>
              <a:t>After training → we get a ready model.</a:t>
            </a:r>
            <a:endParaRPr lang="en-US" sz="1500" dirty="0"/>
          </a:p>
        </p:txBody>
      </p:sp>
      <p:sp>
        <p:nvSpPr>
          <p:cNvPr id="8" name="Shape 6"/>
          <p:cNvSpPr/>
          <p:nvPr/>
        </p:nvSpPr>
        <p:spPr>
          <a:xfrm>
            <a:off x="6217920" y="1737360"/>
            <a:ext cx="5486400" cy="4572000"/>
          </a:xfrm>
          <a:prstGeom prst="roundRect">
            <a:avLst>
              <a:gd name="adj" fmla="val 2400"/>
            </a:avLst>
          </a:prstGeom>
          <a:solidFill>
            <a:srgbClr val="CCFBF1"/>
          </a:solidFill>
          <a:ln/>
        </p:spPr>
      </p:sp>
      <p:sp>
        <p:nvSpPr>
          <p:cNvPr id="9" name="Text 7"/>
          <p:cNvSpPr/>
          <p:nvPr/>
        </p:nvSpPr>
        <p:spPr>
          <a:xfrm>
            <a:off x="6492240" y="1965960"/>
            <a:ext cx="4937760" cy="365760"/>
          </a:xfrm>
          <a:prstGeom prst="rect">
            <a:avLst/>
          </a:prstGeom>
          <a:noFill/>
          <a:ln/>
        </p:spPr>
        <p:txBody>
          <a:bodyPr wrap="square" lIns="0" tIns="0" rIns="0" bIns="0" rtlCol="0" anchor="ctr"/>
          <a:lstStyle/>
          <a:p>
            <a:pPr indent="0" marL="0">
              <a:buNone/>
            </a:pPr>
            <a:r>
              <a:rPr lang="en-US" sz="2000" b="1" dirty="0">
                <a:solidFill>
                  <a:srgbClr val="0D9488"/>
                </a:solidFill>
                <a:latin typeface="Arial" pitchFamily="34" charset="0"/>
                <a:ea typeface="Arial" pitchFamily="34" charset="-122"/>
                <a:cs typeface="Arial" pitchFamily="34" charset="-120"/>
              </a:rPr>
              <a:t>2. INFERENCE</a:t>
            </a:r>
            <a:endParaRPr lang="en-US" sz="2000" dirty="0"/>
          </a:p>
        </p:txBody>
      </p:sp>
      <p:sp>
        <p:nvSpPr>
          <p:cNvPr id="10" name="Text 8"/>
          <p:cNvSpPr/>
          <p:nvPr/>
        </p:nvSpPr>
        <p:spPr>
          <a:xfrm>
            <a:off x="6492240" y="2560320"/>
            <a:ext cx="4937760" cy="3291840"/>
          </a:xfrm>
          <a:prstGeom prst="rect">
            <a:avLst/>
          </a:prstGeom>
          <a:noFill/>
          <a:ln/>
        </p:spPr>
        <p:txBody>
          <a:bodyPr wrap="square" lIns="0" tIns="0" rIns="0" bIns="0" rtlCol="0" anchor="ctr"/>
          <a:lstStyle/>
          <a:p>
            <a:pPr indent="0" marL="0">
              <a:buNone/>
            </a:pPr>
            <a:r>
              <a:rPr lang="en-US" sz="1500" dirty="0">
                <a:solidFill>
                  <a:srgbClr val="1E293B"/>
                </a:solidFill>
                <a:latin typeface="Arial" pitchFamily="34" charset="0"/>
                <a:ea typeface="Arial" pitchFamily="34" charset="-122"/>
                <a:cs typeface="Arial" pitchFamily="34" charset="-120"/>
              </a:rPr>
              <a:t>This is what happens when YOU use it.</a:t>
            </a:r>
            <a:endParaRPr lang="en-US" sz="1500" dirty="0"/>
          </a:p>
          <a:p>
            <a:pPr indent="0" marL="0">
              <a:buNone/>
            </a:pPr>
            <a:endParaRPr lang="en-US" sz="1500" dirty="0"/>
          </a:p>
          <a:p>
            <a:pPr indent="0" marL="0">
              <a:buNone/>
            </a:pPr>
            <a:r>
              <a:rPr lang="en-US" sz="1500" dirty="0">
                <a:solidFill>
                  <a:srgbClr val="1E293B"/>
                </a:solidFill>
                <a:latin typeface="Arial" pitchFamily="34" charset="0"/>
                <a:ea typeface="Arial" pitchFamily="34" charset="-122"/>
                <a:cs typeface="Arial" pitchFamily="34" charset="-120"/>
              </a:rPr>
              <a:t>You type a question (prompt).</a:t>
            </a:r>
            <a:endParaRPr lang="en-US" sz="1500" dirty="0"/>
          </a:p>
          <a:p>
            <a:pPr indent="0" marL="0">
              <a:buNone/>
            </a:pPr>
            <a:r>
              <a:rPr lang="en-US" sz="1500" dirty="0">
                <a:solidFill>
                  <a:srgbClr val="1E293B"/>
                </a:solidFill>
                <a:latin typeface="Arial" pitchFamily="34" charset="0"/>
                <a:ea typeface="Arial" pitchFamily="34" charset="-122"/>
                <a:cs typeface="Arial" pitchFamily="34" charset="-120"/>
              </a:rPr>
              <a:t>The trained model creates an answer.</a:t>
            </a:r>
            <a:endParaRPr lang="en-US" sz="1500" dirty="0"/>
          </a:p>
          <a:p>
            <a:pPr indent="0" marL="0">
              <a:buNone/>
            </a:pPr>
            <a:endParaRPr lang="en-US" sz="1500" dirty="0"/>
          </a:p>
          <a:p>
            <a:pPr indent="0" marL="0">
              <a:buNone/>
            </a:pPr>
            <a:r>
              <a:rPr lang="en-US" sz="1500" dirty="0">
                <a:solidFill>
                  <a:srgbClr val="1E293B"/>
                </a:solidFill>
                <a:latin typeface="Arial" pitchFamily="34" charset="0"/>
                <a:ea typeface="Arial" pitchFamily="34" charset="-122"/>
                <a:cs typeface="Arial" pitchFamily="34" charset="-120"/>
              </a:rPr>
              <a:t>This is fast.</a:t>
            </a:r>
            <a:endParaRPr lang="en-US" sz="1500" dirty="0"/>
          </a:p>
          <a:p>
            <a:pPr indent="0" marL="0">
              <a:buNone/>
            </a:pPr>
            <a:r>
              <a:rPr lang="en-US" sz="1500" dirty="0">
                <a:solidFill>
                  <a:srgbClr val="1E293B"/>
                </a:solidFill>
                <a:latin typeface="Arial" pitchFamily="34" charset="0"/>
                <a:ea typeface="Arial" pitchFamily="34" charset="-122"/>
                <a:cs typeface="Arial" pitchFamily="34" charset="-120"/>
              </a:rPr>
              <a:t>This is what ChatGPT does every time you chat.</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indent="0" marL="0">
              <a:buNone/>
            </a:pPr>
            <a:r>
              <a:rPr lang="en-US" sz="2600" b="1" dirty="0">
                <a:solidFill>
                  <a:srgbClr val="0F172A"/>
                </a:solidFill>
                <a:latin typeface="Arial" pitchFamily="34" charset="0"/>
                <a:ea typeface="Arial" pitchFamily="34" charset="-122"/>
                <a:cs typeface="Arial" pitchFamily="34" charset="-120"/>
              </a:rPr>
              <a:t>Training vs Inference — Picture</a:t>
            </a:r>
            <a:endParaRPr lang="en-US" sz="2600" dirty="0"/>
          </a:p>
        </p:txBody>
      </p:sp>
      <p:sp>
        <p:nvSpPr>
          <p:cNvPr id="3" name="Shape 1"/>
          <p:cNvSpPr/>
          <p:nvPr/>
        </p:nvSpPr>
        <p:spPr>
          <a:xfrm>
            <a:off x="457200" y="868680"/>
            <a:ext cx="1463040" cy="64008"/>
          </a:xfrm>
          <a:prstGeom prst="rect">
            <a:avLst/>
          </a:prstGeom>
          <a:solidFill>
            <a:srgbClr val="2563EB"/>
          </a:solidFill>
          <a:ln/>
        </p:spPr>
      </p:sp>
      <p:sp>
        <p:nvSpPr>
          <p:cNvPr id="4" name="Text 2"/>
          <p:cNvSpPr/>
          <p:nvPr/>
        </p:nvSpPr>
        <p:spPr>
          <a:xfrm>
            <a:off x="457200" y="1188720"/>
            <a:ext cx="10972800" cy="365760"/>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Training (done once by the company)</a:t>
            </a:r>
            <a:endParaRPr lang="en-US" sz="1600" dirty="0"/>
          </a:p>
        </p:txBody>
      </p:sp>
      <p:sp>
        <p:nvSpPr>
          <p:cNvPr id="5" name="Shape 3"/>
          <p:cNvSpPr/>
          <p:nvPr/>
        </p:nvSpPr>
        <p:spPr>
          <a:xfrm>
            <a:off x="914400" y="1691640"/>
            <a:ext cx="3200400" cy="1097280"/>
          </a:xfrm>
          <a:prstGeom prst="roundRect">
            <a:avLst>
              <a:gd name="adj" fmla="val 10000"/>
            </a:avLst>
          </a:prstGeom>
          <a:solidFill>
            <a:srgbClr val="2563EB"/>
          </a:solidFill>
          <a:ln/>
        </p:spPr>
      </p:sp>
      <p:sp>
        <p:nvSpPr>
          <p:cNvPr id="6" name="Text 4"/>
          <p:cNvSpPr/>
          <p:nvPr/>
        </p:nvSpPr>
        <p:spPr>
          <a:xfrm>
            <a:off x="914400" y="2011680"/>
            <a:ext cx="32004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Huge text data</a:t>
            </a:r>
            <a:endParaRPr lang="en-US" sz="1600" dirty="0"/>
          </a:p>
        </p:txBody>
      </p:sp>
      <p:sp>
        <p:nvSpPr>
          <p:cNvPr id="7" name="Text 5"/>
          <p:cNvSpPr/>
          <p:nvPr/>
        </p:nvSpPr>
        <p:spPr>
          <a:xfrm>
            <a:off x="3931920" y="1965960"/>
            <a:ext cx="640080" cy="457200"/>
          </a:xfrm>
          <a:prstGeom prst="rect">
            <a:avLst/>
          </a:prstGeom>
          <a:noFill/>
          <a:ln/>
        </p:spPr>
        <p:txBody>
          <a:bodyPr wrap="square" lIns="0" tIns="0" rIns="0" bIns="0" rtlCol="0" anchor="ctr"/>
          <a:lstStyle/>
          <a:p>
            <a:pPr indent="0" marL="0">
              <a:buNone/>
            </a:pPr>
            <a:r>
              <a:rPr lang="en-US" sz="2400" dirty="0">
                <a:solidFill>
                  <a:srgbClr val="64748B"/>
                </a:solidFill>
                <a:latin typeface="Arial" pitchFamily="34" charset="0"/>
                <a:ea typeface="Arial" pitchFamily="34" charset="-122"/>
                <a:cs typeface="Arial" pitchFamily="34" charset="-120"/>
              </a:rPr>
              <a:t>→</a:t>
            </a:r>
            <a:endParaRPr lang="en-US" sz="2400" dirty="0"/>
          </a:p>
        </p:txBody>
      </p:sp>
      <p:sp>
        <p:nvSpPr>
          <p:cNvPr id="8" name="Shape 6"/>
          <p:cNvSpPr/>
          <p:nvPr/>
        </p:nvSpPr>
        <p:spPr>
          <a:xfrm>
            <a:off x="4572000" y="1691640"/>
            <a:ext cx="3200400" cy="1097280"/>
          </a:xfrm>
          <a:prstGeom prst="roundRect">
            <a:avLst>
              <a:gd name="adj" fmla="val 10000"/>
            </a:avLst>
          </a:prstGeom>
          <a:solidFill>
            <a:srgbClr val="2563EB"/>
          </a:solidFill>
          <a:ln/>
        </p:spPr>
      </p:sp>
      <p:sp>
        <p:nvSpPr>
          <p:cNvPr id="9" name="Text 7"/>
          <p:cNvSpPr/>
          <p:nvPr/>
        </p:nvSpPr>
        <p:spPr>
          <a:xfrm>
            <a:off x="4572000" y="2011680"/>
            <a:ext cx="32004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Train the model</a:t>
            </a:r>
            <a:endParaRPr lang="en-US" sz="1600" dirty="0"/>
          </a:p>
        </p:txBody>
      </p:sp>
      <p:sp>
        <p:nvSpPr>
          <p:cNvPr id="10" name="Text 8"/>
          <p:cNvSpPr/>
          <p:nvPr/>
        </p:nvSpPr>
        <p:spPr>
          <a:xfrm>
            <a:off x="7589520" y="1965960"/>
            <a:ext cx="640080" cy="457200"/>
          </a:xfrm>
          <a:prstGeom prst="rect">
            <a:avLst/>
          </a:prstGeom>
          <a:noFill/>
          <a:ln/>
        </p:spPr>
        <p:txBody>
          <a:bodyPr wrap="square" lIns="0" tIns="0" rIns="0" bIns="0" rtlCol="0" anchor="ctr"/>
          <a:lstStyle/>
          <a:p>
            <a:pPr indent="0" marL="0">
              <a:buNone/>
            </a:pPr>
            <a:r>
              <a:rPr lang="en-US" sz="2400" dirty="0">
                <a:solidFill>
                  <a:srgbClr val="64748B"/>
                </a:solidFill>
                <a:latin typeface="Arial" pitchFamily="34" charset="0"/>
                <a:ea typeface="Arial" pitchFamily="34" charset="-122"/>
                <a:cs typeface="Arial" pitchFamily="34" charset="-120"/>
              </a:rPr>
              <a:t>→</a:t>
            </a:r>
            <a:endParaRPr lang="en-US" sz="2400" dirty="0"/>
          </a:p>
        </p:txBody>
      </p:sp>
      <p:sp>
        <p:nvSpPr>
          <p:cNvPr id="11" name="Shape 9"/>
          <p:cNvSpPr/>
          <p:nvPr/>
        </p:nvSpPr>
        <p:spPr>
          <a:xfrm>
            <a:off x="8229600" y="1691640"/>
            <a:ext cx="3200400" cy="1097280"/>
          </a:xfrm>
          <a:prstGeom prst="roundRect">
            <a:avLst>
              <a:gd name="adj" fmla="val 10000"/>
            </a:avLst>
          </a:prstGeom>
          <a:solidFill>
            <a:srgbClr val="2563EB"/>
          </a:solidFill>
          <a:ln/>
        </p:spPr>
      </p:sp>
      <p:sp>
        <p:nvSpPr>
          <p:cNvPr id="12" name="Text 10"/>
          <p:cNvSpPr/>
          <p:nvPr/>
        </p:nvSpPr>
        <p:spPr>
          <a:xfrm>
            <a:off x="8229600" y="2011680"/>
            <a:ext cx="32004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Ready LLM</a:t>
            </a:r>
            <a:endParaRPr lang="en-US" sz="1600" dirty="0"/>
          </a:p>
        </p:txBody>
      </p:sp>
      <p:sp>
        <p:nvSpPr>
          <p:cNvPr id="13" name="Text 11"/>
          <p:cNvSpPr/>
          <p:nvPr/>
        </p:nvSpPr>
        <p:spPr>
          <a:xfrm>
            <a:off x="457200" y="3200400"/>
            <a:ext cx="10972800" cy="365760"/>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Inference (what happens when you chat)</a:t>
            </a:r>
            <a:endParaRPr lang="en-US" sz="1600" dirty="0"/>
          </a:p>
        </p:txBody>
      </p:sp>
      <p:sp>
        <p:nvSpPr>
          <p:cNvPr id="14" name="Shape 12"/>
          <p:cNvSpPr/>
          <p:nvPr/>
        </p:nvSpPr>
        <p:spPr>
          <a:xfrm>
            <a:off x="914400" y="3703320"/>
            <a:ext cx="3200400" cy="1097280"/>
          </a:xfrm>
          <a:prstGeom prst="roundRect">
            <a:avLst>
              <a:gd name="adj" fmla="val 10000"/>
            </a:avLst>
          </a:prstGeom>
          <a:solidFill>
            <a:srgbClr val="0D9488"/>
          </a:solidFill>
          <a:ln/>
        </p:spPr>
      </p:sp>
      <p:sp>
        <p:nvSpPr>
          <p:cNvPr id="15" name="Text 13"/>
          <p:cNvSpPr/>
          <p:nvPr/>
        </p:nvSpPr>
        <p:spPr>
          <a:xfrm>
            <a:off x="914400" y="4023360"/>
            <a:ext cx="32004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Your question</a:t>
            </a:r>
            <a:endParaRPr lang="en-US" sz="1600" dirty="0"/>
          </a:p>
        </p:txBody>
      </p:sp>
      <p:sp>
        <p:nvSpPr>
          <p:cNvPr id="16" name="Text 14"/>
          <p:cNvSpPr/>
          <p:nvPr/>
        </p:nvSpPr>
        <p:spPr>
          <a:xfrm>
            <a:off x="3931920" y="3977640"/>
            <a:ext cx="640080" cy="457200"/>
          </a:xfrm>
          <a:prstGeom prst="rect">
            <a:avLst/>
          </a:prstGeom>
          <a:noFill/>
          <a:ln/>
        </p:spPr>
        <p:txBody>
          <a:bodyPr wrap="square" lIns="0" tIns="0" rIns="0" bIns="0" rtlCol="0" anchor="ctr"/>
          <a:lstStyle/>
          <a:p>
            <a:pPr indent="0" marL="0">
              <a:buNone/>
            </a:pPr>
            <a:r>
              <a:rPr lang="en-US" sz="2400" dirty="0">
                <a:solidFill>
                  <a:srgbClr val="64748B"/>
                </a:solidFill>
                <a:latin typeface="Arial" pitchFamily="34" charset="0"/>
                <a:ea typeface="Arial" pitchFamily="34" charset="-122"/>
                <a:cs typeface="Arial" pitchFamily="34" charset="-120"/>
              </a:rPr>
              <a:t>→</a:t>
            </a:r>
            <a:endParaRPr lang="en-US" sz="2400" dirty="0"/>
          </a:p>
        </p:txBody>
      </p:sp>
      <p:sp>
        <p:nvSpPr>
          <p:cNvPr id="17" name="Shape 15"/>
          <p:cNvSpPr/>
          <p:nvPr/>
        </p:nvSpPr>
        <p:spPr>
          <a:xfrm>
            <a:off x="4572000" y="3703320"/>
            <a:ext cx="3200400" cy="1097280"/>
          </a:xfrm>
          <a:prstGeom prst="roundRect">
            <a:avLst>
              <a:gd name="adj" fmla="val 10000"/>
            </a:avLst>
          </a:prstGeom>
          <a:solidFill>
            <a:srgbClr val="0D9488"/>
          </a:solidFill>
          <a:ln/>
        </p:spPr>
      </p:sp>
      <p:sp>
        <p:nvSpPr>
          <p:cNvPr id="18" name="Text 16"/>
          <p:cNvSpPr/>
          <p:nvPr/>
        </p:nvSpPr>
        <p:spPr>
          <a:xfrm>
            <a:off x="4572000" y="4023360"/>
            <a:ext cx="32004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Trained LLM</a:t>
            </a:r>
            <a:endParaRPr lang="en-US" sz="1600" dirty="0"/>
          </a:p>
        </p:txBody>
      </p:sp>
      <p:sp>
        <p:nvSpPr>
          <p:cNvPr id="19" name="Text 17"/>
          <p:cNvSpPr/>
          <p:nvPr/>
        </p:nvSpPr>
        <p:spPr>
          <a:xfrm>
            <a:off x="7589520" y="3977640"/>
            <a:ext cx="640080" cy="457200"/>
          </a:xfrm>
          <a:prstGeom prst="rect">
            <a:avLst/>
          </a:prstGeom>
          <a:noFill/>
          <a:ln/>
        </p:spPr>
        <p:txBody>
          <a:bodyPr wrap="square" lIns="0" tIns="0" rIns="0" bIns="0" rtlCol="0" anchor="ctr"/>
          <a:lstStyle/>
          <a:p>
            <a:pPr indent="0" marL="0">
              <a:buNone/>
            </a:pPr>
            <a:r>
              <a:rPr lang="en-US" sz="2400" dirty="0">
                <a:solidFill>
                  <a:srgbClr val="64748B"/>
                </a:solidFill>
                <a:latin typeface="Arial" pitchFamily="34" charset="0"/>
                <a:ea typeface="Arial" pitchFamily="34" charset="-122"/>
                <a:cs typeface="Arial" pitchFamily="34" charset="-120"/>
              </a:rPr>
              <a:t>→</a:t>
            </a:r>
            <a:endParaRPr lang="en-US" sz="2400" dirty="0"/>
          </a:p>
        </p:txBody>
      </p:sp>
      <p:sp>
        <p:nvSpPr>
          <p:cNvPr id="20" name="Shape 18"/>
          <p:cNvSpPr/>
          <p:nvPr/>
        </p:nvSpPr>
        <p:spPr>
          <a:xfrm>
            <a:off x="8229600" y="3703320"/>
            <a:ext cx="3200400" cy="1097280"/>
          </a:xfrm>
          <a:prstGeom prst="roundRect">
            <a:avLst>
              <a:gd name="adj" fmla="val 10000"/>
            </a:avLst>
          </a:prstGeom>
          <a:solidFill>
            <a:srgbClr val="0D9488"/>
          </a:solidFill>
          <a:ln/>
        </p:spPr>
      </p:sp>
      <p:sp>
        <p:nvSpPr>
          <p:cNvPr id="21" name="Text 19"/>
          <p:cNvSpPr/>
          <p:nvPr/>
        </p:nvSpPr>
        <p:spPr>
          <a:xfrm>
            <a:off x="8229600" y="4023360"/>
            <a:ext cx="32004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Answer</a:t>
            </a:r>
            <a:endParaRPr lang="en-US" sz="1600" dirty="0"/>
          </a:p>
        </p:txBody>
      </p:sp>
      <p:sp>
        <p:nvSpPr>
          <p:cNvPr id="22" name="Shape 20"/>
          <p:cNvSpPr/>
          <p:nvPr/>
        </p:nvSpPr>
        <p:spPr>
          <a:xfrm>
            <a:off x="457200" y="5120640"/>
            <a:ext cx="11247120" cy="1188720"/>
          </a:xfrm>
          <a:prstGeom prst="roundRect">
            <a:avLst>
              <a:gd name="adj" fmla="val 9231"/>
            </a:avLst>
          </a:prstGeom>
          <a:solidFill>
            <a:srgbClr val="FEF3C7"/>
          </a:solidFill>
          <a:ln/>
        </p:spPr>
      </p:sp>
      <p:sp>
        <p:nvSpPr>
          <p:cNvPr id="23" name="Text 21"/>
          <p:cNvSpPr/>
          <p:nvPr/>
        </p:nvSpPr>
        <p:spPr>
          <a:xfrm>
            <a:off x="822960" y="5394960"/>
            <a:ext cx="10515600" cy="731520"/>
          </a:xfrm>
          <a:prstGeom prst="rect">
            <a:avLst/>
          </a:prstGeom>
          <a:noFill/>
          <a:ln/>
        </p:spPr>
        <p:txBody>
          <a:bodyPr wrap="square" lIns="0" tIns="0" rIns="0" bIns="0" rtlCol="0" anchor="ctr"/>
          <a:lstStyle/>
          <a:p>
            <a:pPr indent="0" marL="0">
              <a:buNone/>
            </a:pPr>
            <a:r>
              <a:rPr lang="en-US" sz="1600" dirty="0">
                <a:solidFill>
                  <a:srgbClr val="0F172A"/>
                </a:solidFill>
                <a:latin typeface="Arial" pitchFamily="34" charset="0"/>
                <a:ea typeface="Arial" pitchFamily="34" charset="-122"/>
                <a:cs typeface="Arial" pitchFamily="34" charset="-120"/>
              </a:rPr>
              <a:t>Remember: When you use ChatGPT, you are only doing Inference.</a:t>
            </a:r>
            <a:endParaRPr lang="en-US" sz="1600" dirty="0"/>
          </a:p>
          <a:p>
            <a:pPr indent="0" marL="0">
              <a:buNone/>
            </a:pPr>
            <a:r>
              <a:rPr lang="en-US" sz="1600" dirty="0">
                <a:solidFill>
                  <a:srgbClr val="0F172A"/>
                </a:solidFill>
                <a:latin typeface="Arial" pitchFamily="34" charset="0"/>
                <a:ea typeface="Arial" pitchFamily="34" charset="-122"/>
                <a:cs typeface="Arial" pitchFamily="34" charset="-120"/>
              </a:rPr>
              <a:t>The hard training work is already finished.</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indent="0" marL="0">
              <a:buNone/>
            </a:pPr>
            <a:r>
              <a:rPr lang="en-US" sz="2600" b="1" dirty="0">
                <a:solidFill>
                  <a:srgbClr val="0F172A"/>
                </a:solidFill>
                <a:latin typeface="Arial" pitchFamily="34" charset="0"/>
                <a:ea typeface="Arial" pitchFamily="34" charset="-122"/>
                <a:cs typeface="Arial" pitchFamily="34" charset="-120"/>
              </a:rPr>
              <a:t>4. Tokens — How AI Reads Text</a:t>
            </a:r>
            <a:endParaRPr lang="en-US" sz="2600" dirty="0"/>
          </a:p>
        </p:txBody>
      </p:sp>
      <p:sp>
        <p:nvSpPr>
          <p:cNvPr id="3" name="Shape 1"/>
          <p:cNvSpPr/>
          <p:nvPr/>
        </p:nvSpPr>
        <p:spPr>
          <a:xfrm>
            <a:off x="457200" y="868680"/>
            <a:ext cx="1463040" cy="64008"/>
          </a:xfrm>
          <a:prstGeom prst="rect">
            <a:avLst/>
          </a:prstGeom>
          <a:solidFill>
            <a:srgbClr val="2563EB"/>
          </a:solidFill>
          <a:ln/>
        </p:spPr>
      </p:sp>
      <p:sp>
        <p:nvSpPr>
          <p:cNvPr id="4" name="Shape 2"/>
          <p:cNvSpPr/>
          <p:nvPr/>
        </p:nvSpPr>
        <p:spPr>
          <a:xfrm>
            <a:off x="457200" y="1188720"/>
            <a:ext cx="11247120" cy="1280160"/>
          </a:xfrm>
          <a:prstGeom prst="roundRect">
            <a:avLst>
              <a:gd name="adj" fmla="val 8571"/>
            </a:avLst>
          </a:prstGeom>
          <a:solidFill>
            <a:srgbClr val="F1F5F9"/>
          </a:solidFill>
          <a:ln/>
        </p:spPr>
      </p:sp>
      <p:sp>
        <p:nvSpPr>
          <p:cNvPr id="5" name="Text 3"/>
          <p:cNvSpPr/>
          <p:nvPr/>
        </p:nvSpPr>
        <p:spPr>
          <a:xfrm>
            <a:off x="822960" y="1417320"/>
            <a:ext cx="10515600" cy="822960"/>
          </a:xfrm>
          <a:prstGeom prst="rect">
            <a:avLst/>
          </a:prstGeom>
          <a:noFill/>
          <a:ln/>
        </p:spPr>
        <p:txBody>
          <a:bodyPr wrap="square" lIns="0" tIns="0" rIns="0" bIns="0" rtlCol="0" anchor="ctr"/>
          <a:lstStyle/>
          <a:p>
            <a:pPr indent="0" marL="0">
              <a:buNone/>
            </a:pPr>
            <a:r>
              <a:rPr lang="en-US" sz="1700" dirty="0">
                <a:solidFill>
                  <a:srgbClr val="0F172A"/>
                </a:solidFill>
                <a:latin typeface="Arial" pitchFamily="34" charset="0"/>
                <a:ea typeface="Arial" pitchFamily="34" charset="-122"/>
                <a:cs typeface="Arial" pitchFamily="34" charset="-120"/>
              </a:rPr>
              <a:t>AI does not read full sentences like humans.</a:t>
            </a:r>
            <a:endParaRPr lang="en-US" sz="1700" dirty="0"/>
          </a:p>
          <a:p>
            <a:pPr indent="0" marL="0">
              <a:buNone/>
            </a:pPr>
            <a:r>
              <a:rPr lang="en-US" sz="1700" dirty="0">
                <a:solidFill>
                  <a:srgbClr val="0F172A"/>
                </a:solidFill>
                <a:latin typeface="Arial" pitchFamily="34" charset="0"/>
                <a:ea typeface="Arial" pitchFamily="34" charset="-122"/>
                <a:cs typeface="Arial" pitchFamily="34" charset="-120"/>
              </a:rPr>
              <a:t>It breaks text into small pieces called tokens.</a:t>
            </a:r>
            <a:endParaRPr lang="en-US" sz="1700" dirty="0"/>
          </a:p>
        </p:txBody>
      </p:sp>
      <p:sp>
        <p:nvSpPr>
          <p:cNvPr id="6" name="Text 4"/>
          <p:cNvSpPr/>
          <p:nvPr/>
        </p:nvSpPr>
        <p:spPr>
          <a:xfrm>
            <a:off x="457200" y="2697480"/>
            <a:ext cx="10972800" cy="365760"/>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Example: “I love Python”</a:t>
            </a:r>
            <a:endParaRPr lang="en-US" sz="1600" dirty="0"/>
          </a:p>
        </p:txBody>
      </p:sp>
      <p:sp>
        <p:nvSpPr>
          <p:cNvPr id="7" name="Shape 5"/>
          <p:cNvSpPr/>
          <p:nvPr/>
        </p:nvSpPr>
        <p:spPr>
          <a:xfrm>
            <a:off x="1828800" y="3200400"/>
            <a:ext cx="2743200" cy="1371600"/>
          </a:xfrm>
          <a:prstGeom prst="roundRect">
            <a:avLst>
              <a:gd name="adj" fmla="val 8000"/>
            </a:avLst>
          </a:prstGeom>
          <a:solidFill>
            <a:srgbClr val="2563EB"/>
          </a:solidFill>
          <a:ln/>
        </p:spPr>
      </p:sp>
      <p:sp>
        <p:nvSpPr>
          <p:cNvPr id="8" name="Text 6"/>
          <p:cNvSpPr/>
          <p:nvPr/>
        </p:nvSpPr>
        <p:spPr>
          <a:xfrm>
            <a:off x="1828800" y="3474720"/>
            <a:ext cx="2743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I</a:t>
            </a:r>
            <a:endParaRPr lang="en-US" sz="2200" dirty="0"/>
          </a:p>
        </p:txBody>
      </p:sp>
      <p:sp>
        <p:nvSpPr>
          <p:cNvPr id="9" name="Text 7"/>
          <p:cNvSpPr/>
          <p:nvPr/>
        </p:nvSpPr>
        <p:spPr>
          <a:xfrm>
            <a:off x="1828800" y="4023360"/>
            <a:ext cx="2743200" cy="320040"/>
          </a:xfrm>
          <a:prstGeom prst="rect">
            <a:avLst/>
          </a:prstGeom>
          <a:noFill/>
          <a:ln/>
        </p:spPr>
        <p:txBody>
          <a:bodyPr wrap="square" lIns="0" tIns="0" rIns="0" bIns="0" rtlCol="0" anchor="ctr"/>
          <a:lstStyle/>
          <a:p>
            <a:pPr algn="ctr" indent="0" marL="0">
              <a:buNone/>
            </a:pPr>
            <a:r>
              <a:rPr lang="en-US" sz="1400" dirty="0">
                <a:solidFill>
                  <a:srgbClr val="93C5FD"/>
                </a:solidFill>
                <a:latin typeface="Arial" pitchFamily="34" charset="0"/>
                <a:ea typeface="Arial" pitchFamily="34" charset="-122"/>
                <a:cs typeface="Arial" pitchFamily="34" charset="-120"/>
              </a:rPr>
              <a:t>token</a:t>
            </a:r>
            <a:endParaRPr lang="en-US" sz="1400" dirty="0"/>
          </a:p>
        </p:txBody>
      </p:sp>
      <p:sp>
        <p:nvSpPr>
          <p:cNvPr id="10" name="Shape 8"/>
          <p:cNvSpPr/>
          <p:nvPr/>
        </p:nvSpPr>
        <p:spPr>
          <a:xfrm>
            <a:off x="5029200" y="3200400"/>
            <a:ext cx="2743200" cy="1371600"/>
          </a:xfrm>
          <a:prstGeom prst="roundRect">
            <a:avLst>
              <a:gd name="adj" fmla="val 8000"/>
            </a:avLst>
          </a:prstGeom>
          <a:solidFill>
            <a:srgbClr val="2563EB"/>
          </a:solidFill>
          <a:ln/>
        </p:spPr>
      </p:sp>
      <p:sp>
        <p:nvSpPr>
          <p:cNvPr id="11" name="Text 9"/>
          <p:cNvSpPr/>
          <p:nvPr/>
        </p:nvSpPr>
        <p:spPr>
          <a:xfrm>
            <a:off x="5029200" y="3474720"/>
            <a:ext cx="2743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 love</a:t>
            </a:r>
            <a:endParaRPr lang="en-US" sz="2200" dirty="0"/>
          </a:p>
        </p:txBody>
      </p:sp>
      <p:sp>
        <p:nvSpPr>
          <p:cNvPr id="12" name="Text 10"/>
          <p:cNvSpPr/>
          <p:nvPr/>
        </p:nvSpPr>
        <p:spPr>
          <a:xfrm>
            <a:off x="5029200" y="4023360"/>
            <a:ext cx="2743200" cy="320040"/>
          </a:xfrm>
          <a:prstGeom prst="rect">
            <a:avLst/>
          </a:prstGeom>
          <a:noFill/>
          <a:ln/>
        </p:spPr>
        <p:txBody>
          <a:bodyPr wrap="square" lIns="0" tIns="0" rIns="0" bIns="0" rtlCol="0" anchor="ctr"/>
          <a:lstStyle/>
          <a:p>
            <a:pPr algn="ctr" indent="0" marL="0">
              <a:buNone/>
            </a:pPr>
            <a:r>
              <a:rPr lang="en-US" sz="1400" dirty="0">
                <a:solidFill>
                  <a:srgbClr val="93C5FD"/>
                </a:solidFill>
                <a:latin typeface="Arial" pitchFamily="34" charset="0"/>
                <a:ea typeface="Arial" pitchFamily="34" charset="-122"/>
                <a:cs typeface="Arial" pitchFamily="34" charset="-120"/>
              </a:rPr>
              <a:t>token</a:t>
            </a:r>
            <a:endParaRPr lang="en-US" sz="1400" dirty="0"/>
          </a:p>
        </p:txBody>
      </p:sp>
      <p:sp>
        <p:nvSpPr>
          <p:cNvPr id="13" name="Shape 11"/>
          <p:cNvSpPr/>
          <p:nvPr/>
        </p:nvSpPr>
        <p:spPr>
          <a:xfrm>
            <a:off x="8229600" y="3200400"/>
            <a:ext cx="2743200" cy="1371600"/>
          </a:xfrm>
          <a:prstGeom prst="roundRect">
            <a:avLst>
              <a:gd name="adj" fmla="val 8000"/>
            </a:avLst>
          </a:prstGeom>
          <a:solidFill>
            <a:srgbClr val="2563EB"/>
          </a:solidFill>
          <a:ln/>
        </p:spPr>
      </p:sp>
      <p:sp>
        <p:nvSpPr>
          <p:cNvPr id="14" name="Text 12"/>
          <p:cNvSpPr/>
          <p:nvPr/>
        </p:nvSpPr>
        <p:spPr>
          <a:xfrm>
            <a:off x="8229600" y="3474720"/>
            <a:ext cx="2743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 Python</a:t>
            </a:r>
            <a:endParaRPr lang="en-US" sz="2200" dirty="0"/>
          </a:p>
        </p:txBody>
      </p:sp>
      <p:sp>
        <p:nvSpPr>
          <p:cNvPr id="15" name="Text 13"/>
          <p:cNvSpPr/>
          <p:nvPr/>
        </p:nvSpPr>
        <p:spPr>
          <a:xfrm>
            <a:off x="8229600" y="4023360"/>
            <a:ext cx="2743200" cy="320040"/>
          </a:xfrm>
          <a:prstGeom prst="rect">
            <a:avLst/>
          </a:prstGeom>
          <a:noFill/>
          <a:ln/>
        </p:spPr>
        <p:txBody>
          <a:bodyPr wrap="square" lIns="0" tIns="0" rIns="0" bIns="0" rtlCol="0" anchor="ctr"/>
          <a:lstStyle/>
          <a:p>
            <a:pPr algn="ctr" indent="0" marL="0">
              <a:buNone/>
            </a:pPr>
            <a:r>
              <a:rPr lang="en-US" sz="1400" dirty="0">
                <a:solidFill>
                  <a:srgbClr val="93C5FD"/>
                </a:solidFill>
                <a:latin typeface="Arial" pitchFamily="34" charset="0"/>
                <a:ea typeface="Arial" pitchFamily="34" charset="-122"/>
                <a:cs typeface="Arial" pitchFamily="34" charset="-120"/>
              </a:rPr>
              <a:t>token</a:t>
            </a:r>
            <a:endParaRPr lang="en-US" sz="1400" dirty="0"/>
          </a:p>
        </p:txBody>
      </p:sp>
      <p:sp>
        <p:nvSpPr>
          <p:cNvPr id="16" name="Text 14"/>
          <p:cNvSpPr/>
          <p:nvPr/>
        </p:nvSpPr>
        <p:spPr>
          <a:xfrm>
            <a:off x="457200" y="4846320"/>
            <a:ext cx="10972800" cy="320040"/>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Why tokens matter:</a:t>
            </a:r>
            <a:endParaRPr lang="en-US" sz="1500" dirty="0"/>
          </a:p>
        </p:txBody>
      </p:sp>
      <p:sp>
        <p:nvSpPr>
          <p:cNvPr id="17" name="Text 15"/>
          <p:cNvSpPr/>
          <p:nvPr/>
        </p:nvSpPr>
        <p:spPr>
          <a:xfrm>
            <a:off x="457200" y="5257800"/>
            <a:ext cx="10972800" cy="1005840"/>
          </a:xfrm>
          <a:prstGeom prst="rect">
            <a:avLst/>
          </a:prstGeom>
          <a:noFill/>
          <a:ln/>
        </p:spPr>
        <p:txBody>
          <a:bodyPr wrap="square" lIns="0" tIns="0" rIns="0" bIns="0" rtlCol="0" anchor="ctr"/>
          <a:lstStyle/>
          <a:p>
            <a:pPr indent="0" marL="0">
              <a:buNone/>
            </a:pPr>
            <a:r>
              <a:rPr lang="en-US" sz="1400" dirty="0">
                <a:solidFill>
                  <a:srgbClr val="1E293B"/>
                </a:solidFill>
                <a:latin typeface="Arial" pitchFamily="34" charset="0"/>
                <a:ea typeface="Arial" pitchFamily="34" charset="-122"/>
                <a:cs typeface="Arial" pitchFamily="34" charset="-120"/>
              </a:rPr>
              <a:t>• Pricing is based on number of tokens</a:t>
            </a:r>
            <a:endParaRPr lang="en-US" sz="1400" dirty="0"/>
          </a:p>
          <a:p>
            <a:pPr indent="0" marL="0">
              <a:buNone/>
            </a:pPr>
            <a:r>
              <a:rPr lang="en-US" sz="1400" dirty="0">
                <a:solidFill>
                  <a:srgbClr val="1E293B"/>
                </a:solidFill>
                <a:latin typeface="Arial" pitchFamily="34" charset="0"/>
                <a:ea typeface="Arial" pitchFamily="34" charset="-122"/>
                <a:cs typeface="Arial" pitchFamily="34" charset="-120"/>
              </a:rPr>
              <a:t>• Models can only handle a limited number of tokens at one time</a:t>
            </a:r>
            <a:endParaRPr lang="en-US" sz="1400" dirty="0"/>
          </a:p>
          <a:p>
            <a:pPr indent="0" marL="0">
              <a:buNone/>
            </a:pPr>
            <a:r>
              <a:rPr lang="en-US" sz="1400" dirty="0">
                <a:solidFill>
                  <a:srgbClr val="1E293B"/>
                </a:solidFill>
                <a:latin typeface="Arial" pitchFamily="34" charset="0"/>
                <a:ea typeface="Arial" pitchFamily="34" charset="-122"/>
                <a:cs typeface="Arial" pitchFamily="34" charset="-120"/>
              </a:rPr>
              <a:t>• Longer text = more tokens = higher cost</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indent="0" marL="0">
              <a:buNone/>
            </a:pPr>
            <a:r>
              <a:rPr lang="en-US" sz="2600" b="1" dirty="0">
                <a:solidFill>
                  <a:srgbClr val="0F172A"/>
                </a:solidFill>
                <a:latin typeface="Arial" pitchFamily="34" charset="0"/>
                <a:ea typeface="Arial" pitchFamily="34" charset="-122"/>
                <a:cs typeface="Arial" pitchFamily="34" charset="-120"/>
              </a:rPr>
              <a:t>5. Context Window — AI’s Short Memory</a:t>
            </a:r>
            <a:endParaRPr lang="en-US" sz="2600" dirty="0"/>
          </a:p>
        </p:txBody>
      </p:sp>
      <p:sp>
        <p:nvSpPr>
          <p:cNvPr id="3" name="Shape 1"/>
          <p:cNvSpPr/>
          <p:nvPr/>
        </p:nvSpPr>
        <p:spPr>
          <a:xfrm>
            <a:off x="457200" y="868680"/>
            <a:ext cx="1463040" cy="64008"/>
          </a:xfrm>
          <a:prstGeom prst="rect">
            <a:avLst/>
          </a:prstGeom>
          <a:solidFill>
            <a:srgbClr val="2563EB"/>
          </a:solidFill>
          <a:ln/>
        </p:spPr>
      </p:sp>
      <p:sp>
        <p:nvSpPr>
          <p:cNvPr id="4" name="Shape 2"/>
          <p:cNvSpPr/>
          <p:nvPr/>
        </p:nvSpPr>
        <p:spPr>
          <a:xfrm>
            <a:off x="457200" y="1188720"/>
            <a:ext cx="11247120" cy="1280160"/>
          </a:xfrm>
          <a:prstGeom prst="roundRect">
            <a:avLst>
              <a:gd name="adj" fmla="val 8571"/>
            </a:avLst>
          </a:prstGeom>
          <a:solidFill>
            <a:srgbClr val="DBEAFE"/>
          </a:solidFill>
          <a:ln/>
        </p:spPr>
      </p:sp>
      <p:sp>
        <p:nvSpPr>
          <p:cNvPr id="5" name="Text 3"/>
          <p:cNvSpPr/>
          <p:nvPr/>
        </p:nvSpPr>
        <p:spPr>
          <a:xfrm>
            <a:off x="822960" y="1417320"/>
            <a:ext cx="10515600" cy="822960"/>
          </a:xfrm>
          <a:prstGeom prst="rect">
            <a:avLst/>
          </a:prstGeom>
          <a:noFill/>
          <a:ln/>
        </p:spPr>
        <p:txBody>
          <a:bodyPr wrap="square" lIns="0" tIns="0" rIns="0" bIns="0" rtlCol="0" anchor="ctr"/>
          <a:lstStyle/>
          <a:p>
            <a:pPr indent="0" marL="0">
              <a:buNone/>
            </a:pPr>
            <a:r>
              <a:rPr lang="en-US" sz="1700" dirty="0">
                <a:solidFill>
                  <a:srgbClr val="0F172A"/>
                </a:solidFill>
                <a:latin typeface="Arial" pitchFamily="34" charset="0"/>
                <a:ea typeface="Arial" pitchFamily="34" charset="-122"/>
                <a:cs typeface="Arial" pitchFamily="34" charset="-120"/>
              </a:rPr>
              <a:t>The context window is how much text the AI can “see” at one time.</a:t>
            </a:r>
            <a:endParaRPr lang="en-US" sz="1700" dirty="0"/>
          </a:p>
          <a:p>
            <a:pPr indent="0" marL="0">
              <a:buNone/>
            </a:pPr>
            <a:r>
              <a:rPr lang="en-US" sz="1700" dirty="0">
                <a:solidFill>
                  <a:srgbClr val="0F172A"/>
                </a:solidFill>
                <a:latin typeface="Arial" pitchFamily="34" charset="0"/>
                <a:ea typeface="Arial" pitchFamily="34" charset="-122"/>
                <a:cs typeface="Arial" pitchFamily="34" charset="-120"/>
              </a:rPr>
              <a:t>Think of it as the AI’s short-term memory for this conversation.</a:t>
            </a:r>
            <a:endParaRPr lang="en-US" sz="1700" dirty="0"/>
          </a:p>
        </p:txBody>
      </p:sp>
      <p:sp>
        <p:nvSpPr>
          <p:cNvPr id="6" name="Text 4"/>
          <p:cNvSpPr/>
          <p:nvPr/>
        </p:nvSpPr>
        <p:spPr>
          <a:xfrm>
            <a:off x="457200" y="2697480"/>
            <a:ext cx="10972800" cy="365760"/>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What can go inside the context window?</a:t>
            </a:r>
            <a:endParaRPr lang="en-US" sz="1600" dirty="0"/>
          </a:p>
        </p:txBody>
      </p:sp>
      <p:sp>
        <p:nvSpPr>
          <p:cNvPr id="7" name="Shape 5"/>
          <p:cNvSpPr/>
          <p:nvPr/>
        </p:nvSpPr>
        <p:spPr>
          <a:xfrm>
            <a:off x="1371600" y="3200400"/>
            <a:ext cx="9418320" cy="3017520"/>
          </a:xfrm>
          <a:prstGeom prst="roundRect">
            <a:avLst>
              <a:gd name="adj" fmla="val 3636"/>
            </a:avLst>
          </a:prstGeom>
          <a:solidFill>
            <a:srgbClr val="F1F5F9"/>
          </a:solidFill>
          <a:ln/>
        </p:spPr>
      </p:sp>
      <p:sp>
        <p:nvSpPr>
          <p:cNvPr id="8" name="Text 6"/>
          <p:cNvSpPr/>
          <p:nvPr/>
        </p:nvSpPr>
        <p:spPr>
          <a:xfrm>
            <a:off x="1371600" y="3383280"/>
            <a:ext cx="9418320" cy="365760"/>
          </a:xfrm>
          <a:prstGeom prst="rect">
            <a:avLst/>
          </a:prstGeom>
          <a:noFill/>
          <a:ln/>
        </p:spPr>
        <p:txBody>
          <a:bodyPr wrap="square" lIns="0" tIns="0" rIns="0" bIns="0" rtlCol="0" anchor="ctr"/>
          <a:lstStyle/>
          <a:p>
            <a:pPr algn="ctr" indent="0" marL="0">
              <a:buNone/>
            </a:pPr>
            <a:r>
              <a:rPr lang="en-US" sz="1400" b="1" dirty="0">
                <a:solidFill>
                  <a:srgbClr val="2563EB"/>
                </a:solidFill>
                <a:latin typeface="Arial" pitchFamily="34" charset="0"/>
                <a:ea typeface="Arial" pitchFamily="34" charset="-122"/>
                <a:cs typeface="Arial" pitchFamily="34" charset="-120"/>
              </a:rPr>
              <a:t>CONTEXT WINDOW</a:t>
            </a:r>
            <a:endParaRPr lang="en-US" sz="1400" dirty="0"/>
          </a:p>
        </p:txBody>
      </p:sp>
      <p:sp>
        <p:nvSpPr>
          <p:cNvPr id="9" name="Text 7"/>
          <p:cNvSpPr/>
          <p:nvPr/>
        </p:nvSpPr>
        <p:spPr>
          <a:xfrm>
            <a:off x="2011680" y="3931920"/>
            <a:ext cx="8229600" cy="365760"/>
          </a:xfrm>
          <a:prstGeom prst="rect">
            <a:avLst/>
          </a:prstGeom>
          <a:noFill/>
          <a:ln/>
        </p:spPr>
        <p:txBody>
          <a:bodyPr wrap="square" lIns="0" tIns="0" rIns="0" bIns="0" rtlCol="0" anchor="ctr"/>
          <a:lstStyle/>
          <a:p>
            <a:pPr indent="0" marL="0">
              <a:buNone/>
            </a:pPr>
            <a:r>
              <a:rPr lang="en-US" sz="1500" dirty="0">
                <a:solidFill>
                  <a:srgbClr val="1E293B"/>
                </a:solidFill>
                <a:latin typeface="Arial" pitchFamily="34" charset="0"/>
                <a:ea typeface="Arial" pitchFamily="34" charset="-122"/>
                <a:cs typeface="Arial" pitchFamily="34" charset="-120"/>
              </a:rPr>
              <a:t>•  System instructions (how AI should behave)</a:t>
            </a:r>
            <a:endParaRPr lang="en-US" sz="1500" dirty="0"/>
          </a:p>
        </p:txBody>
      </p:sp>
      <p:sp>
        <p:nvSpPr>
          <p:cNvPr id="10" name="Text 8"/>
          <p:cNvSpPr/>
          <p:nvPr/>
        </p:nvSpPr>
        <p:spPr>
          <a:xfrm>
            <a:off x="2011680" y="4343400"/>
            <a:ext cx="8229600" cy="365760"/>
          </a:xfrm>
          <a:prstGeom prst="rect">
            <a:avLst/>
          </a:prstGeom>
          <a:noFill/>
          <a:ln/>
        </p:spPr>
        <p:txBody>
          <a:bodyPr wrap="square" lIns="0" tIns="0" rIns="0" bIns="0" rtlCol="0" anchor="ctr"/>
          <a:lstStyle/>
          <a:p>
            <a:pPr indent="0" marL="0">
              <a:buNone/>
            </a:pPr>
            <a:r>
              <a:rPr lang="en-US" sz="1500" dirty="0">
                <a:solidFill>
                  <a:srgbClr val="1E293B"/>
                </a:solidFill>
                <a:latin typeface="Arial" pitchFamily="34" charset="0"/>
                <a:ea typeface="Arial" pitchFamily="34" charset="-122"/>
                <a:cs typeface="Arial" pitchFamily="34" charset="-120"/>
              </a:rPr>
              <a:t>•  Your current question</a:t>
            </a:r>
            <a:endParaRPr lang="en-US" sz="1500" dirty="0"/>
          </a:p>
        </p:txBody>
      </p:sp>
      <p:sp>
        <p:nvSpPr>
          <p:cNvPr id="11" name="Text 9"/>
          <p:cNvSpPr/>
          <p:nvPr/>
        </p:nvSpPr>
        <p:spPr>
          <a:xfrm>
            <a:off x="2011680" y="4754880"/>
            <a:ext cx="8229600" cy="365760"/>
          </a:xfrm>
          <a:prstGeom prst="rect">
            <a:avLst/>
          </a:prstGeom>
          <a:noFill/>
          <a:ln/>
        </p:spPr>
        <p:txBody>
          <a:bodyPr wrap="square" lIns="0" tIns="0" rIns="0" bIns="0" rtlCol="0" anchor="ctr"/>
          <a:lstStyle/>
          <a:p>
            <a:pPr indent="0" marL="0">
              <a:buNone/>
            </a:pPr>
            <a:r>
              <a:rPr lang="en-US" sz="1500" dirty="0">
                <a:solidFill>
                  <a:srgbClr val="1E293B"/>
                </a:solidFill>
                <a:latin typeface="Arial" pitchFamily="34" charset="0"/>
                <a:ea typeface="Arial" pitchFamily="34" charset="-122"/>
                <a:cs typeface="Arial" pitchFamily="34" charset="-120"/>
              </a:rPr>
              <a:t>•  Previous chat messages</a:t>
            </a:r>
            <a:endParaRPr lang="en-US" sz="1500" dirty="0"/>
          </a:p>
        </p:txBody>
      </p:sp>
      <p:sp>
        <p:nvSpPr>
          <p:cNvPr id="12" name="Text 10"/>
          <p:cNvSpPr/>
          <p:nvPr/>
        </p:nvSpPr>
        <p:spPr>
          <a:xfrm>
            <a:off x="2011680" y="5166360"/>
            <a:ext cx="8229600" cy="365760"/>
          </a:xfrm>
          <a:prstGeom prst="rect">
            <a:avLst/>
          </a:prstGeom>
          <a:noFill/>
          <a:ln/>
        </p:spPr>
        <p:txBody>
          <a:bodyPr wrap="square" lIns="0" tIns="0" rIns="0" bIns="0" rtlCol="0" anchor="ctr"/>
          <a:lstStyle/>
          <a:p>
            <a:pPr indent="0" marL="0">
              <a:buNone/>
            </a:pPr>
            <a:r>
              <a:rPr lang="en-US" sz="1500" dirty="0">
                <a:solidFill>
                  <a:srgbClr val="1E293B"/>
                </a:solidFill>
                <a:latin typeface="Arial" pitchFamily="34" charset="0"/>
                <a:ea typeface="Arial" pitchFamily="34" charset="-122"/>
                <a:cs typeface="Arial" pitchFamily="34" charset="-120"/>
              </a:rPr>
              <a:t>•  Documents we give it (in RAG)</a:t>
            </a:r>
            <a:endParaRPr lang="en-US" sz="1500" dirty="0"/>
          </a:p>
        </p:txBody>
      </p:sp>
      <p:sp>
        <p:nvSpPr>
          <p:cNvPr id="13" name="Text 11"/>
          <p:cNvSpPr/>
          <p:nvPr/>
        </p:nvSpPr>
        <p:spPr>
          <a:xfrm>
            <a:off x="2011680" y="5577840"/>
            <a:ext cx="8229600" cy="365760"/>
          </a:xfrm>
          <a:prstGeom prst="rect">
            <a:avLst/>
          </a:prstGeom>
          <a:noFill/>
          <a:ln/>
        </p:spPr>
        <p:txBody>
          <a:bodyPr wrap="square" lIns="0" tIns="0" rIns="0" bIns="0" rtlCol="0" anchor="ctr"/>
          <a:lstStyle/>
          <a:p>
            <a:pPr indent="0" marL="0">
              <a:buNone/>
            </a:pPr>
            <a:r>
              <a:rPr lang="en-US" sz="1500" dirty="0">
                <a:solidFill>
                  <a:srgbClr val="1E293B"/>
                </a:solidFill>
                <a:latin typeface="Arial" pitchFamily="34" charset="0"/>
                <a:ea typeface="Arial" pitchFamily="34" charset="-122"/>
                <a:cs typeface="Arial" pitchFamily="34" charset="-120"/>
              </a:rPr>
              <a:t>•  Results from tools</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indent="0" marL="0">
              <a:buNone/>
            </a:pPr>
            <a:r>
              <a:rPr lang="en-US" sz="2600" b="1" dirty="0">
                <a:solidFill>
                  <a:srgbClr val="0F172A"/>
                </a:solidFill>
                <a:latin typeface="Arial" pitchFamily="34" charset="0"/>
                <a:ea typeface="Arial" pitchFamily="34" charset="-122"/>
                <a:cs typeface="Arial" pitchFamily="34" charset="-120"/>
              </a:rPr>
              <a:t>Context Window — Easy Analogy</a:t>
            </a:r>
            <a:endParaRPr lang="en-US" sz="2600" dirty="0"/>
          </a:p>
        </p:txBody>
      </p:sp>
      <p:sp>
        <p:nvSpPr>
          <p:cNvPr id="3" name="Shape 1"/>
          <p:cNvSpPr/>
          <p:nvPr/>
        </p:nvSpPr>
        <p:spPr>
          <a:xfrm>
            <a:off x="457200" y="868680"/>
            <a:ext cx="1463040" cy="64008"/>
          </a:xfrm>
          <a:prstGeom prst="rect">
            <a:avLst/>
          </a:prstGeom>
          <a:solidFill>
            <a:srgbClr val="2563EB"/>
          </a:solidFill>
          <a:ln/>
        </p:spPr>
      </p:sp>
      <p:sp>
        <p:nvSpPr>
          <p:cNvPr id="4" name="Text 2"/>
          <p:cNvSpPr/>
          <p:nvPr/>
        </p:nvSpPr>
        <p:spPr>
          <a:xfrm>
            <a:off x="457200" y="1188720"/>
            <a:ext cx="10972800" cy="457200"/>
          </a:xfrm>
          <a:prstGeom prst="rect">
            <a:avLst/>
          </a:prstGeom>
          <a:noFill/>
          <a:ln/>
        </p:spPr>
        <p:txBody>
          <a:bodyPr wrap="square" lIns="0" tIns="0" rIns="0" bIns="0" rtlCol="0" anchor="ctr"/>
          <a:lstStyle/>
          <a:p>
            <a:pPr indent="0" marL="0">
              <a:buNone/>
            </a:pPr>
            <a:r>
              <a:rPr lang="en-US" sz="1600" dirty="0">
                <a:solidFill>
                  <a:srgbClr val="64748B"/>
                </a:solidFill>
                <a:latin typeface="Arial" pitchFamily="34" charset="0"/>
                <a:ea typeface="Arial" pitchFamily="34" charset="-122"/>
                <a:cs typeface="Arial" pitchFamily="34" charset="-120"/>
              </a:rPr>
              <a:t>Imagine the AI is reading a book, but it can only keep a few pages open.</a:t>
            </a:r>
            <a:endParaRPr lang="en-US" sz="1600" dirty="0"/>
          </a:p>
        </p:txBody>
      </p:sp>
      <p:sp>
        <p:nvSpPr>
          <p:cNvPr id="5" name="Shape 3"/>
          <p:cNvSpPr/>
          <p:nvPr/>
        </p:nvSpPr>
        <p:spPr>
          <a:xfrm>
            <a:off x="457200" y="1828800"/>
            <a:ext cx="11247120" cy="1280160"/>
          </a:xfrm>
          <a:prstGeom prst="roundRect">
            <a:avLst>
              <a:gd name="adj" fmla="val 8571"/>
            </a:avLst>
          </a:prstGeom>
          <a:solidFill>
            <a:srgbClr val="F1F5F9"/>
          </a:solidFill>
          <a:ln/>
        </p:spPr>
      </p:sp>
      <p:sp>
        <p:nvSpPr>
          <p:cNvPr id="6" name="Shape 4"/>
          <p:cNvSpPr/>
          <p:nvPr/>
        </p:nvSpPr>
        <p:spPr>
          <a:xfrm>
            <a:off x="457200" y="1828800"/>
            <a:ext cx="137160" cy="1280160"/>
          </a:xfrm>
          <a:prstGeom prst="rect">
            <a:avLst/>
          </a:prstGeom>
          <a:solidFill>
            <a:srgbClr val="EA580C"/>
          </a:solidFill>
          <a:ln/>
        </p:spPr>
      </p:sp>
      <p:sp>
        <p:nvSpPr>
          <p:cNvPr id="7" name="Text 5"/>
          <p:cNvSpPr/>
          <p:nvPr/>
        </p:nvSpPr>
        <p:spPr>
          <a:xfrm>
            <a:off x="914400" y="2057400"/>
            <a:ext cx="10515600" cy="365760"/>
          </a:xfrm>
          <a:prstGeom prst="rect">
            <a:avLst/>
          </a:prstGeom>
          <a:noFill/>
          <a:ln/>
        </p:spPr>
        <p:txBody>
          <a:bodyPr wrap="square" lIns="0" tIns="0" rIns="0" bIns="0" rtlCol="0" anchor="ctr"/>
          <a:lstStyle/>
          <a:p>
            <a:pPr indent="0" marL="0">
              <a:buNone/>
            </a:pPr>
            <a:r>
              <a:rPr lang="en-US" sz="1800" b="1" dirty="0">
                <a:solidFill>
                  <a:srgbClr val="0F172A"/>
                </a:solidFill>
                <a:latin typeface="Arial" pitchFamily="34" charset="0"/>
                <a:ea typeface="Arial" pitchFamily="34" charset="-122"/>
                <a:cs typeface="Arial" pitchFamily="34" charset="-120"/>
              </a:rPr>
              <a:t>Small context</a:t>
            </a:r>
            <a:endParaRPr lang="en-US" sz="1800" dirty="0"/>
          </a:p>
        </p:txBody>
      </p:sp>
      <p:sp>
        <p:nvSpPr>
          <p:cNvPr id="8" name="Text 6"/>
          <p:cNvSpPr/>
          <p:nvPr/>
        </p:nvSpPr>
        <p:spPr>
          <a:xfrm>
            <a:off x="914400" y="2514600"/>
            <a:ext cx="10515600" cy="365760"/>
          </a:xfrm>
          <a:prstGeom prst="rect">
            <a:avLst/>
          </a:prstGeom>
          <a:noFill/>
          <a:ln/>
        </p:spPr>
        <p:txBody>
          <a:bodyPr wrap="square" lIns="0" tIns="0" rIns="0" bIns="0" rtlCol="0" anchor="ctr"/>
          <a:lstStyle/>
          <a:p>
            <a:pPr indent="0" marL="0">
              <a:buNone/>
            </a:pPr>
            <a:r>
              <a:rPr lang="en-US" sz="1500" dirty="0">
                <a:solidFill>
                  <a:srgbClr val="64748B"/>
                </a:solidFill>
                <a:latin typeface="Arial" pitchFamily="34" charset="0"/>
                <a:ea typeface="Arial" pitchFamily="34" charset="-122"/>
                <a:cs typeface="Arial" pitchFamily="34" charset="-120"/>
              </a:rPr>
              <a:t>Only a few pages open. Forgets older parts of the chat quickly.</a:t>
            </a:r>
            <a:endParaRPr lang="en-US" sz="1500" dirty="0"/>
          </a:p>
        </p:txBody>
      </p:sp>
      <p:sp>
        <p:nvSpPr>
          <p:cNvPr id="9" name="Shape 7"/>
          <p:cNvSpPr/>
          <p:nvPr/>
        </p:nvSpPr>
        <p:spPr>
          <a:xfrm>
            <a:off x="457200" y="3291840"/>
            <a:ext cx="11247120" cy="1280160"/>
          </a:xfrm>
          <a:prstGeom prst="roundRect">
            <a:avLst>
              <a:gd name="adj" fmla="val 8571"/>
            </a:avLst>
          </a:prstGeom>
          <a:solidFill>
            <a:srgbClr val="F1F5F9"/>
          </a:solidFill>
          <a:ln/>
        </p:spPr>
      </p:sp>
      <p:sp>
        <p:nvSpPr>
          <p:cNvPr id="10" name="Shape 8"/>
          <p:cNvSpPr/>
          <p:nvPr/>
        </p:nvSpPr>
        <p:spPr>
          <a:xfrm>
            <a:off x="457200" y="3291840"/>
            <a:ext cx="137160" cy="1280160"/>
          </a:xfrm>
          <a:prstGeom prst="rect">
            <a:avLst/>
          </a:prstGeom>
          <a:solidFill>
            <a:srgbClr val="2563EB"/>
          </a:solidFill>
          <a:ln/>
        </p:spPr>
      </p:sp>
      <p:sp>
        <p:nvSpPr>
          <p:cNvPr id="11" name="Text 9"/>
          <p:cNvSpPr/>
          <p:nvPr/>
        </p:nvSpPr>
        <p:spPr>
          <a:xfrm>
            <a:off x="914400" y="3520440"/>
            <a:ext cx="10515600" cy="365760"/>
          </a:xfrm>
          <a:prstGeom prst="rect">
            <a:avLst/>
          </a:prstGeom>
          <a:noFill/>
          <a:ln/>
        </p:spPr>
        <p:txBody>
          <a:bodyPr wrap="square" lIns="0" tIns="0" rIns="0" bIns="0" rtlCol="0" anchor="ctr"/>
          <a:lstStyle/>
          <a:p>
            <a:pPr indent="0" marL="0">
              <a:buNone/>
            </a:pPr>
            <a:r>
              <a:rPr lang="en-US" sz="1800" b="1" dirty="0">
                <a:solidFill>
                  <a:srgbClr val="0F172A"/>
                </a:solidFill>
                <a:latin typeface="Arial" pitchFamily="34" charset="0"/>
                <a:ea typeface="Arial" pitchFamily="34" charset="-122"/>
                <a:cs typeface="Arial" pitchFamily="34" charset="-120"/>
              </a:rPr>
              <a:t>Medium context</a:t>
            </a:r>
            <a:endParaRPr lang="en-US" sz="1800" dirty="0"/>
          </a:p>
        </p:txBody>
      </p:sp>
      <p:sp>
        <p:nvSpPr>
          <p:cNvPr id="12" name="Text 10"/>
          <p:cNvSpPr/>
          <p:nvPr/>
        </p:nvSpPr>
        <p:spPr>
          <a:xfrm>
            <a:off x="914400" y="3977640"/>
            <a:ext cx="10515600" cy="365760"/>
          </a:xfrm>
          <a:prstGeom prst="rect">
            <a:avLst/>
          </a:prstGeom>
          <a:noFill/>
          <a:ln/>
        </p:spPr>
        <p:txBody>
          <a:bodyPr wrap="square" lIns="0" tIns="0" rIns="0" bIns="0" rtlCol="0" anchor="ctr"/>
          <a:lstStyle/>
          <a:p>
            <a:pPr indent="0" marL="0">
              <a:buNone/>
            </a:pPr>
            <a:r>
              <a:rPr lang="en-US" sz="1500" dirty="0">
                <a:solidFill>
                  <a:srgbClr val="64748B"/>
                </a:solidFill>
                <a:latin typeface="Arial" pitchFamily="34" charset="0"/>
                <a:ea typeface="Arial" pitchFamily="34" charset="-122"/>
                <a:cs typeface="Arial" pitchFamily="34" charset="-120"/>
              </a:rPr>
              <a:t>A full chapter open. Good for most normal use.</a:t>
            </a:r>
            <a:endParaRPr lang="en-US" sz="1500" dirty="0"/>
          </a:p>
        </p:txBody>
      </p:sp>
      <p:sp>
        <p:nvSpPr>
          <p:cNvPr id="13" name="Shape 11"/>
          <p:cNvSpPr/>
          <p:nvPr/>
        </p:nvSpPr>
        <p:spPr>
          <a:xfrm>
            <a:off x="457200" y="4754880"/>
            <a:ext cx="11247120" cy="1280160"/>
          </a:xfrm>
          <a:prstGeom prst="roundRect">
            <a:avLst>
              <a:gd name="adj" fmla="val 8571"/>
            </a:avLst>
          </a:prstGeom>
          <a:solidFill>
            <a:srgbClr val="F1F5F9"/>
          </a:solidFill>
          <a:ln/>
        </p:spPr>
      </p:sp>
      <p:sp>
        <p:nvSpPr>
          <p:cNvPr id="14" name="Shape 12"/>
          <p:cNvSpPr/>
          <p:nvPr/>
        </p:nvSpPr>
        <p:spPr>
          <a:xfrm>
            <a:off x="457200" y="4754880"/>
            <a:ext cx="137160" cy="1280160"/>
          </a:xfrm>
          <a:prstGeom prst="rect">
            <a:avLst/>
          </a:prstGeom>
          <a:solidFill>
            <a:srgbClr val="0D9488"/>
          </a:solidFill>
          <a:ln/>
        </p:spPr>
      </p:sp>
      <p:sp>
        <p:nvSpPr>
          <p:cNvPr id="15" name="Text 13"/>
          <p:cNvSpPr/>
          <p:nvPr/>
        </p:nvSpPr>
        <p:spPr>
          <a:xfrm>
            <a:off x="914400" y="4983480"/>
            <a:ext cx="10515600" cy="365760"/>
          </a:xfrm>
          <a:prstGeom prst="rect">
            <a:avLst/>
          </a:prstGeom>
          <a:noFill/>
          <a:ln/>
        </p:spPr>
        <p:txBody>
          <a:bodyPr wrap="square" lIns="0" tIns="0" rIns="0" bIns="0" rtlCol="0" anchor="ctr"/>
          <a:lstStyle/>
          <a:p>
            <a:pPr indent="0" marL="0">
              <a:buNone/>
            </a:pPr>
            <a:r>
              <a:rPr lang="en-US" sz="1800" b="1" dirty="0">
                <a:solidFill>
                  <a:srgbClr val="0F172A"/>
                </a:solidFill>
                <a:latin typeface="Arial" pitchFamily="34" charset="0"/>
                <a:ea typeface="Arial" pitchFamily="34" charset="-122"/>
                <a:cs typeface="Arial" pitchFamily="34" charset="-120"/>
              </a:rPr>
              <a:t>Very large context</a:t>
            </a:r>
            <a:endParaRPr lang="en-US" sz="1800" dirty="0"/>
          </a:p>
        </p:txBody>
      </p:sp>
      <p:sp>
        <p:nvSpPr>
          <p:cNvPr id="16" name="Text 14"/>
          <p:cNvSpPr/>
          <p:nvPr/>
        </p:nvSpPr>
        <p:spPr>
          <a:xfrm>
            <a:off x="914400" y="5440680"/>
            <a:ext cx="10515600" cy="365760"/>
          </a:xfrm>
          <a:prstGeom prst="rect">
            <a:avLst/>
          </a:prstGeom>
          <a:noFill/>
          <a:ln/>
        </p:spPr>
        <p:txBody>
          <a:bodyPr wrap="square" lIns="0" tIns="0" rIns="0" bIns="0" rtlCol="0" anchor="ctr"/>
          <a:lstStyle/>
          <a:p>
            <a:pPr indent="0" marL="0">
              <a:buNone/>
            </a:pPr>
            <a:r>
              <a:rPr lang="en-US" sz="1500" dirty="0">
                <a:solidFill>
                  <a:srgbClr val="64748B"/>
                </a:solidFill>
                <a:latin typeface="Arial" pitchFamily="34" charset="0"/>
                <a:ea typeface="Arial" pitchFamily="34" charset="-122"/>
                <a:cs typeface="Arial" pitchFamily="34" charset="-120"/>
              </a:rPr>
              <a:t>Almost the whole book open. Powerful but more expensive.</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indent="0" marL="0">
              <a:buNone/>
            </a:pPr>
            <a:r>
              <a:rPr lang="en-US" sz="2600" b="1" dirty="0">
                <a:solidFill>
                  <a:srgbClr val="0F172A"/>
                </a:solidFill>
                <a:latin typeface="Arial" pitchFamily="34" charset="0"/>
                <a:ea typeface="Arial" pitchFamily="34" charset="-122"/>
                <a:cs typeface="Arial" pitchFamily="34" charset="-120"/>
              </a:rPr>
              <a:t>6. What is a Prompt?</a:t>
            </a:r>
            <a:endParaRPr lang="en-US" sz="2600" dirty="0"/>
          </a:p>
        </p:txBody>
      </p:sp>
      <p:sp>
        <p:nvSpPr>
          <p:cNvPr id="3" name="Shape 1"/>
          <p:cNvSpPr/>
          <p:nvPr/>
        </p:nvSpPr>
        <p:spPr>
          <a:xfrm>
            <a:off x="457200" y="868680"/>
            <a:ext cx="1463040" cy="64008"/>
          </a:xfrm>
          <a:prstGeom prst="rect">
            <a:avLst/>
          </a:prstGeom>
          <a:solidFill>
            <a:srgbClr val="2563EB"/>
          </a:solidFill>
          <a:ln/>
        </p:spPr>
      </p:sp>
      <p:sp>
        <p:nvSpPr>
          <p:cNvPr id="4" name="Shape 2"/>
          <p:cNvSpPr/>
          <p:nvPr/>
        </p:nvSpPr>
        <p:spPr>
          <a:xfrm>
            <a:off x="457200" y="1188720"/>
            <a:ext cx="11247120" cy="1280160"/>
          </a:xfrm>
          <a:prstGeom prst="roundRect">
            <a:avLst>
              <a:gd name="adj" fmla="val 8571"/>
            </a:avLst>
          </a:prstGeom>
          <a:solidFill>
            <a:srgbClr val="F1F5F9"/>
          </a:solidFill>
          <a:ln/>
        </p:spPr>
      </p:sp>
      <p:sp>
        <p:nvSpPr>
          <p:cNvPr id="5" name="Text 3"/>
          <p:cNvSpPr/>
          <p:nvPr/>
        </p:nvSpPr>
        <p:spPr>
          <a:xfrm>
            <a:off x="822960" y="1417320"/>
            <a:ext cx="10515600" cy="822960"/>
          </a:xfrm>
          <a:prstGeom prst="rect">
            <a:avLst/>
          </a:prstGeom>
          <a:noFill/>
          <a:ln/>
        </p:spPr>
        <p:txBody>
          <a:bodyPr wrap="square" lIns="0" tIns="0" rIns="0" bIns="0" rtlCol="0" anchor="ctr"/>
          <a:lstStyle/>
          <a:p>
            <a:pPr indent="0" marL="0">
              <a:buNone/>
            </a:pPr>
            <a:r>
              <a:rPr lang="en-US" sz="1800" dirty="0">
                <a:solidFill>
                  <a:srgbClr val="0F172A"/>
                </a:solidFill>
                <a:latin typeface="Arial" pitchFamily="34" charset="0"/>
                <a:ea typeface="Arial" pitchFamily="34" charset="-122"/>
                <a:cs typeface="Arial" pitchFamily="34" charset="-120"/>
              </a:rPr>
              <a:t>A prompt is simply what you type to the AI.</a:t>
            </a:r>
            <a:endParaRPr lang="en-US" sz="1800" dirty="0"/>
          </a:p>
          <a:p>
            <a:pPr indent="0" marL="0">
              <a:buNone/>
            </a:pPr>
            <a:r>
              <a:rPr lang="en-US" sz="1800" dirty="0">
                <a:solidFill>
                  <a:srgbClr val="0F172A"/>
                </a:solidFill>
                <a:latin typeface="Arial" pitchFamily="34" charset="0"/>
                <a:ea typeface="Arial" pitchFamily="34" charset="-122"/>
                <a:cs typeface="Arial" pitchFamily="34" charset="-120"/>
              </a:rPr>
              <a:t>It is the instruction or question you give.</a:t>
            </a:r>
            <a:endParaRPr lang="en-US" sz="1800" dirty="0"/>
          </a:p>
        </p:txBody>
      </p:sp>
      <p:sp>
        <p:nvSpPr>
          <p:cNvPr id="6" name="Text 4"/>
          <p:cNvSpPr/>
          <p:nvPr/>
        </p:nvSpPr>
        <p:spPr>
          <a:xfrm>
            <a:off x="457200" y="2743200"/>
            <a:ext cx="10972800" cy="365760"/>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Good prompts usually have these parts:</a:t>
            </a:r>
            <a:endParaRPr lang="en-US" sz="1600" dirty="0"/>
          </a:p>
        </p:txBody>
      </p:sp>
      <p:sp>
        <p:nvSpPr>
          <p:cNvPr id="7" name="Shape 5"/>
          <p:cNvSpPr/>
          <p:nvPr/>
        </p:nvSpPr>
        <p:spPr>
          <a:xfrm>
            <a:off x="457200" y="3291840"/>
            <a:ext cx="2743200" cy="2286000"/>
          </a:xfrm>
          <a:prstGeom prst="roundRect">
            <a:avLst>
              <a:gd name="adj" fmla="val 4800"/>
            </a:avLst>
          </a:prstGeom>
          <a:solidFill>
            <a:srgbClr val="2563EB"/>
          </a:solidFill>
          <a:ln/>
        </p:spPr>
      </p:sp>
      <p:sp>
        <p:nvSpPr>
          <p:cNvPr id="8" name="Text 6"/>
          <p:cNvSpPr/>
          <p:nvPr/>
        </p:nvSpPr>
        <p:spPr>
          <a:xfrm>
            <a:off x="457200" y="3749040"/>
            <a:ext cx="2743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Role</a:t>
            </a:r>
            <a:endParaRPr lang="en-US" sz="1800" dirty="0"/>
          </a:p>
        </p:txBody>
      </p:sp>
      <p:sp>
        <p:nvSpPr>
          <p:cNvPr id="9" name="Text 7"/>
          <p:cNvSpPr/>
          <p:nvPr/>
        </p:nvSpPr>
        <p:spPr>
          <a:xfrm>
            <a:off x="594360" y="4389120"/>
            <a:ext cx="2468880" cy="640080"/>
          </a:xfrm>
          <a:prstGeom prst="rect">
            <a:avLst/>
          </a:prstGeom>
          <a:noFill/>
          <a:ln/>
        </p:spPr>
        <p:txBody>
          <a:bodyPr wrap="square" lIns="0" tIns="0" rIns="0" bIns="0" rtlCol="0" anchor="ctr"/>
          <a:lstStyle/>
          <a:p>
            <a:pPr algn="ctr" indent="0" marL="0">
              <a:buNone/>
            </a:pPr>
            <a:r>
              <a:rPr lang="en-US" sz="1400" dirty="0">
                <a:solidFill>
                  <a:srgbClr val="93C5FD"/>
                </a:solidFill>
                <a:latin typeface="Arial" pitchFamily="34" charset="0"/>
                <a:ea typeface="Arial" pitchFamily="34" charset="-122"/>
                <a:cs typeface="Arial" pitchFamily="34" charset="-120"/>
              </a:rPr>
              <a:t>Who should the AI be?</a:t>
            </a:r>
            <a:endParaRPr lang="en-US" sz="1400" dirty="0"/>
          </a:p>
        </p:txBody>
      </p:sp>
      <p:sp>
        <p:nvSpPr>
          <p:cNvPr id="10" name="Shape 8"/>
          <p:cNvSpPr/>
          <p:nvPr/>
        </p:nvSpPr>
        <p:spPr>
          <a:xfrm>
            <a:off x="3383280" y="3291840"/>
            <a:ext cx="2743200" cy="2286000"/>
          </a:xfrm>
          <a:prstGeom prst="roundRect">
            <a:avLst>
              <a:gd name="adj" fmla="val 4800"/>
            </a:avLst>
          </a:prstGeom>
          <a:solidFill>
            <a:srgbClr val="2563EB"/>
          </a:solidFill>
          <a:ln/>
        </p:spPr>
      </p:sp>
      <p:sp>
        <p:nvSpPr>
          <p:cNvPr id="11" name="Text 9"/>
          <p:cNvSpPr/>
          <p:nvPr/>
        </p:nvSpPr>
        <p:spPr>
          <a:xfrm>
            <a:off x="3383280" y="3749040"/>
            <a:ext cx="2743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Task</a:t>
            </a:r>
            <a:endParaRPr lang="en-US" sz="1800" dirty="0"/>
          </a:p>
        </p:txBody>
      </p:sp>
      <p:sp>
        <p:nvSpPr>
          <p:cNvPr id="12" name="Text 10"/>
          <p:cNvSpPr/>
          <p:nvPr/>
        </p:nvSpPr>
        <p:spPr>
          <a:xfrm>
            <a:off x="3520440" y="4389120"/>
            <a:ext cx="2468880" cy="640080"/>
          </a:xfrm>
          <a:prstGeom prst="rect">
            <a:avLst/>
          </a:prstGeom>
          <a:noFill/>
          <a:ln/>
        </p:spPr>
        <p:txBody>
          <a:bodyPr wrap="square" lIns="0" tIns="0" rIns="0" bIns="0" rtlCol="0" anchor="ctr"/>
          <a:lstStyle/>
          <a:p>
            <a:pPr algn="ctr" indent="0" marL="0">
              <a:buNone/>
            </a:pPr>
            <a:r>
              <a:rPr lang="en-US" sz="1400" dirty="0">
                <a:solidFill>
                  <a:srgbClr val="93C5FD"/>
                </a:solidFill>
                <a:latin typeface="Arial" pitchFamily="34" charset="0"/>
                <a:ea typeface="Arial" pitchFamily="34" charset="-122"/>
                <a:cs typeface="Arial" pitchFamily="34" charset="-120"/>
              </a:rPr>
              <a:t>What should it do?</a:t>
            </a:r>
            <a:endParaRPr lang="en-US" sz="1400" dirty="0"/>
          </a:p>
        </p:txBody>
      </p:sp>
      <p:sp>
        <p:nvSpPr>
          <p:cNvPr id="13" name="Shape 11"/>
          <p:cNvSpPr/>
          <p:nvPr/>
        </p:nvSpPr>
        <p:spPr>
          <a:xfrm>
            <a:off x="6309360" y="3291840"/>
            <a:ext cx="2743200" cy="2286000"/>
          </a:xfrm>
          <a:prstGeom prst="roundRect">
            <a:avLst>
              <a:gd name="adj" fmla="val 4800"/>
            </a:avLst>
          </a:prstGeom>
          <a:solidFill>
            <a:srgbClr val="2563EB"/>
          </a:solidFill>
          <a:ln/>
        </p:spPr>
      </p:sp>
      <p:sp>
        <p:nvSpPr>
          <p:cNvPr id="14" name="Text 12"/>
          <p:cNvSpPr/>
          <p:nvPr/>
        </p:nvSpPr>
        <p:spPr>
          <a:xfrm>
            <a:off x="6309360" y="3749040"/>
            <a:ext cx="2743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Context</a:t>
            </a:r>
            <a:endParaRPr lang="en-US" sz="1800" dirty="0"/>
          </a:p>
        </p:txBody>
      </p:sp>
      <p:sp>
        <p:nvSpPr>
          <p:cNvPr id="15" name="Text 13"/>
          <p:cNvSpPr/>
          <p:nvPr/>
        </p:nvSpPr>
        <p:spPr>
          <a:xfrm>
            <a:off x="6446520" y="4389120"/>
            <a:ext cx="2468880" cy="640080"/>
          </a:xfrm>
          <a:prstGeom prst="rect">
            <a:avLst/>
          </a:prstGeom>
          <a:noFill/>
          <a:ln/>
        </p:spPr>
        <p:txBody>
          <a:bodyPr wrap="square" lIns="0" tIns="0" rIns="0" bIns="0" rtlCol="0" anchor="ctr"/>
          <a:lstStyle/>
          <a:p>
            <a:pPr algn="ctr" indent="0" marL="0">
              <a:buNone/>
            </a:pPr>
            <a:r>
              <a:rPr lang="en-US" sz="1400" dirty="0">
                <a:solidFill>
                  <a:srgbClr val="93C5FD"/>
                </a:solidFill>
                <a:latin typeface="Arial" pitchFamily="34" charset="0"/>
                <a:ea typeface="Arial" pitchFamily="34" charset="-122"/>
                <a:cs typeface="Arial" pitchFamily="34" charset="-120"/>
              </a:rPr>
              <a:t>Any extra info</a:t>
            </a:r>
            <a:endParaRPr lang="en-US" sz="1400" dirty="0"/>
          </a:p>
        </p:txBody>
      </p:sp>
      <p:sp>
        <p:nvSpPr>
          <p:cNvPr id="16" name="Shape 14"/>
          <p:cNvSpPr/>
          <p:nvPr/>
        </p:nvSpPr>
        <p:spPr>
          <a:xfrm>
            <a:off x="9235440" y="3291840"/>
            <a:ext cx="2743200" cy="2286000"/>
          </a:xfrm>
          <a:prstGeom prst="roundRect">
            <a:avLst>
              <a:gd name="adj" fmla="val 4800"/>
            </a:avLst>
          </a:prstGeom>
          <a:solidFill>
            <a:srgbClr val="2563EB"/>
          </a:solidFill>
          <a:ln/>
        </p:spPr>
      </p:sp>
      <p:sp>
        <p:nvSpPr>
          <p:cNvPr id="17" name="Text 15"/>
          <p:cNvSpPr/>
          <p:nvPr/>
        </p:nvSpPr>
        <p:spPr>
          <a:xfrm>
            <a:off x="9235440" y="3749040"/>
            <a:ext cx="2743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Format</a:t>
            </a:r>
            <a:endParaRPr lang="en-US" sz="1800" dirty="0"/>
          </a:p>
        </p:txBody>
      </p:sp>
      <p:sp>
        <p:nvSpPr>
          <p:cNvPr id="18" name="Text 16"/>
          <p:cNvSpPr/>
          <p:nvPr/>
        </p:nvSpPr>
        <p:spPr>
          <a:xfrm>
            <a:off x="9372600" y="4389120"/>
            <a:ext cx="2468880" cy="640080"/>
          </a:xfrm>
          <a:prstGeom prst="rect">
            <a:avLst/>
          </a:prstGeom>
          <a:noFill/>
          <a:ln/>
        </p:spPr>
        <p:txBody>
          <a:bodyPr wrap="square" lIns="0" tIns="0" rIns="0" bIns="0" rtlCol="0" anchor="ctr"/>
          <a:lstStyle/>
          <a:p>
            <a:pPr algn="ctr" indent="0" marL="0">
              <a:buNone/>
            </a:pPr>
            <a:r>
              <a:rPr lang="en-US" sz="1400" dirty="0">
                <a:solidFill>
                  <a:srgbClr val="93C5FD"/>
                </a:solidFill>
                <a:latin typeface="Arial" pitchFamily="34" charset="0"/>
                <a:ea typeface="Arial" pitchFamily="34" charset="-122"/>
                <a:cs typeface="Arial" pitchFamily="34" charset="-120"/>
              </a:rPr>
              <a:t>How should the answer look?</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indent="0" marL="0">
              <a:buNone/>
            </a:pPr>
            <a:r>
              <a:rPr lang="en-US" sz="2600" b="1" dirty="0">
                <a:solidFill>
                  <a:srgbClr val="0F172A"/>
                </a:solidFill>
                <a:latin typeface="Arial" pitchFamily="34" charset="0"/>
                <a:ea typeface="Arial" pitchFamily="34" charset="-122"/>
                <a:cs typeface="Arial" pitchFamily="34" charset="-120"/>
              </a:rPr>
              <a:t>Prompt Example — Easy to Copy</a:t>
            </a:r>
            <a:endParaRPr lang="en-US" sz="2600" dirty="0"/>
          </a:p>
        </p:txBody>
      </p:sp>
      <p:sp>
        <p:nvSpPr>
          <p:cNvPr id="3" name="Shape 1"/>
          <p:cNvSpPr/>
          <p:nvPr/>
        </p:nvSpPr>
        <p:spPr>
          <a:xfrm>
            <a:off x="457200" y="868680"/>
            <a:ext cx="1463040" cy="64008"/>
          </a:xfrm>
          <a:prstGeom prst="rect">
            <a:avLst/>
          </a:prstGeom>
          <a:solidFill>
            <a:srgbClr val="2563EB"/>
          </a:solidFill>
          <a:ln/>
        </p:spPr>
      </p:sp>
      <p:sp>
        <p:nvSpPr>
          <p:cNvPr id="4" name="Shape 2"/>
          <p:cNvSpPr/>
          <p:nvPr/>
        </p:nvSpPr>
        <p:spPr>
          <a:xfrm>
            <a:off x="457200" y="1234440"/>
            <a:ext cx="2286000" cy="1097280"/>
          </a:xfrm>
          <a:prstGeom prst="roundRect">
            <a:avLst>
              <a:gd name="adj" fmla="val 10000"/>
            </a:avLst>
          </a:prstGeom>
          <a:solidFill>
            <a:srgbClr val="2563EB"/>
          </a:solidFill>
          <a:ln/>
        </p:spPr>
      </p:sp>
      <p:sp>
        <p:nvSpPr>
          <p:cNvPr id="5" name="Text 3"/>
          <p:cNvSpPr/>
          <p:nvPr/>
        </p:nvSpPr>
        <p:spPr>
          <a:xfrm>
            <a:off x="457200" y="1554480"/>
            <a:ext cx="22860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Role</a:t>
            </a:r>
            <a:endParaRPr lang="en-US" sz="1600" dirty="0"/>
          </a:p>
        </p:txBody>
      </p:sp>
      <p:sp>
        <p:nvSpPr>
          <p:cNvPr id="6" name="Shape 4"/>
          <p:cNvSpPr/>
          <p:nvPr/>
        </p:nvSpPr>
        <p:spPr>
          <a:xfrm>
            <a:off x="2926080" y="1234440"/>
            <a:ext cx="8778240" cy="1097280"/>
          </a:xfrm>
          <a:prstGeom prst="roundRect">
            <a:avLst>
              <a:gd name="adj" fmla="val 10000"/>
            </a:avLst>
          </a:prstGeom>
          <a:solidFill>
            <a:srgbClr val="F1F5F9"/>
          </a:solidFill>
          <a:ln/>
        </p:spPr>
      </p:sp>
      <p:sp>
        <p:nvSpPr>
          <p:cNvPr id="7" name="Text 5"/>
          <p:cNvSpPr/>
          <p:nvPr/>
        </p:nvSpPr>
        <p:spPr>
          <a:xfrm>
            <a:off x="3200400" y="1554480"/>
            <a:ext cx="8229600" cy="457200"/>
          </a:xfrm>
          <a:prstGeom prst="rect">
            <a:avLst/>
          </a:prstGeom>
          <a:noFill/>
          <a:ln/>
        </p:spPr>
        <p:txBody>
          <a:bodyPr wrap="square" lIns="0" tIns="0" rIns="0" bIns="0" rtlCol="0" anchor="ctr"/>
          <a:lstStyle/>
          <a:p>
            <a:pPr indent="0" marL="0">
              <a:buNone/>
            </a:pPr>
            <a:r>
              <a:rPr lang="en-US" sz="1600" dirty="0">
                <a:solidFill>
                  <a:srgbClr val="0F172A"/>
                </a:solidFill>
                <a:latin typeface="Arial" pitchFamily="34" charset="0"/>
                <a:ea typeface="Arial" pitchFamily="34" charset="-122"/>
                <a:cs typeface="Arial" pitchFamily="34" charset="-120"/>
              </a:rPr>
              <a:t>You are a patient teacher who explains things to beginners.</a:t>
            </a:r>
            <a:endParaRPr lang="en-US" sz="1600" dirty="0"/>
          </a:p>
        </p:txBody>
      </p:sp>
      <p:sp>
        <p:nvSpPr>
          <p:cNvPr id="8" name="Shape 6"/>
          <p:cNvSpPr/>
          <p:nvPr/>
        </p:nvSpPr>
        <p:spPr>
          <a:xfrm>
            <a:off x="457200" y="2468880"/>
            <a:ext cx="2286000" cy="1097280"/>
          </a:xfrm>
          <a:prstGeom prst="roundRect">
            <a:avLst>
              <a:gd name="adj" fmla="val 10000"/>
            </a:avLst>
          </a:prstGeom>
          <a:solidFill>
            <a:srgbClr val="2563EB"/>
          </a:solidFill>
          <a:ln/>
        </p:spPr>
      </p:sp>
      <p:sp>
        <p:nvSpPr>
          <p:cNvPr id="9" name="Text 7"/>
          <p:cNvSpPr/>
          <p:nvPr/>
        </p:nvSpPr>
        <p:spPr>
          <a:xfrm>
            <a:off x="457200" y="2788920"/>
            <a:ext cx="22860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Task</a:t>
            </a:r>
            <a:endParaRPr lang="en-US" sz="1600" dirty="0"/>
          </a:p>
        </p:txBody>
      </p:sp>
      <p:sp>
        <p:nvSpPr>
          <p:cNvPr id="10" name="Shape 8"/>
          <p:cNvSpPr/>
          <p:nvPr/>
        </p:nvSpPr>
        <p:spPr>
          <a:xfrm>
            <a:off x="2926080" y="2468880"/>
            <a:ext cx="8778240" cy="1097280"/>
          </a:xfrm>
          <a:prstGeom prst="roundRect">
            <a:avLst>
              <a:gd name="adj" fmla="val 10000"/>
            </a:avLst>
          </a:prstGeom>
          <a:solidFill>
            <a:srgbClr val="F1F5F9"/>
          </a:solidFill>
          <a:ln/>
        </p:spPr>
      </p:sp>
      <p:sp>
        <p:nvSpPr>
          <p:cNvPr id="11" name="Text 9"/>
          <p:cNvSpPr/>
          <p:nvPr/>
        </p:nvSpPr>
        <p:spPr>
          <a:xfrm>
            <a:off x="3200400" y="2788920"/>
            <a:ext cx="8229600" cy="457200"/>
          </a:xfrm>
          <a:prstGeom prst="rect">
            <a:avLst/>
          </a:prstGeom>
          <a:noFill/>
          <a:ln/>
        </p:spPr>
        <p:txBody>
          <a:bodyPr wrap="square" lIns="0" tIns="0" rIns="0" bIns="0" rtlCol="0" anchor="ctr"/>
          <a:lstStyle/>
          <a:p>
            <a:pPr indent="0" marL="0">
              <a:buNone/>
            </a:pPr>
            <a:r>
              <a:rPr lang="en-US" sz="1600" dirty="0">
                <a:solidFill>
                  <a:srgbClr val="0F172A"/>
                </a:solidFill>
                <a:latin typeface="Arial" pitchFamily="34" charset="0"/>
                <a:ea typeface="Arial" pitchFamily="34" charset="-122"/>
                <a:cs typeface="Arial" pitchFamily="34" charset="-120"/>
              </a:rPr>
              <a:t>Explain what Django REST Framework is.</a:t>
            </a:r>
            <a:endParaRPr lang="en-US" sz="1600" dirty="0"/>
          </a:p>
        </p:txBody>
      </p:sp>
      <p:sp>
        <p:nvSpPr>
          <p:cNvPr id="12" name="Shape 10"/>
          <p:cNvSpPr/>
          <p:nvPr/>
        </p:nvSpPr>
        <p:spPr>
          <a:xfrm>
            <a:off x="457200" y="3703320"/>
            <a:ext cx="2286000" cy="1097280"/>
          </a:xfrm>
          <a:prstGeom prst="roundRect">
            <a:avLst>
              <a:gd name="adj" fmla="val 10000"/>
            </a:avLst>
          </a:prstGeom>
          <a:solidFill>
            <a:srgbClr val="2563EB"/>
          </a:solidFill>
          <a:ln/>
        </p:spPr>
      </p:sp>
      <p:sp>
        <p:nvSpPr>
          <p:cNvPr id="13" name="Text 11"/>
          <p:cNvSpPr/>
          <p:nvPr/>
        </p:nvSpPr>
        <p:spPr>
          <a:xfrm>
            <a:off x="457200" y="4023360"/>
            <a:ext cx="22860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Context</a:t>
            </a:r>
            <a:endParaRPr lang="en-US" sz="1600" dirty="0"/>
          </a:p>
        </p:txBody>
      </p:sp>
      <p:sp>
        <p:nvSpPr>
          <p:cNvPr id="14" name="Shape 12"/>
          <p:cNvSpPr/>
          <p:nvPr/>
        </p:nvSpPr>
        <p:spPr>
          <a:xfrm>
            <a:off x="2926080" y="3703320"/>
            <a:ext cx="8778240" cy="1097280"/>
          </a:xfrm>
          <a:prstGeom prst="roundRect">
            <a:avLst>
              <a:gd name="adj" fmla="val 10000"/>
            </a:avLst>
          </a:prstGeom>
          <a:solidFill>
            <a:srgbClr val="F1F5F9"/>
          </a:solidFill>
          <a:ln/>
        </p:spPr>
      </p:sp>
      <p:sp>
        <p:nvSpPr>
          <p:cNvPr id="15" name="Text 13"/>
          <p:cNvSpPr/>
          <p:nvPr/>
        </p:nvSpPr>
        <p:spPr>
          <a:xfrm>
            <a:off x="3200400" y="4023360"/>
            <a:ext cx="8229600" cy="457200"/>
          </a:xfrm>
          <a:prstGeom prst="rect">
            <a:avLst/>
          </a:prstGeom>
          <a:noFill/>
          <a:ln/>
        </p:spPr>
        <p:txBody>
          <a:bodyPr wrap="square" lIns="0" tIns="0" rIns="0" bIns="0" rtlCol="0" anchor="ctr"/>
          <a:lstStyle/>
          <a:p>
            <a:pPr indent="0" marL="0">
              <a:buNone/>
            </a:pPr>
            <a:r>
              <a:rPr lang="en-US" sz="1600" dirty="0">
                <a:solidFill>
                  <a:srgbClr val="0F172A"/>
                </a:solidFill>
                <a:latin typeface="Arial" pitchFamily="34" charset="0"/>
                <a:ea typeface="Arial" pitchFamily="34" charset="-122"/>
                <a:cs typeface="Arial" pitchFamily="34" charset="-120"/>
              </a:rPr>
              <a:t>The student only knows basic Python.</a:t>
            </a:r>
            <a:endParaRPr lang="en-US" sz="1600" dirty="0"/>
          </a:p>
        </p:txBody>
      </p:sp>
      <p:sp>
        <p:nvSpPr>
          <p:cNvPr id="16" name="Shape 14"/>
          <p:cNvSpPr/>
          <p:nvPr/>
        </p:nvSpPr>
        <p:spPr>
          <a:xfrm>
            <a:off x="457200" y="4937760"/>
            <a:ext cx="2286000" cy="1097280"/>
          </a:xfrm>
          <a:prstGeom prst="roundRect">
            <a:avLst>
              <a:gd name="adj" fmla="val 10000"/>
            </a:avLst>
          </a:prstGeom>
          <a:solidFill>
            <a:srgbClr val="2563EB"/>
          </a:solidFill>
          <a:ln/>
        </p:spPr>
      </p:sp>
      <p:sp>
        <p:nvSpPr>
          <p:cNvPr id="17" name="Text 15"/>
          <p:cNvSpPr/>
          <p:nvPr/>
        </p:nvSpPr>
        <p:spPr>
          <a:xfrm>
            <a:off x="457200" y="5257800"/>
            <a:ext cx="22860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Format</a:t>
            </a:r>
            <a:endParaRPr lang="en-US" sz="1600" dirty="0"/>
          </a:p>
        </p:txBody>
      </p:sp>
      <p:sp>
        <p:nvSpPr>
          <p:cNvPr id="18" name="Shape 16"/>
          <p:cNvSpPr/>
          <p:nvPr/>
        </p:nvSpPr>
        <p:spPr>
          <a:xfrm>
            <a:off x="2926080" y="4937760"/>
            <a:ext cx="8778240" cy="1097280"/>
          </a:xfrm>
          <a:prstGeom prst="roundRect">
            <a:avLst>
              <a:gd name="adj" fmla="val 10000"/>
            </a:avLst>
          </a:prstGeom>
          <a:solidFill>
            <a:srgbClr val="F1F5F9"/>
          </a:solidFill>
          <a:ln/>
        </p:spPr>
      </p:sp>
      <p:sp>
        <p:nvSpPr>
          <p:cNvPr id="19" name="Text 17"/>
          <p:cNvSpPr/>
          <p:nvPr/>
        </p:nvSpPr>
        <p:spPr>
          <a:xfrm>
            <a:off x="3200400" y="5257800"/>
            <a:ext cx="8229600" cy="457200"/>
          </a:xfrm>
          <a:prstGeom prst="rect">
            <a:avLst/>
          </a:prstGeom>
          <a:noFill/>
          <a:ln/>
        </p:spPr>
        <p:txBody>
          <a:bodyPr wrap="square" lIns="0" tIns="0" rIns="0" bIns="0" rtlCol="0" anchor="ctr"/>
          <a:lstStyle/>
          <a:p>
            <a:pPr indent="0" marL="0">
              <a:buNone/>
            </a:pPr>
            <a:r>
              <a:rPr lang="en-US" sz="1600" dirty="0">
                <a:solidFill>
                  <a:srgbClr val="0F172A"/>
                </a:solidFill>
                <a:latin typeface="Arial" pitchFamily="34" charset="0"/>
                <a:ea typeface="Arial" pitchFamily="34" charset="-122"/>
                <a:cs typeface="Arial" pitchFamily="34" charset="-120"/>
              </a:rPr>
              <a:t>Use simple English and one short example.</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indent="0" marL="0">
              <a:buNone/>
            </a:pPr>
            <a:r>
              <a:rPr lang="en-US" sz="2600" b="1" dirty="0">
                <a:solidFill>
                  <a:srgbClr val="0F172A"/>
                </a:solidFill>
                <a:latin typeface="Arial" pitchFamily="34" charset="0"/>
                <a:ea typeface="Arial" pitchFamily="34" charset="-122"/>
                <a:cs typeface="Arial" pitchFamily="34" charset="-120"/>
              </a:rPr>
              <a:t>7. System, User, Assistant</a:t>
            </a:r>
            <a:endParaRPr lang="en-US" sz="2600" dirty="0"/>
          </a:p>
        </p:txBody>
      </p:sp>
      <p:sp>
        <p:nvSpPr>
          <p:cNvPr id="3" name="Shape 1"/>
          <p:cNvSpPr/>
          <p:nvPr/>
        </p:nvSpPr>
        <p:spPr>
          <a:xfrm>
            <a:off x="457200" y="868680"/>
            <a:ext cx="1463040" cy="64008"/>
          </a:xfrm>
          <a:prstGeom prst="rect">
            <a:avLst/>
          </a:prstGeom>
          <a:solidFill>
            <a:srgbClr val="2563EB"/>
          </a:solidFill>
          <a:ln/>
        </p:spPr>
      </p:sp>
      <p:sp>
        <p:nvSpPr>
          <p:cNvPr id="4" name="Text 2"/>
          <p:cNvSpPr/>
          <p:nvPr/>
        </p:nvSpPr>
        <p:spPr>
          <a:xfrm>
            <a:off x="457200" y="1143000"/>
            <a:ext cx="10972800" cy="365760"/>
          </a:xfrm>
          <a:prstGeom prst="rect">
            <a:avLst/>
          </a:prstGeom>
          <a:noFill/>
          <a:ln/>
        </p:spPr>
        <p:txBody>
          <a:bodyPr wrap="square" lIns="0" tIns="0" rIns="0" bIns="0" rtlCol="0" anchor="ctr"/>
          <a:lstStyle/>
          <a:p>
            <a:pPr indent="0" marL="0">
              <a:buNone/>
            </a:pPr>
            <a:r>
              <a:rPr lang="en-US" sz="1500" dirty="0">
                <a:solidFill>
                  <a:srgbClr val="64748B"/>
                </a:solidFill>
                <a:latin typeface="Arial" pitchFamily="34" charset="0"/>
                <a:ea typeface="Arial" pitchFamily="34" charset="-122"/>
                <a:cs typeface="Arial" pitchFamily="34" charset="-120"/>
              </a:rPr>
              <a:t>Most AI chats use three types of messages:</a:t>
            </a:r>
            <a:endParaRPr lang="en-US" sz="1500" dirty="0"/>
          </a:p>
        </p:txBody>
      </p:sp>
      <p:sp>
        <p:nvSpPr>
          <p:cNvPr id="5" name="Shape 3"/>
          <p:cNvSpPr/>
          <p:nvPr/>
        </p:nvSpPr>
        <p:spPr>
          <a:xfrm>
            <a:off x="457200" y="1691640"/>
            <a:ext cx="2560320" cy="1371600"/>
          </a:xfrm>
          <a:prstGeom prst="roundRect">
            <a:avLst>
              <a:gd name="adj" fmla="val 8000"/>
            </a:avLst>
          </a:prstGeom>
          <a:solidFill>
            <a:srgbClr val="7C3AED"/>
          </a:solidFill>
          <a:ln/>
        </p:spPr>
      </p:sp>
      <p:sp>
        <p:nvSpPr>
          <p:cNvPr id="6" name="Text 4"/>
          <p:cNvSpPr/>
          <p:nvPr/>
        </p:nvSpPr>
        <p:spPr>
          <a:xfrm>
            <a:off x="457200" y="2148840"/>
            <a:ext cx="256032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System</a:t>
            </a:r>
            <a:endParaRPr lang="en-US" sz="1800" dirty="0"/>
          </a:p>
        </p:txBody>
      </p:sp>
      <p:sp>
        <p:nvSpPr>
          <p:cNvPr id="7" name="Shape 5"/>
          <p:cNvSpPr/>
          <p:nvPr/>
        </p:nvSpPr>
        <p:spPr>
          <a:xfrm>
            <a:off x="3200400" y="1691640"/>
            <a:ext cx="8503920" cy="1371600"/>
          </a:xfrm>
          <a:prstGeom prst="roundRect">
            <a:avLst>
              <a:gd name="adj" fmla="val 8000"/>
            </a:avLst>
          </a:prstGeom>
          <a:solidFill>
            <a:srgbClr val="F1F5F9"/>
          </a:solidFill>
          <a:ln/>
        </p:spPr>
      </p:sp>
      <p:sp>
        <p:nvSpPr>
          <p:cNvPr id="8" name="Text 6"/>
          <p:cNvSpPr/>
          <p:nvPr/>
        </p:nvSpPr>
        <p:spPr>
          <a:xfrm>
            <a:off x="3474720" y="1965960"/>
            <a:ext cx="7955280" cy="914400"/>
          </a:xfrm>
          <a:prstGeom prst="rect">
            <a:avLst/>
          </a:prstGeom>
          <a:noFill/>
          <a:ln/>
        </p:spPr>
        <p:txBody>
          <a:bodyPr wrap="square" lIns="0" tIns="0" rIns="0" bIns="0" rtlCol="0" anchor="ctr"/>
          <a:lstStyle/>
          <a:p>
            <a:pPr indent="0" marL="0">
              <a:buNone/>
            </a:pPr>
            <a:r>
              <a:rPr lang="en-US" sz="1500" dirty="0">
                <a:solidFill>
                  <a:srgbClr val="1E293B"/>
                </a:solidFill>
                <a:latin typeface="Arial" pitchFamily="34" charset="0"/>
                <a:ea typeface="Arial" pitchFamily="34" charset="-122"/>
                <a:cs typeface="Arial" pitchFamily="34" charset="-120"/>
              </a:rPr>
              <a:t>Hidden instructions written by the developer.</a:t>
            </a:r>
            <a:endParaRPr lang="en-US" sz="1500" dirty="0"/>
          </a:p>
          <a:p>
            <a:pPr indent="0" marL="0">
              <a:buNone/>
            </a:pPr>
            <a:r>
              <a:rPr lang="en-US" sz="1500" dirty="0">
                <a:solidFill>
                  <a:srgbClr val="1E293B"/>
                </a:solidFill>
                <a:latin typeface="Arial" pitchFamily="34" charset="0"/>
                <a:ea typeface="Arial" pitchFamily="34" charset="-122"/>
                <a:cs typeface="Arial" pitchFamily="34" charset="-120"/>
              </a:rPr>
              <a:t>Tells the AI how to behave.</a:t>
            </a:r>
            <a:endParaRPr lang="en-US" sz="1500" dirty="0"/>
          </a:p>
          <a:p>
            <a:pPr indent="0" marL="0">
              <a:buNone/>
            </a:pPr>
            <a:r>
              <a:rPr lang="en-US" sz="1500" dirty="0">
                <a:solidFill>
                  <a:srgbClr val="1E293B"/>
                </a:solidFill>
                <a:latin typeface="Arial" pitchFamily="34" charset="0"/>
                <a:ea typeface="Arial" pitchFamily="34" charset="-122"/>
                <a:cs typeface="Arial" pitchFamily="34" charset="-120"/>
              </a:rPr>
              <a:t>Example: “You are a helpful support agent.”</a:t>
            </a:r>
            <a:endParaRPr lang="en-US" sz="1500" dirty="0"/>
          </a:p>
        </p:txBody>
      </p:sp>
      <p:sp>
        <p:nvSpPr>
          <p:cNvPr id="9" name="Shape 7"/>
          <p:cNvSpPr/>
          <p:nvPr/>
        </p:nvSpPr>
        <p:spPr>
          <a:xfrm>
            <a:off x="457200" y="3246120"/>
            <a:ext cx="2560320" cy="1371600"/>
          </a:xfrm>
          <a:prstGeom prst="roundRect">
            <a:avLst>
              <a:gd name="adj" fmla="val 8000"/>
            </a:avLst>
          </a:prstGeom>
          <a:solidFill>
            <a:srgbClr val="2563EB"/>
          </a:solidFill>
          <a:ln/>
        </p:spPr>
      </p:sp>
      <p:sp>
        <p:nvSpPr>
          <p:cNvPr id="10" name="Text 8"/>
          <p:cNvSpPr/>
          <p:nvPr/>
        </p:nvSpPr>
        <p:spPr>
          <a:xfrm>
            <a:off x="457200" y="3703320"/>
            <a:ext cx="256032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User</a:t>
            </a:r>
            <a:endParaRPr lang="en-US" sz="1800" dirty="0"/>
          </a:p>
        </p:txBody>
      </p:sp>
      <p:sp>
        <p:nvSpPr>
          <p:cNvPr id="11" name="Shape 9"/>
          <p:cNvSpPr/>
          <p:nvPr/>
        </p:nvSpPr>
        <p:spPr>
          <a:xfrm>
            <a:off x="3200400" y="3246120"/>
            <a:ext cx="8503920" cy="1371600"/>
          </a:xfrm>
          <a:prstGeom prst="roundRect">
            <a:avLst>
              <a:gd name="adj" fmla="val 8000"/>
            </a:avLst>
          </a:prstGeom>
          <a:solidFill>
            <a:srgbClr val="F1F5F9"/>
          </a:solidFill>
          <a:ln/>
        </p:spPr>
      </p:sp>
      <p:sp>
        <p:nvSpPr>
          <p:cNvPr id="12" name="Text 10"/>
          <p:cNvSpPr/>
          <p:nvPr/>
        </p:nvSpPr>
        <p:spPr>
          <a:xfrm>
            <a:off x="3474720" y="3520440"/>
            <a:ext cx="7955280" cy="914400"/>
          </a:xfrm>
          <a:prstGeom prst="rect">
            <a:avLst/>
          </a:prstGeom>
          <a:noFill/>
          <a:ln/>
        </p:spPr>
        <p:txBody>
          <a:bodyPr wrap="square" lIns="0" tIns="0" rIns="0" bIns="0" rtlCol="0" anchor="ctr"/>
          <a:lstStyle/>
          <a:p>
            <a:pPr indent="0" marL="0">
              <a:buNone/>
            </a:pPr>
            <a:r>
              <a:rPr lang="en-US" sz="1500" dirty="0">
                <a:solidFill>
                  <a:srgbClr val="1E293B"/>
                </a:solidFill>
                <a:latin typeface="Arial" pitchFamily="34" charset="0"/>
                <a:ea typeface="Arial" pitchFamily="34" charset="-122"/>
                <a:cs typeface="Arial" pitchFamily="34" charset="-120"/>
              </a:rPr>
              <a:t>This is YOU.</a:t>
            </a:r>
            <a:endParaRPr lang="en-US" sz="1500" dirty="0"/>
          </a:p>
          <a:p>
            <a:pPr indent="0" marL="0">
              <a:buNone/>
            </a:pPr>
            <a:r>
              <a:rPr lang="en-US" sz="1500" dirty="0">
                <a:solidFill>
                  <a:srgbClr val="1E293B"/>
                </a:solidFill>
                <a:latin typeface="Arial" pitchFamily="34" charset="0"/>
                <a:ea typeface="Arial" pitchFamily="34" charset="-122"/>
                <a:cs typeface="Arial" pitchFamily="34" charset="-120"/>
              </a:rPr>
              <a:t>Your questions and messages.</a:t>
            </a:r>
            <a:endParaRPr lang="en-US" sz="1500" dirty="0"/>
          </a:p>
        </p:txBody>
      </p:sp>
      <p:sp>
        <p:nvSpPr>
          <p:cNvPr id="13" name="Shape 11"/>
          <p:cNvSpPr/>
          <p:nvPr/>
        </p:nvSpPr>
        <p:spPr>
          <a:xfrm>
            <a:off x="457200" y="4800600"/>
            <a:ext cx="2560320" cy="1371600"/>
          </a:xfrm>
          <a:prstGeom prst="roundRect">
            <a:avLst>
              <a:gd name="adj" fmla="val 8000"/>
            </a:avLst>
          </a:prstGeom>
          <a:solidFill>
            <a:srgbClr val="0D9488"/>
          </a:solidFill>
          <a:ln/>
        </p:spPr>
      </p:sp>
      <p:sp>
        <p:nvSpPr>
          <p:cNvPr id="14" name="Text 12"/>
          <p:cNvSpPr/>
          <p:nvPr/>
        </p:nvSpPr>
        <p:spPr>
          <a:xfrm>
            <a:off x="457200" y="5257800"/>
            <a:ext cx="256032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Assistant</a:t>
            </a:r>
            <a:endParaRPr lang="en-US" sz="1800" dirty="0"/>
          </a:p>
        </p:txBody>
      </p:sp>
      <p:sp>
        <p:nvSpPr>
          <p:cNvPr id="15" name="Shape 13"/>
          <p:cNvSpPr/>
          <p:nvPr/>
        </p:nvSpPr>
        <p:spPr>
          <a:xfrm>
            <a:off x="3200400" y="4800600"/>
            <a:ext cx="8503920" cy="1371600"/>
          </a:xfrm>
          <a:prstGeom prst="roundRect">
            <a:avLst>
              <a:gd name="adj" fmla="val 8000"/>
            </a:avLst>
          </a:prstGeom>
          <a:solidFill>
            <a:srgbClr val="F1F5F9"/>
          </a:solidFill>
          <a:ln/>
        </p:spPr>
      </p:sp>
      <p:sp>
        <p:nvSpPr>
          <p:cNvPr id="16" name="Text 14"/>
          <p:cNvSpPr/>
          <p:nvPr/>
        </p:nvSpPr>
        <p:spPr>
          <a:xfrm>
            <a:off x="3474720" y="5074920"/>
            <a:ext cx="7955280" cy="914400"/>
          </a:xfrm>
          <a:prstGeom prst="rect">
            <a:avLst/>
          </a:prstGeom>
          <a:noFill/>
          <a:ln/>
        </p:spPr>
        <p:txBody>
          <a:bodyPr wrap="square" lIns="0" tIns="0" rIns="0" bIns="0" rtlCol="0" anchor="ctr"/>
          <a:lstStyle/>
          <a:p>
            <a:pPr indent="0" marL="0">
              <a:buNone/>
            </a:pPr>
            <a:r>
              <a:rPr lang="en-US" sz="1500" dirty="0">
                <a:solidFill>
                  <a:srgbClr val="1E293B"/>
                </a:solidFill>
                <a:latin typeface="Arial" pitchFamily="34" charset="0"/>
                <a:ea typeface="Arial" pitchFamily="34" charset="-122"/>
                <a:cs typeface="Arial" pitchFamily="34" charset="-120"/>
              </a:rPr>
              <a:t>This is the AI’s answer.</a:t>
            </a:r>
            <a:endParaRPr lang="en-US" sz="1500" dirty="0"/>
          </a:p>
          <a:p>
            <a:pPr indent="0" marL="0">
              <a:buNone/>
            </a:pPr>
            <a:r>
              <a:rPr lang="en-US" sz="1500" dirty="0">
                <a:solidFill>
                  <a:srgbClr val="1E293B"/>
                </a:solidFill>
                <a:latin typeface="Arial" pitchFamily="34" charset="0"/>
                <a:ea typeface="Arial" pitchFamily="34" charset="-122"/>
                <a:cs typeface="Arial" pitchFamily="34" charset="-120"/>
              </a:rPr>
              <a:t>It becomes part of the chat history.</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indent="0" marL="0">
              <a:buNone/>
            </a:pPr>
            <a:r>
              <a:rPr lang="en-US" sz="2600" b="1" dirty="0">
                <a:solidFill>
                  <a:srgbClr val="0F172A"/>
                </a:solidFill>
                <a:latin typeface="Arial" pitchFamily="34" charset="0"/>
                <a:ea typeface="Arial" pitchFamily="34" charset="-122"/>
                <a:cs typeface="Arial" pitchFamily="34" charset="-120"/>
              </a:rPr>
              <a:t>8. Temperature — How Creative is the AI?</a:t>
            </a:r>
            <a:endParaRPr lang="en-US" sz="2600" dirty="0"/>
          </a:p>
        </p:txBody>
      </p:sp>
      <p:sp>
        <p:nvSpPr>
          <p:cNvPr id="3" name="Shape 1"/>
          <p:cNvSpPr/>
          <p:nvPr/>
        </p:nvSpPr>
        <p:spPr>
          <a:xfrm>
            <a:off x="457200" y="868680"/>
            <a:ext cx="1463040" cy="64008"/>
          </a:xfrm>
          <a:prstGeom prst="rect">
            <a:avLst/>
          </a:prstGeom>
          <a:solidFill>
            <a:srgbClr val="2563EB"/>
          </a:solidFill>
          <a:ln/>
        </p:spPr>
      </p:sp>
      <p:sp>
        <p:nvSpPr>
          <p:cNvPr id="4" name="Shape 2"/>
          <p:cNvSpPr/>
          <p:nvPr/>
        </p:nvSpPr>
        <p:spPr>
          <a:xfrm>
            <a:off x="457200" y="1188720"/>
            <a:ext cx="11247120" cy="1188720"/>
          </a:xfrm>
          <a:prstGeom prst="roundRect">
            <a:avLst>
              <a:gd name="adj" fmla="val 9231"/>
            </a:avLst>
          </a:prstGeom>
          <a:solidFill>
            <a:srgbClr val="F1F5F9"/>
          </a:solidFill>
          <a:ln/>
        </p:spPr>
      </p:sp>
      <p:sp>
        <p:nvSpPr>
          <p:cNvPr id="5" name="Text 3"/>
          <p:cNvSpPr/>
          <p:nvPr/>
        </p:nvSpPr>
        <p:spPr>
          <a:xfrm>
            <a:off x="822960" y="1508760"/>
            <a:ext cx="10515600" cy="548640"/>
          </a:xfrm>
          <a:prstGeom prst="rect">
            <a:avLst/>
          </a:prstGeom>
          <a:noFill/>
          <a:ln/>
        </p:spPr>
        <p:txBody>
          <a:bodyPr wrap="square" lIns="0" tIns="0" rIns="0" bIns="0" rtlCol="0" anchor="ctr"/>
          <a:lstStyle/>
          <a:p>
            <a:pPr indent="0" marL="0">
              <a:buNone/>
            </a:pPr>
            <a:r>
              <a:rPr lang="en-US" sz="1800" dirty="0">
                <a:solidFill>
                  <a:srgbClr val="0F172A"/>
                </a:solidFill>
                <a:latin typeface="Arial" pitchFamily="34" charset="0"/>
                <a:ea typeface="Arial" pitchFamily="34" charset="-122"/>
                <a:cs typeface="Arial" pitchFamily="34" charset="-120"/>
              </a:rPr>
              <a:t>Temperature controls how random or creative the answers are.</a:t>
            </a:r>
            <a:endParaRPr lang="en-US" sz="1800" dirty="0"/>
          </a:p>
        </p:txBody>
      </p:sp>
      <p:sp>
        <p:nvSpPr>
          <p:cNvPr id="6" name="Shape 4"/>
          <p:cNvSpPr/>
          <p:nvPr/>
        </p:nvSpPr>
        <p:spPr>
          <a:xfrm>
            <a:off x="457200" y="2651760"/>
            <a:ext cx="5394960" cy="3474720"/>
          </a:xfrm>
          <a:prstGeom prst="roundRect">
            <a:avLst>
              <a:gd name="adj" fmla="val 3158"/>
            </a:avLst>
          </a:prstGeom>
          <a:solidFill>
            <a:srgbClr val="D1FAE5"/>
          </a:solidFill>
          <a:ln/>
        </p:spPr>
      </p:sp>
      <p:sp>
        <p:nvSpPr>
          <p:cNvPr id="7" name="Text 5"/>
          <p:cNvSpPr/>
          <p:nvPr/>
        </p:nvSpPr>
        <p:spPr>
          <a:xfrm>
            <a:off x="731520" y="2880360"/>
            <a:ext cx="4846320" cy="731520"/>
          </a:xfrm>
          <a:prstGeom prst="rect">
            <a:avLst/>
          </a:prstGeom>
          <a:noFill/>
          <a:ln/>
        </p:spPr>
        <p:txBody>
          <a:bodyPr wrap="square" lIns="0" tIns="0" rIns="0" bIns="0" rtlCol="0" anchor="ctr"/>
          <a:lstStyle/>
          <a:p>
            <a:pPr indent="0" marL="0">
              <a:buNone/>
            </a:pPr>
            <a:r>
              <a:rPr lang="en-US" sz="1800" b="1" dirty="0">
                <a:solidFill>
                  <a:srgbClr val="059669"/>
                </a:solidFill>
                <a:latin typeface="Arial" pitchFamily="34" charset="0"/>
                <a:ea typeface="Arial" pitchFamily="34" charset="-122"/>
                <a:cs typeface="Arial" pitchFamily="34" charset="-120"/>
              </a:rPr>
              <a:t>Low Temperature</a:t>
            </a:r>
            <a:endParaRPr lang="en-US" sz="1800" dirty="0"/>
          </a:p>
          <a:p>
            <a:pPr indent="0" marL="0">
              <a:buNone/>
            </a:pPr>
            <a:r>
              <a:rPr lang="en-US" sz="1800" b="1" dirty="0">
                <a:solidFill>
                  <a:srgbClr val="059669"/>
                </a:solidFill>
                <a:latin typeface="Arial" pitchFamily="34" charset="0"/>
                <a:ea typeface="Arial" pitchFamily="34" charset="-122"/>
                <a:cs typeface="Arial" pitchFamily="34" charset="-120"/>
              </a:rPr>
              <a:t>(0 – 0.3)</a:t>
            </a:r>
            <a:endParaRPr lang="en-US" sz="1800" dirty="0"/>
          </a:p>
        </p:txBody>
      </p:sp>
      <p:sp>
        <p:nvSpPr>
          <p:cNvPr id="8" name="Text 6"/>
          <p:cNvSpPr/>
          <p:nvPr/>
        </p:nvSpPr>
        <p:spPr>
          <a:xfrm>
            <a:off x="731520" y="3840480"/>
            <a:ext cx="4846320" cy="2011680"/>
          </a:xfrm>
          <a:prstGeom prst="rect">
            <a:avLst/>
          </a:prstGeom>
          <a:noFill/>
          <a:ln/>
        </p:spPr>
        <p:txBody>
          <a:bodyPr wrap="square" lIns="0" tIns="0" rIns="0" bIns="0" rtlCol="0" anchor="ctr"/>
          <a:lstStyle/>
          <a:p>
            <a:pPr indent="0" marL="0">
              <a:buNone/>
            </a:pPr>
            <a:r>
              <a:rPr lang="en-US" sz="1500" dirty="0">
                <a:solidFill>
                  <a:srgbClr val="1E293B"/>
                </a:solidFill>
                <a:latin typeface="Arial" pitchFamily="34" charset="0"/>
                <a:ea typeface="Arial" pitchFamily="34" charset="-122"/>
                <a:cs typeface="Arial" pitchFamily="34" charset="-120"/>
              </a:rPr>
              <a:t>• More focused</a:t>
            </a:r>
            <a:endParaRPr lang="en-US" sz="1500" dirty="0"/>
          </a:p>
          <a:p>
            <a:pPr indent="0" marL="0">
              <a:buNone/>
            </a:pPr>
            <a:r>
              <a:rPr lang="en-US" sz="1500" dirty="0">
                <a:solidFill>
                  <a:srgbClr val="1E293B"/>
                </a:solidFill>
                <a:latin typeface="Arial" pitchFamily="34" charset="0"/>
                <a:ea typeface="Arial" pitchFamily="34" charset="-122"/>
                <a:cs typeface="Arial" pitchFamily="34" charset="-120"/>
              </a:rPr>
              <a:t>• More predictable</a:t>
            </a:r>
            <a:endParaRPr lang="en-US" sz="1500" dirty="0"/>
          </a:p>
          <a:p>
            <a:pPr indent="0" marL="0">
              <a:buNone/>
            </a:pPr>
            <a:r>
              <a:rPr lang="en-US" sz="1500" dirty="0">
                <a:solidFill>
                  <a:srgbClr val="1E293B"/>
                </a:solidFill>
                <a:latin typeface="Arial" pitchFamily="34" charset="0"/>
                <a:ea typeface="Arial" pitchFamily="34" charset="-122"/>
                <a:cs typeface="Arial" pitchFamily="34" charset="-120"/>
              </a:rPr>
              <a:t>• Better for facts</a:t>
            </a:r>
            <a:endParaRPr lang="en-US" sz="1500" dirty="0"/>
          </a:p>
          <a:p>
            <a:pPr indent="0" marL="0">
              <a:buNone/>
            </a:pPr>
            <a:r>
              <a:rPr lang="en-US" sz="1500" dirty="0">
                <a:solidFill>
                  <a:srgbClr val="1E293B"/>
                </a:solidFill>
                <a:latin typeface="Arial" pitchFamily="34" charset="0"/>
                <a:ea typeface="Arial" pitchFamily="34" charset="-122"/>
                <a:cs typeface="Arial" pitchFamily="34" charset="-120"/>
              </a:rPr>
              <a:t>• Better for code</a:t>
            </a:r>
            <a:endParaRPr lang="en-US" sz="1500" dirty="0"/>
          </a:p>
          <a:p>
            <a:pPr indent="0" marL="0">
              <a:buNone/>
            </a:pPr>
            <a:r>
              <a:rPr lang="en-US" sz="1500" dirty="0">
                <a:solidFill>
                  <a:srgbClr val="1E293B"/>
                </a:solidFill>
                <a:latin typeface="Arial" pitchFamily="34" charset="0"/>
                <a:ea typeface="Arial" pitchFamily="34" charset="-122"/>
                <a:cs typeface="Arial" pitchFamily="34" charset="-120"/>
              </a:rPr>
              <a:t>• Safer answers</a:t>
            </a:r>
            <a:endParaRPr lang="en-US" sz="1500" dirty="0"/>
          </a:p>
        </p:txBody>
      </p:sp>
      <p:sp>
        <p:nvSpPr>
          <p:cNvPr id="9" name="Shape 7"/>
          <p:cNvSpPr/>
          <p:nvPr/>
        </p:nvSpPr>
        <p:spPr>
          <a:xfrm>
            <a:off x="6309360" y="2651760"/>
            <a:ext cx="5394960" cy="3474720"/>
          </a:xfrm>
          <a:prstGeom prst="roundRect">
            <a:avLst>
              <a:gd name="adj" fmla="val 3158"/>
            </a:avLst>
          </a:prstGeom>
          <a:solidFill>
            <a:srgbClr val="FFEDD5"/>
          </a:solidFill>
          <a:ln/>
        </p:spPr>
      </p:sp>
      <p:sp>
        <p:nvSpPr>
          <p:cNvPr id="10" name="Text 8"/>
          <p:cNvSpPr/>
          <p:nvPr/>
        </p:nvSpPr>
        <p:spPr>
          <a:xfrm>
            <a:off x="6583680" y="2880360"/>
            <a:ext cx="4846320" cy="731520"/>
          </a:xfrm>
          <a:prstGeom prst="rect">
            <a:avLst/>
          </a:prstGeom>
          <a:noFill/>
          <a:ln/>
        </p:spPr>
        <p:txBody>
          <a:bodyPr wrap="square" lIns="0" tIns="0" rIns="0" bIns="0" rtlCol="0" anchor="ctr"/>
          <a:lstStyle/>
          <a:p>
            <a:pPr indent="0" marL="0">
              <a:buNone/>
            </a:pPr>
            <a:r>
              <a:rPr lang="en-US" sz="1800" b="1" dirty="0">
                <a:solidFill>
                  <a:srgbClr val="EA580C"/>
                </a:solidFill>
                <a:latin typeface="Arial" pitchFamily="34" charset="0"/>
                <a:ea typeface="Arial" pitchFamily="34" charset="-122"/>
                <a:cs typeface="Arial" pitchFamily="34" charset="-120"/>
              </a:rPr>
              <a:t>High Temperature</a:t>
            </a:r>
            <a:endParaRPr lang="en-US" sz="1800" dirty="0"/>
          </a:p>
          <a:p>
            <a:pPr indent="0" marL="0">
              <a:buNone/>
            </a:pPr>
            <a:r>
              <a:rPr lang="en-US" sz="1800" b="1" dirty="0">
                <a:solidFill>
                  <a:srgbClr val="EA580C"/>
                </a:solidFill>
                <a:latin typeface="Arial" pitchFamily="34" charset="0"/>
                <a:ea typeface="Arial" pitchFamily="34" charset="-122"/>
                <a:cs typeface="Arial" pitchFamily="34" charset="-120"/>
              </a:rPr>
              <a:t>(0.7 – 1.2)</a:t>
            </a:r>
            <a:endParaRPr lang="en-US" sz="1800" dirty="0"/>
          </a:p>
        </p:txBody>
      </p:sp>
      <p:sp>
        <p:nvSpPr>
          <p:cNvPr id="11" name="Text 9"/>
          <p:cNvSpPr/>
          <p:nvPr/>
        </p:nvSpPr>
        <p:spPr>
          <a:xfrm>
            <a:off x="6583680" y="3840480"/>
            <a:ext cx="4846320" cy="2011680"/>
          </a:xfrm>
          <a:prstGeom prst="rect">
            <a:avLst/>
          </a:prstGeom>
          <a:noFill/>
          <a:ln/>
        </p:spPr>
        <p:txBody>
          <a:bodyPr wrap="square" lIns="0" tIns="0" rIns="0" bIns="0" rtlCol="0" anchor="ctr"/>
          <a:lstStyle/>
          <a:p>
            <a:pPr indent="0" marL="0">
              <a:buNone/>
            </a:pPr>
            <a:r>
              <a:rPr lang="en-US" sz="1500" dirty="0">
                <a:solidFill>
                  <a:srgbClr val="1E293B"/>
                </a:solidFill>
                <a:latin typeface="Arial" pitchFamily="34" charset="0"/>
                <a:ea typeface="Arial" pitchFamily="34" charset="-122"/>
                <a:cs typeface="Arial" pitchFamily="34" charset="-120"/>
              </a:rPr>
              <a:t>• More creative</a:t>
            </a:r>
            <a:endParaRPr lang="en-US" sz="1500" dirty="0"/>
          </a:p>
          <a:p>
            <a:pPr indent="0" marL="0">
              <a:buNone/>
            </a:pPr>
            <a:r>
              <a:rPr lang="en-US" sz="1500" dirty="0">
                <a:solidFill>
                  <a:srgbClr val="1E293B"/>
                </a:solidFill>
                <a:latin typeface="Arial" pitchFamily="34" charset="0"/>
                <a:ea typeface="Arial" pitchFamily="34" charset="-122"/>
                <a:cs typeface="Arial" pitchFamily="34" charset="-120"/>
              </a:rPr>
              <a:t>• More variety</a:t>
            </a:r>
            <a:endParaRPr lang="en-US" sz="1500" dirty="0"/>
          </a:p>
          <a:p>
            <a:pPr indent="0" marL="0">
              <a:buNone/>
            </a:pPr>
            <a:r>
              <a:rPr lang="en-US" sz="1500" dirty="0">
                <a:solidFill>
                  <a:srgbClr val="1E293B"/>
                </a:solidFill>
                <a:latin typeface="Arial" pitchFamily="34" charset="0"/>
                <a:ea typeface="Arial" pitchFamily="34" charset="-122"/>
                <a:cs typeface="Arial" pitchFamily="34" charset="-120"/>
              </a:rPr>
              <a:t>• Good for ideas</a:t>
            </a:r>
            <a:endParaRPr lang="en-US" sz="1500" dirty="0"/>
          </a:p>
          <a:p>
            <a:pPr indent="0" marL="0">
              <a:buNone/>
            </a:pPr>
            <a:r>
              <a:rPr lang="en-US" sz="1500" dirty="0">
                <a:solidFill>
                  <a:srgbClr val="1E293B"/>
                </a:solidFill>
                <a:latin typeface="Arial" pitchFamily="34" charset="0"/>
                <a:ea typeface="Arial" pitchFamily="34" charset="-122"/>
                <a:cs typeface="Arial" pitchFamily="34" charset="-120"/>
              </a:rPr>
              <a:t>• Can be less accurate</a:t>
            </a:r>
            <a:endParaRPr lang="en-US" sz="1500" dirty="0"/>
          </a:p>
          <a:p>
            <a:pPr indent="0" marL="0">
              <a:buNone/>
            </a:pPr>
            <a:r>
              <a:rPr lang="en-US" sz="1500" dirty="0">
                <a:solidFill>
                  <a:srgbClr val="1E293B"/>
                </a:solidFill>
                <a:latin typeface="Arial" pitchFamily="34" charset="0"/>
                <a:ea typeface="Arial" pitchFamily="34" charset="-122"/>
                <a:cs typeface="Arial" pitchFamily="34" charset="-120"/>
              </a:rPr>
              <a:t>• Higher chance of mistakes</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indent="0" marL="0">
              <a:buNone/>
            </a:pPr>
            <a:r>
              <a:rPr lang="en-US" sz="2600" b="1" dirty="0">
                <a:solidFill>
                  <a:srgbClr val="0F172A"/>
                </a:solidFill>
                <a:latin typeface="Arial" pitchFamily="34" charset="0"/>
                <a:ea typeface="Arial" pitchFamily="34" charset="-122"/>
                <a:cs typeface="Arial" pitchFamily="34" charset="-120"/>
              </a:rPr>
              <a:t>9. Transformer — The Engine Inside</a:t>
            </a:r>
            <a:endParaRPr lang="en-US" sz="2600" dirty="0"/>
          </a:p>
        </p:txBody>
      </p:sp>
      <p:sp>
        <p:nvSpPr>
          <p:cNvPr id="3" name="Shape 1"/>
          <p:cNvSpPr/>
          <p:nvPr/>
        </p:nvSpPr>
        <p:spPr>
          <a:xfrm>
            <a:off x="457200" y="868680"/>
            <a:ext cx="1463040" cy="64008"/>
          </a:xfrm>
          <a:prstGeom prst="rect">
            <a:avLst/>
          </a:prstGeom>
          <a:solidFill>
            <a:srgbClr val="2563EB"/>
          </a:solidFill>
          <a:ln/>
        </p:spPr>
      </p:sp>
      <p:sp>
        <p:nvSpPr>
          <p:cNvPr id="4" name="Shape 2"/>
          <p:cNvSpPr/>
          <p:nvPr/>
        </p:nvSpPr>
        <p:spPr>
          <a:xfrm>
            <a:off x="457200" y="1188720"/>
            <a:ext cx="11247120" cy="1188720"/>
          </a:xfrm>
          <a:prstGeom prst="roundRect">
            <a:avLst>
              <a:gd name="adj" fmla="val 9231"/>
            </a:avLst>
          </a:prstGeom>
          <a:solidFill>
            <a:srgbClr val="EDE9FE"/>
          </a:solidFill>
          <a:ln/>
        </p:spPr>
      </p:sp>
      <p:sp>
        <p:nvSpPr>
          <p:cNvPr id="5" name="Text 3"/>
          <p:cNvSpPr/>
          <p:nvPr/>
        </p:nvSpPr>
        <p:spPr>
          <a:xfrm>
            <a:off x="822960" y="1417320"/>
            <a:ext cx="10515600" cy="777240"/>
          </a:xfrm>
          <a:prstGeom prst="rect">
            <a:avLst/>
          </a:prstGeom>
          <a:noFill/>
          <a:ln/>
        </p:spPr>
        <p:txBody>
          <a:bodyPr wrap="square" lIns="0" tIns="0" rIns="0" bIns="0" rtlCol="0" anchor="ctr"/>
          <a:lstStyle/>
          <a:p>
            <a:pPr indent="0" marL="0">
              <a:buNone/>
            </a:pPr>
            <a:r>
              <a:rPr lang="en-US" sz="1700" dirty="0">
                <a:solidFill>
                  <a:srgbClr val="0F172A"/>
                </a:solidFill>
                <a:latin typeface="Arial" pitchFamily="34" charset="0"/>
                <a:ea typeface="Arial" pitchFamily="34" charset="-122"/>
                <a:cs typeface="Arial" pitchFamily="34" charset="-120"/>
              </a:rPr>
              <a:t>You do not need the math.</a:t>
            </a:r>
            <a:endParaRPr lang="en-US" sz="1700" dirty="0"/>
          </a:p>
          <a:p>
            <a:pPr indent="0" marL="0">
              <a:buNone/>
            </a:pPr>
            <a:r>
              <a:rPr lang="en-US" sz="1700" dirty="0">
                <a:solidFill>
                  <a:srgbClr val="0F172A"/>
                </a:solidFill>
                <a:latin typeface="Arial" pitchFamily="34" charset="0"/>
                <a:ea typeface="Arial" pitchFamily="34" charset="-122"/>
                <a:cs typeface="Arial" pitchFamily="34" charset="-120"/>
              </a:rPr>
              <a:t>Just know the high-level flow and the idea of Attention.</a:t>
            </a:r>
            <a:endParaRPr lang="en-US" sz="1700" dirty="0"/>
          </a:p>
        </p:txBody>
      </p:sp>
      <p:sp>
        <p:nvSpPr>
          <p:cNvPr id="6" name="Shape 4"/>
          <p:cNvSpPr/>
          <p:nvPr/>
        </p:nvSpPr>
        <p:spPr>
          <a:xfrm>
            <a:off x="457200" y="2651760"/>
            <a:ext cx="1828800" cy="1280160"/>
          </a:xfrm>
          <a:prstGeom prst="roundRect">
            <a:avLst>
              <a:gd name="adj" fmla="val 8571"/>
            </a:avLst>
          </a:prstGeom>
          <a:solidFill>
            <a:srgbClr val="2563EB"/>
          </a:solidFill>
          <a:ln/>
        </p:spPr>
      </p:sp>
      <p:sp>
        <p:nvSpPr>
          <p:cNvPr id="7" name="Text 5"/>
          <p:cNvSpPr/>
          <p:nvPr/>
        </p:nvSpPr>
        <p:spPr>
          <a:xfrm>
            <a:off x="457200" y="3017520"/>
            <a:ext cx="182880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Text</a:t>
            </a:r>
            <a:endParaRPr lang="en-US" sz="1400" dirty="0"/>
          </a:p>
        </p:txBody>
      </p:sp>
      <p:sp>
        <p:nvSpPr>
          <p:cNvPr id="8" name="Shape 6"/>
          <p:cNvSpPr/>
          <p:nvPr/>
        </p:nvSpPr>
        <p:spPr>
          <a:xfrm>
            <a:off x="2423160" y="2651760"/>
            <a:ext cx="1828800" cy="1280160"/>
          </a:xfrm>
          <a:prstGeom prst="roundRect">
            <a:avLst>
              <a:gd name="adj" fmla="val 8571"/>
            </a:avLst>
          </a:prstGeom>
          <a:solidFill>
            <a:srgbClr val="2563EB"/>
          </a:solidFill>
          <a:ln/>
        </p:spPr>
      </p:sp>
      <p:sp>
        <p:nvSpPr>
          <p:cNvPr id="9" name="Text 7"/>
          <p:cNvSpPr/>
          <p:nvPr/>
        </p:nvSpPr>
        <p:spPr>
          <a:xfrm>
            <a:off x="2423160" y="3017520"/>
            <a:ext cx="182880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Tokens</a:t>
            </a:r>
            <a:endParaRPr lang="en-US" sz="1400" dirty="0"/>
          </a:p>
        </p:txBody>
      </p:sp>
      <p:sp>
        <p:nvSpPr>
          <p:cNvPr id="10" name="Shape 8"/>
          <p:cNvSpPr/>
          <p:nvPr/>
        </p:nvSpPr>
        <p:spPr>
          <a:xfrm>
            <a:off x="4389120" y="2651760"/>
            <a:ext cx="1828800" cy="1280160"/>
          </a:xfrm>
          <a:prstGeom prst="roundRect">
            <a:avLst>
              <a:gd name="adj" fmla="val 8571"/>
            </a:avLst>
          </a:prstGeom>
          <a:solidFill>
            <a:srgbClr val="2563EB"/>
          </a:solidFill>
          <a:ln/>
        </p:spPr>
      </p:sp>
      <p:sp>
        <p:nvSpPr>
          <p:cNvPr id="11" name="Text 9"/>
          <p:cNvSpPr/>
          <p:nvPr/>
        </p:nvSpPr>
        <p:spPr>
          <a:xfrm>
            <a:off x="4389120" y="3017520"/>
            <a:ext cx="182880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Numbers</a:t>
            </a:r>
            <a:endParaRPr lang="en-US" sz="1400" dirty="0"/>
          </a:p>
        </p:txBody>
      </p:sp>
      <p:sp>
        <p:nvSpPr>
          <p:cNvPr id="12" name="Shape 10"/>
          <p:cNvSpPr/>
          <p:nvPr/>
        </p:nvSpPr>
        <p:spPr>
          <a:xfrm>
            <a:off x="6355080" y="2651760"/>
            <a:ext cx="1828800" cy="1280160"/>
          </a:xfrm>
          <a:prstGeom prst="roundRect">
            <a:avLst>
              <a:gd name="adj" fmla="val 8571"/>
            </a:avLst>
          </a:prstGeom>
          <a:solidFill>
            <a:srgbClr val="2563EB"/>
          </a:solidFill>
          <a:ln/>
        </p:spPr>
      </p:sp>
      <p:sp>
        <p:nvSpPr>
          <p:cNvPr id="13" name="Text 11"/>
          <p:cNvSpPr/>
          <p:nvPr/>
        </p:nvSpPr>
        <p:spPr>
          <a:xfrm>
            <a:off x="6355080" y="3017520"/>
            <a:ext cx="182880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Transformer</a:t>
            </a:r>
            <a:endParaRPr lang="en-US" sz="1400" dirty="0"/>
          </a:p>
        </p:txBody>
      </p:sp>
      <p:sp>
        <p:nvSpPr>
          <p:cNvPr id="14" name="Shape 12"/>
          <p:cNvSpPr/>
          <p:nvPr/>
        </p:nvSpPr>
        <p:spPr>
          <a:xfrm>
            <a:off x="8321040" y="2651760"/>
            <a:ext cx="1828800" cy="1280160"/>
          </a:xfrm>
          <a:prstGeom prst="roundRect">
            <a:avLst>
              <a:gd name="adj" fmla="val 8571"/>
            </a:avLst>
          </a:prstGeom>
          <a:solidFill>
            <a:srgbClr val="7C3AED"/>
          </a:solidFill>
          <a:ln/>
        </p:spPr>
      </p:sp>
      <p:sp>
        <p:nvSpPr>
          <p:cNvPr id="15" name="Text 13"/>
          <p:cNvSpPr/>
          <p:nvPr/>
        </p:nvSpPr>
        <p:spPr>
          <a:xfrm>
            <a:off x="8321040" y="3017520"/>
            <a:ext cx="182880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Attention</a:t>
            </a:r>
            <a:endParaRPr lang="en-US" sz="1400" dirty="0"/>
          </a:p>
        </p:txBody>
      </p:sp>
      <p:sp>
        <p:nvSpPr>
          <p:cNvPr id="16" name="Shape 14"/>
          <p:cNvSpPr/>
          <p:nvPr/>
        </p:nvSpPr>
        <p:spPr>
          <a:xfrm>
            <a:off x="10287000" y="2651760"/>
            <a:ext cx="1828800" cy="1280160"/>
          </a:xfrm>
          <a:prstGeom prst="roundRect">
            <a:avLst>
              <a:gd name="adj" fmla="val 8571"/>
            </a:avLst>
          </a:prstGeom>
          <a:solidFill>
            <a:srgbClr val="2563EB"/>
          </a:solidFill>
          <a:ln/>
        </p:spPr>
      </p:sp>
      <p:sp>
        <p:nvSpPr>
          <p:cNvPr id="17" name="Text 15"/>
          <p:cNvSpPr/>
          <p:nvPr/>
        </p:nvSpPr>
        <p:spPr>
          <a:xfrm>
            <a:off x="10287000" y="3017520"/>
            <a:ext cx="182880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Answer</a:t>
            </a:r>
            <a:endParaRPr lang="en-US" sz="1400" dirty="0"/>
          </a:p>
        </p:txBody>
      </p:sp>
      <p:sp>
        <p:nvSpPr>
          <p:cNvPr id="18" name="Shape 16"/>
          <p:cNvSpPr/>
          <p:nvPr/>
        </p:nvSpPr>
        <p:spPr>
          <a:xfrm>
            <a:off x="457200" y="4297680"/>
            <a:ext cx="11247120" cy="2011680"/>
          </a:xfrm>
          <a:prstGeom prst="roundRect">
            <a:avLst>
              <a:gd name="adj" fmla="val 5455"/>
            </a:avLst>
          </a:prstGeom>
          <a:solidFill>
            <a:srgbClr val="F1F5F9"/>
          </a:solidFill>
          <a:ln/>
        </p:spPr>
      </p:sp>
      <p:sp>
        <p:nvSpPr>
          <p:cNvPr id="19" name="Text 17"/>
          <p:cNvSpPr/>
          <p:nvPr/>
        </p:nvSpPr>
        <p:spPr>
          <a:xfrm>
            <a:off x="822960" y="4526280"/>
            <a:ext cx="10515600" cy="365760"/>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The most important idea: Attention</a:t>
            </a:r>
            <a:endParaRPr lang="en-US" sz="1600" dirty="0"/>
          </a:p>
        </p:txBody>
      </p:sp>
      <p:sp>
        <p:nvSpPr>
          <p:cNvPr id="20" name="Text 18"/>
          <p:cNvSpPr/>
          <p:nvPr/>
        </p:nvSpPr>
        <p:spPr>
          <a:xfrm>
            <a:off x="822960" y="4983480"/>
            <a:ext cx="10515600" cy="1097280"/>
          </a:xfrm>
          <a:prstGeom prst="rect">
            <a:avLst/>
          </a:prstGeom>
          <a:noFill/>
          <a:ln/>
        </p:spPr>
        <p:txBody>
          <a:bodyPr wrap="square" lIns="0" tIns="0" rIns="0" bIns="0" rtlCol="0" anchor="ctr"/>
          <a:lstStyle/>
          <a:p>
            <a:pPr indent="0" marL="0">
              <a:buNone/>
            </a:pPr>
            <a:r>
              <a:rPr lang="en-US" sz="1400" dirty="0">
                <a:solidFill>
                  <a:srgbClr val="1E293B"/>
                </a:solidFill>
                <a:latin typeface="Arial" pitchFamily="34" charset="0"/>
                <a:ea typeface="Arial" pitchFamily="34" charset="-122"/>
                <a:cs typeface="Arial" pitchFamily="34" charset="-120"/>
              </a:rPr>
              <a:t>Attention lets the model decide which words are important for understanding other words.</a:t>
            </a:r>
            <a:endParaRPr lang="en-US" sz="1400" dirty="0"/>
          </a:p>
          <a:p>
            <a:pPr indent="0" marL="0">
              <a:buNone/>
            </a:pPr>
            <a:endParaRPr lang="en-US" sz="1400" dirty="0"/>
          </a:p>
          <a:p>
            <a:pPr indent="0" marL="0">
              <a:buNone/>
            </a:pPr>
            <a:r>
              <a:rPr lang="en-US" sz="1400" dirty="0">
                <a:solidFill>
                  <a:srgbClr val="1E293B"/>
                </a:solidFill>
                <a:latin typeface="Arial" pitchFamily="34" charset="0"/>
                <a:ea typeface="Arial" pitchFamily="34" charset="-122"/>
                <a:cs typeface="Arial" pitchFamily="34" charset="-120"/>
              </a:rPr>
              <a:t>Example: “The bank approved the loan because it had enough money.”</a:t>
            </a:r>
            <a:endParaRPr lang="en-US" sz="1400" dirty="0"/>
          </a:p>
          <a:p>
            <a:pPr indent="0" marL="0">
              <a:buNone/>
            </a:pPr>
            <a:r>
              <a:rPr lang="en-US" sz="1400" dirty="0">
                <a:solidFill>
                  <a:srgbClr val="1E293B"/>
                </a:solidFill>
                <a:latin typeface="Arial" pitchFamily="34" charset="0"/>
                <a:ea typeface="Arial" pitchFamily="34" charset="-122"/>
                <a:cs typeface="Arial" pitchFamily="34" charset="-120"/>
              </a:rPr>
              <a:t>Attention helps the model know that “it” refers to the bank, not the loan.</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indent="0" marL="0">
              <a:buNone/>
            </a:pPr>
            <a:r>
              <a:rPr lang="en-US" sz="2600" b="1" dirty="0">
                <a:solidFill>
                  <a:srgbClr val="0F172A"/>
                </a:solidFill>
                <a:latin typeface="Arial" pitchFamily="34" charset="0"/>
                <a:ea typeface="Arial" pitchFamily="34" charset="-122"/>
                <a:cs typeface="Arial" pitchFamily="34" charset="-120"/>
              </a:rPr>
              <a:t>10. Embeddings — Turning Words into Numbers</a:t>
            </a:r>
            <a:endParaRPr lang="en-US" sz="2600" dirty="0"/>
          </a:p>
        </p:txBody>
      </p:sp>
      <p:sp>
        <p:nvSpPr>
          <p:cNvPr id="3" name="Shape 1"/>
          <p:cNvSpPr/>
          <p:nvPr/>
        </p:nvSpPr>
        <p:spPr>
          <a:xfrm>
            <a:off x="457200" y="868680"/>
            <a:ext cx="1463040" cy="64008"/>
          </a:xfrm>
          <a:prstGeom prst="rect">
            <a:avLst/>
          </a:prstGeom>
          <a:solidFill>
            <a:srgbClr val="2563EB"/>
          </a:solidFill>
          <a:ln/>
        </p:spPr>
      </p:sp>
      <p:sp>
        <p:nvSpPr>
          <p:cNvPr id="4" name="Shape 2"/>
          <p:cNvSpPr/>
          <p:nvPr/>
        </p:nvSpPr>
        <p:spPr>
          <a:xfrm>
            <a:off x="457200" y="1188720"/>
            <a:ext cx="11247120" cy="1371600"/>
          </a:xfrm>
          <a:prstGeom prst="roundRect">
            <a:avLst>
              <a:gd name="adj" fmla="val 8000"/>
            </a:avLst>
          </a:prstGeom>
          <a:solidFill>
            <a:srgbClr val="CCFBF1"/>
          </a:solidFill>
          <a:ln/>
        </p:spPr>
      </p:sp>
      <p:sp>
        <p:nvSpPr>
          <p:cNvPr id="5" name="Text 3"/>
          <p:cNvSpPr/>
          <p:nvPr/>
        </p:nvSpPr>
        <p:spPr>
          <a:xfrm>
            <a:off x="822960" y="1417320"/>
            <a:ext cx="10515600" cy="914400"/>
          </a:xfrm>
          <a:prstGeom prst="rect">
            <a:avLst/>
          </a:prstGeom>
          <a:noFill/>
          <a:ln/>
        </p:spPr>
        <p:txBody>
          <a:bodyPr wrap="square" lIns="0" tIns="0" rIns="0" bIns="0" rtlCol="0" anchor="ctr"/>
          <a:lstStyle/>
          <a:p>
            <a:pPr indent="0" marL="0">
              <a:buNone/>
            </a:pPr>
            <a:r>
              <a:rPr lang="en-US" sz="1700" dirty="0">
                <a:solidFill>
                  <a:srgbClr val="0F172A"/>
                </a:solidFill>
                <a:latin typeface="Arial" pitchFamily="34" charset="0"/>
                <a:ea typeface="Arial" pitchFamily="34" charset="-122"/>
                <a:cs typeface="Arial" pitchFamily="34" charset="-120"/>
              </a:rPr>
              <a:t>An embedding turns text into a list of numbers that capture the meaning.</a:t>
            </a:r>
            <a:endParaRPr lang="en-US" sz="1700" dirty="0"/>
          </a:p>
          <a:p>
            <a:pPr indent="0" marL="0">
              <a:buNone/>
            </a:pPr>
            <a:r>
              <a:rPr lang="en-US" sz="1700" dirty="0">
                <a:solidFill>
                  <a:srgbClr val="0F172A"/>
                </a:solidFill>
                <a:latin typeface="Arial" pitchFamily="34" charset="0"/>
                <a:ea typeface="Arial" pitchFamily="34" charset="-122"/>
                <a:cs typeface="Arial" pitchFamily="34" charset="-120"/>
              </a:rPr>
              <a:t>This is how AI can search by meaning, not just exact words.</a:t>
            </a:r>
            <a:endParaRPr lang="en-US" sz="1700" dirty="0"/>
          </a:p>
        </p:txBody>
      </p:sp>
      <p:sp>
        <p:nvSpPr>
          <p:cNvPr id="6" name="Shape 4"/>
          <p:cNvSpPr/>
          <p:nvPr/>
        </p:nvSpPr>
        <p:spPr>
          <a:xfrm>
            <a:off x="457200" y="2926080"/>
            <a:ext cx="3474720" cy="1645920"/>
          </a:xfrm>
          <a:prstGeom prst="roundRect">
            <a:avLst>
              <a:gd name="adj" fmla="val 6667"/>
            </a:avLst>
          </a:prstGeom>
          <a:solidFill>
            <a:srgbClr val="F1F5F9"/>
          </a:solidFill>
          <a:ln/>
        </p:spPr>
      </p:sp>
      <p:sp>
        <p:nvSpPr>
          <p:cNvPr id="7" name="Text 5"/>
          <p:cNvSpPr/>
          <p:nvPr/>
        </p:nvSpPr>
        <p:spPr>
          <a:xfrm>
            <a:off x="457200" y="3383280"/>
            <a:ext cx="3474720" cy="822960"/>
          </a:xfrm>
          <a:prstGeom prst="rect">
            <a:avLst/>
          </a:prstGeom>
          <a:noFill/>
          <a:ln/>
        </p:spPr>
        <p:txBody>
          <a:bodyPr wrap="square" lIns="0" tIns="0" rIns="0" bIns="0" rtlCol="0" anchor="ctr"/>
          <a:lstStyle/>
          <a:p>
            <a:pPr algn="ctr" indent="0" marL="0">
              <a:buNone/>
            </a:pPr>
            <a:r>
              <a:rPr lang="en-US" sz="1500" dirty="0">
                <a:solidFill>
                  <a:srgbClr val="0F172A"/>
                </a:solidFill>
                <a:latin typeface="Arial" pitchFamily="34" charset="0"/>
                <a:ea typeface="Arial" pitchFamily="34" charset="-122"/>
                <a:cs typeface="Arial" pitchFamily="34" charset="-120"/>
              </a:rPr>
              <a:t>“Django is a</a:t>
            </a:r>
            <a:endParaRPr lang="en-US" sz="1500" dirty="0"/>
          </a:p>
          <a:p>
            <a:pPr algn="ctr" indent="0" marL="0">
              <a:buNone/>
            </a:pPr>
            <a:r>
              <a:rPr lang="en-US" sz="1500" dirty="0">
                <a:solidFill>
                  <a:srgbClr val="0F172A"/>
                </a:solidFill>
                <a:latin typeface="Arial" pitchFamily="34" charset="0"/>
                <a:ea typeface="Arial" pitchFamily="34" charset="-122"/>
                <a:cs typeface="Arial" pitchFamily="34" charset="-120"/>
              </a:rPr>
              <a:t>Python framework”</a:t>
            </a:r>
            <a:endParaRPr lang="en-US" sz="1500" dirty="0"/>
          </a:p>
        </p:txBody>
      </p:sp>
      <p:sp>
        <p:nvSpPr>
          <p:cNvPr id="8" name="Text 6"/>
          <p:cNvSpPr/>
          <p:nvPr/>
        </p:nvSpPr>
        <p:spPr>
          <a:xfrm>
            <a:off x="4023360" y="3383280"/>
            <a:ext cx="731520" cy="548640"/>
          </a:xfrm>
          <a:prstGeom prst="rect">
            <a:avLst/>
          </a:prstGeom>
          <a:noFill/>
          <a:ln/>
        </p:spPr>
        <p:txBody>
          <a:bodyPr wrap="square" lIns="0" tIns="0" rIns="0" bIns="0" rtlCol="0" anchor="ctr"/>
          <a:lstStyle/>
          <a:p>
            <a:pPr algn="ctr" indent="0" marL="0">
              <a:buNone/>
            </a:pPr>
            <a:r>
              <a:rPr lang="en-US" sz="2800" dirty="0">
                <a:solidFill>
                  <a:srgbClr val="2563EB"/>
                </a:solidFill>
                <a:latin typeface="Arial" pitchFamily="34" charset="0"/>
                <a:ea typeface="Arial" pitchFamily="34" charset="-122"/>
                <a:cs typeface="Arial" pitchFamily="34" charset="-120"/>
              </a:rPr>
              <a:t>→</a:t>
            </a:r>
            <a:endParaRPr lang="en-US" sz="2800" dirty="0"/>
          </a:p>
        </p:txBody>
      </p:sp>
      <p:sp>
        <p:nvSpPr>
          <p:cNvPr id="9" name="Shape 7"/>
          <p:cNvSpPr/>
          <p:nvPr/>
        </p:nvSpPr>
        <p:spPr>
          <a:xfrm>
            <a:off x="4846320" y="2926080"/>
            <a:ext cx="2743200" cy="1645920"/>
          </a:xfrm>
          <a:prstGeom prst="roundRect">
            <a:avLst>
              <a:gd name="adj" fmla="val 6667"/>
            </a:avLst>
          </a:prstGeom>
          <a:solidFill>
            <a:srgbClr val="2563EB"/>
          </a:solidFill>
          <a:ln/>
        </p:spPr>
      </p:sp>
      <p:sp>
        <p:nvSpPr>
          <p:cNvPr id="10" name="Text 8"/>
          <p:cNvSpPr/>
          <p:nvPr/>
        </p:nvSpPr>
        <p:spPr>
          <a:xfrm>
            <a:off x="4846320" y="3383280"/>
            <a:ext cx="2743200" cy="82296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Embedding</a:t>
            </a:r>
            <a:endParaRPr lang="en-US" sz="1600" dirty="0"/>
          </a:p>
          <a:p>
            <a:pPr algn="ctr" indent="0" marL="0">
              <a:buNone/>
            </a:pPr>
            <a:r>
              <a:rPr lang="en-US" sz="1600" b="1" dirty="0">
                <a:solidFill>
                  <a:srgbClr val="FFFFFF"/>
                </a:solidFill>
                <a:latin typeface="Arial" pitchFamily="34" charset="0"/>
                <a:ea typeface="Arial" pitchFamily="34" charset="-122"/>
                <a:cs typeface="Arial" pitchFamily="34" charset="-120"/>
              </a:rPr>
              <a:t>Model</a:t>
            </a:r>
            <a:endParaRPr lang="en-US" sz="1600" dirty="0"/>
          </a:p>
        </p:txBody>
      </p:sp>
      <p:sp>
        <p:nvSpPr>
          <p:cNvPr id="11" name="Text 9"/>
          <p:cNvSpPr/>
          <p:nvPr/>
        </p:nvSpPr>
        <p:spPr>
          <a:xfrm>
            <a:off x="7680960" y="3383280"/>
            <a:ext cx="731520" cy="548640"/>
          </a:xfrm>
          <a:prstGeom prst="rect">
            <a:avLst/>
          </a:prstGeom>
          <a:noFill/>
          <a:ln/>
        </p:spPr>
        <p:txBody>
          <a:bodyPr wrap="square" lIns="0" tIns="0" rIns="0" bIns="0" rtlCol="0" anchor="ctr"/>
          <a:lstStyle/>
          <a:p>
            <a:pPr algn="ctr" indent="0" marL="0">
              <a:buNone/>
            </a:pPr>
            <a:r>
              <a:rPr lang="en-US" sz="2800" dirty="0">
                <a:solidFill>
                  <a:srgbClr val="2563EB"/>
                </a:solidFill>
                <a:latin typeface="Arial" pitchFamily="34" charset="0"/>
                <a:ea typeface="Arial" pitchFamily="34" charset="-122"/>
                <a:cs typeface="Arial" pitchFamily="34" charset="-120"/>
              </a:rPr>
              <a:t>→</a:t>
            </a:r>
            <a:endParaRPr lang="en-US" sz="2800" dirty="0"/>
          </a:p>
        </p:txBody>
      </p:sp>
      <p:sp>
        <p:nvSpPr>
          <p:cNvPr id="12" name="Shape 10"/>
          <p:cNvSpPr/>
          <p:nvPr/>
        </p:nvSpPr>
        <p:spPr>
          <a:xfrm>
            <a:off x="8503920" y="2926080"/>
            <a:ext cx="3200400" cy="1645920"/>
          </a:xfrm>
          <a:prstGeom prst="roundRect">
            <a:avLst>
              <a:gd name="adj" fmla="val 6667"/>
            </a:avLst>
          </a:prstGeom>
          <a:solidFill>
            <a:srgbClr val="0D9488"/>
          </a:solidFill>
          <a:ln/>
        </p:spPr>
      </p:sp>
      <p:sp>
        <p:nvSpPr>
          <p:cNvPr id="13" name="Text 11"/>
          <p:cNvSpPr/>
          <p:nvPr/>
        </p:nvSpPr>
        <p:spPr>
          <a:xfrm>
            <a:off x="8503920" y="3383280"/>
            <a:ext cx="3200400" cy="822960"/>
          </a:xfrm>
          <a:prstGeom prst="rect">
            <a:avLst/>
          </a:prstGeom>
          <a:noFill/>
          <a:ln/>
        </p:spPr>
        <p:txBody>
          <a:bodyPr wrap="square" lIns="0" tIns="0" rIns="0" bIns="0" rtlCol="0" anchor="ctr"/>
          <a:lstStyle/>
          <a:p>
            <a:pPr algn="ctr" indent="0" marL="0">
              <a:buNone/>
            </a:pPr>
            <a:r>
              <a:rPr lang="en-US" sz="1400" dirty="0">
                <a:solidFill>
                  <a:srgbClr val="FFFFFF"/>
                </a:solidFill>
                <a:latin typeface="Consolas" pitchFamily="34" charset="0"/>
                <a:ea typeface="Consolas" pitchFamily="34" charset="-122"/>
                <a:cs typeface="Consolas" pitchFamily="34" charset="-120"/>
              </a:rPr>
              <a:t>[0.21, -0.45,</a:t>
            </a:r>
            <a:endParaRPr lang="en-US" sz="1400" dirty="0"/>
          </a:p>
          <a:p>
            <a:pPr algn="ctr" indent="0" marL="0">
              <a:buNone/>
            </a:pPr>
            <a:r>
              <a:rPr lang="en-US" sz="1400" dirty="0">
                <a:solidFill>
                  <a:srgbClr val="FFFFFF"/>
                </a:solidFill>
                <a:latin typeface="Consolas" pitchFamily="34" charset="0"/>
                <a:ea typeface="Consolas" pitchFamily="34" charset="-122"/>
                <a:cs typeface="Consolas" pitchFamily="34" charset="-120"/>
              </a:rPr>
              <a:t>0.87, ...]</a:t>
            </a:r>
            <a:endParaRPr lang="en-US" sz="1400" dirty="0"/>
          </a:p>
        </p:txBody>
      </p:sp>
      <p:sp>
        <p:nvSpPr>
          <p:cNvPr id="14" name="Text 12"/>
          <p:cNvSpPr/>
          <p:nvPr/>
        </p:nvSpPr>
        <p:spPr>
          <a:xfrm>
            <a:off x="457200" y="4937760"/>
            <a:ext cx="11247120" cy="457200"/>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Key idea: Similar meaning → Similar numbers → We can search by meaning</a:t>
            </a:r>
            <a:endParaRPr lang="en-US" sz="1600" dirty="0"/>
          </a:p>
        </p:txBody>
      </p:sp>
      <p:sp>
        <p:nvSpPr>
          <p:cNvPr id="15" name="Text 13"/>
          <p:cNvSpPr/>
          <p:nvPr/>
        </p:nvSpPr>
        <p:spPr>
          <a:xfrm>
            <a:off x="457200" y="5486400"/>
            <a:ext cx="11247120" cy="365760"/>
          </a:xfrm>
          <a:prstGeom prst="rect">
            <a:avLst/>
          </a:prstGeom>
          <a:noFill/>
          <a:ln/>
        </p:spPr>
        <p:txBody>
          <a:bodyPr wrap="square" lIns="0" tIns="0" rIns="0" bIns="0" rtlCol="0" anchor="ctr"/>
          <a:lstStyle/>
          <a:p>
            <a:pPr indent="0" marL="0">
              <a:buNone/>
            </a:pPr>
            <a:r>
              <a:rPr lang="en-US" sz="1500" dirty="0">
                <a:solidFill>
                  <a:srgbClr val="64748B"/>
                </a:solidFill>
                <a:latin typeface="Arial" pitchFamily="34" charset="0"/>
                <a:ea typeface="Arial" pitchFamily="34" charset="-122"/>
                <a:cs typeface="Arial" pitchFamily="34" charset="-120"/>
              </a:rPr>
              <a:t>This is the foundation of RAG.</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indent="0" marL="0">
              <a:buNone/>
            </a:pPr>
            <a:r>
              <a:rPr lang="en-US" sz="2600" b="1" dirty="0">
                <a:solidFill>
                  <a:srgbClr val="0F172A"/>
                </a:solidFill>
                <a:latin typeface="Arial" pitchFamily="34" charset="0"/>
                <a:ea typeface="Arial" pitchFamily="34" charset="-122"/>
                <a:cs typeface="Arial" pitchFamily="34" charset="-120"/>
              </a:rPr>
              <a:t>11. How Apps Use LLMs (API)</a:t>
            </a:r>
            <a:endParaRPr lang="en-US" sz="2600" dirty="0"/>
          </a:p>
        </p:txBody>
      </p:sp>
      <p:sp>
        <p:nvSpPr>
          <p:cNvPr id="3" name="Shape 1"/>
          <p:cNvSpPr/>
          <p:nvPr/>
        </p:nvSpPr>
        <p:spPr>
          <a:xfrm>
            <a:off x="457200" y="868680"/>
            <a:ext cx="1463040" cy="64008"/>
          </a:xfrm>
          <a:prstGeom prst="rect">
            <a:avLst/>
          </a:prstGeom>
          <a:solidFill>
            <a:srgbClr val="2563EB"/>
          </a:solidFill>
          <a:ln/>
        </p:spPr>
      </p:sp>
      <p:sp>
        <p:nvSpPr>
          <p:cNvPr id="4" name="Text 2"/>
          <p:cNvSpPr/>
          <p:nvPr/>
        </p:nvSpPr>
        <p:spPr>
          <a:xfrm>
            <a:off x="457200" y="1143000"/>
            <a:ext cx="10972800" cy="365760"/>
          </a:xfrm>
          <a:prstGeom prst="rect">
            <a:avLst/>
          </a:prstGeom>
          <a:noFill/>
          <a:ln/>
        </p:spPr>
        <p:txBody>
          <a:bodyPr wrap="square" lIns="0" tIns="0" rIns="0" bIns="0" rtlCol="0" anchor="ctr"/>
          <a:lstStyle/>
          <a:p>
            <a:pPr indent="0" marL="0">
              <a:buNone/>
            </a:pPr>
            <a:r>
              <a:rPr lang="en-US" sz="1500" dirty="0">
                <a:solidFill>
                  <a:srgbClr val="64748B"/>
                </a:solidFill>
                <a:latin typeface="Arial" pitchFamily="34" charset="0"/>
                <a:ea typeface="Arial" pitchFamily="34" charset="-122"/>
                <a:cs typeface="Arial" pitchFamily="34" charset="-120"/>
              </a:rPr>
              <a:t>In real apps, we almost never run the model ourselves. We call an API.</a:t>
            </a:r>
            <a:endParaRPr lang="en-US" sz="1500" dirty="0"/>
          </a:p>
        </p:txBody>
      </p:sp>
      <p:sp>
        <p:nvSpPr>
          <p:cNvPr id="5" name="Shape 3"/>
          <p:cNvSpPr/>
          <p:nvPr/>
        </p:nvSpPr>
        <p:spPr>
          <a:xfrm>
            <a:off x="457200" y="1737360"/>
            <a:ext cx="2148840" cy="1371600"/>
          </a:xfrm>
          <a:prstGeom prst="roundRect">
            <a:avLst>
              <a:gd name="adj" fmla="val 8000"/>
            </a:avLst>
          </a:prstGeom>
          <a:solidFill>
            <a:srgbClr val="2563EB"/>
          </a:solidFill>
          <a:ln/>
        </p:spPr>
      </p:sp>
      <p:sp>
        <p:nvSpPr>
          <p:cNvPr id="6" name="Text 4"/>
          <p:cNvSpPr/>
          <p:nvPr/>
        </p:nvSpPr>
        <p:spPr>
          <a:xfrm>
            <a:off x="457200" y="2194560"/>
            <a:ext cx="21488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Your App</a:t>
            </a:r>
            <a:endParaRPr lang="en-US" sz="1500" dirty="0"/>
          </a:p>
        </p:txBody>
      </p:sp>
      <p:sp>
        <p:nvSpPr>
          <p:cNvPr id="7" name="Shape 5"/>
          <p:cNvSpPr/>
          <p:nvPr/>
        </p:nvSpPr>
        <p:spPr>
          <a:xfrm>
            <a:off x="2788920" y="1737360"/>
            <a:ext cx="2148840" cy="1371600"/>
          </a:xfrm>
          <a:prstGeom prst="roundRect">
            <a:avLst>
              <a:gd name="adj" fmla="val 8000"/>
            </a:avLst>
          </a:prstGeom>
          <a:solidFill>
            <a:srgbClr val="7C3AED"/>
          </a:solidFill>
          <a:ln/>
        </p:spPr>
      </p:sp>
      <p:sp>
        <p:nvSpPr>
          <p:cNvPr id="8" name="Text 6"/>
          <p:cNvSpPr/>
          <p:nvPr/>
        </p:nvSpPr>
        <p:spPr>
          <a:xfrm>
            <a:off x="2788920" y="2194560"/>
            <a:ext cx="21488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API Call</a:t>
            </a:r>
            <a:endParaRPr lang="en-US" sz="1500" dirty="0"/>
          </a:p>
        </p:txBody>
      </p:sp>
      <p:sp>
        <p:nvSpPr>
          <p:cNvPr id="9" name="Shape 7"/>
          <p:cNvSpPr/>
          <p:nvPr/>
        </p:nvSpPr>
        <p:spPr>
          <a:xfrm>
            <a:off x="5120640" y="1737360"/>
            <a:ext cx="2148840" cy="1371600"/>
          </a:xfrm>
          <a:prstGeom prst="roundRect">
            <a:avLst>
              <a:gd name="adj" fmla="val 8000"/>
            </a:avLst>
          </a:prstGeom>
          <a:solidFill>
            <a:srgbClr val="0D9488"/>
          </a:solidFill>
          <a:ln/>
        </p:spPr>
      </p:sp>
      <p:sp>
        <p:nvSpPr>
          <p:cNvPr id="10" name="Text 8"/>
          <p:cNvSpPr/>
          <p:nvPr/>
        </p:nvSpPr>
        <p:spPr>
          <a:xfrm>
            <a:off x="5120640" y="2194560"/>
            <a:ext cx="21488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LLM Provider</a:t>
            </a:r>
            <a:endParaRPr lang="en-US" sz="1500" dirty="0"/>
          </a:p>
        </p:txBody>
      </p:sp>
      <p:sp>
        <p:nvSpPr>
          <p:cNvPr id="11" name="Shape 9"/>
          <p:cNvSpPr/>
          <p:nvPr/>
        </p:nvSpPr>
        <p:spPr>
          <a:xfrm>
            <a:off x="7452360" y="1737360"/>
            <a:ext cx="2148840" cy="1371600"/>
          </a:xfrm>
          <a:prstGeom prst="roundRect">
            <a:avLst>
              <a:gd name="adj" fmla="val 8000"/>
            </a:avLst>
          </a:prstGeom>
          <a:solidFill>
            <a:srgbClr val="EA580C"/>
          </a:solidFill>
          <a:ln/>
        </p:spPr>
      </p:sp>
      <p:sp>
        <p:nvSpPr>
          <p:cNvPr id="12" name="Text 10"/>
          <p:cNvSpPr/>
          <p:nvPr/>
        </p:nvSpPr>
        <p:spPr>
          <a:xfrm>
            <a:off x="7452360" y="2194560"/>
            <a:ext cx="21488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Model</a:t>
            </a:r>
            <a:endParaRPr lang="en-US" sz="1500" dirty="0"/>
          </a:p>
        </p:txBody>
      </p:sp>
      <p:sp>
        <p:nvSpPr>
          <p:cNvPr id="13" name="Shape 11"/>
          <p:cNvSpPr/>
          <p:nvPr/>
        </p:nvSpPr>
        <p:spPr>
          <a:xfrm>
            <a:off x="9784080" y="1737360"/>
            <a:ext cx="2148840" cy="1371600"/>
          </a:xfrm>
          <a:prstGeom prst="roundRect">
            <a:avLst>
              <a:gd name="adj" fmla="val 8000"/>
            </a:avLst>
          </a:prstGeom>
          <a:solidFill>
            <a:srgbClr val="059669"/>
          </a:solidFill>
          <a:ln/>
        </p:spPr>
      </p:sp>
      <p:sp>
        <p:nvSpPr>
          <p:cNvPr id="14" name="Text 12"/>
          <p:cNvSpPr/>
          <p:nvPr/>
        </p:nvSpPr>
        <p:spPr>
          <a:xfrm>
            <a:off x="9784080" y="2194560"/>
            <a:ext cx="21488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Answer</a:t>
            </a:r>
            <a:endParaRPr lang="en-US" sz="1500" dirty="0"/>
          </a:p>
        </p:txBody>
      </p:sp>
      <p:sp>
        <p:nvSpPr>
          <p:cNvPr id="15" name="Text 13"/>
          <p:cNvSpPr/>
          <p:nvPr/>
        </p:nvSpPr>
        <p:spPr>
          <a:xfrm>
            <a:off x="457200" y="3383280"/>
            <a:ext cx="10972800" cy="365760"/>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Things you need to know:</a:t>
            </a:r>
            <a:endParaRPr lang="en-US" sz="1600" dirty="0"/>
          </a:p>
        </p:txBody>
      </p:sp>
      <p:sp>
        <p:nvSpPr>
          <p:cNvPr id="16" name="Shape 14"/>
          <p:cNvSpPr/>
          <p:nvPr/>
        </p:nvSpPr>
        <p:spPr>
          <a:xfrm>
            <a:off x="457200" y="3931920"/>
            <a:ext cx="3657600" cy="1097280"/>
          </a:xfrm>
          <a:prstGeom prst="roundRect">
            <a:avLst>
              <a:gd name="adj" fmla="val 10000"/>
            </a:avLst>
          </a:prstGeom>
          <a:solidFill>
            <a:srgbClr val="F1F5F9"/>
          </a:solidFill>
          <a:ln/>
        </p:spPr>
      </p:sp>
      <p:sp>
        <p:nvSpPr>
          <p:cNvPr id="17" name="Text 15"/>
          <p:cNvSpPr/>
          <p:nvPr/>
        </p:nvSpPr>
        <p:spPr>
          <a:xfrm>
            <a:off x="685800" y="4160520"/>
            <a:ext cx="3200400" cy="320040"/>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API Key</a:t>
            </a:r>
            <a:endParaRPr lang="en-US" sz="1500" dirty="0"/>
          </a:p>
        </p:txBody>
      </p:sp>
      <p:sp>
        <p:nvSpPr>
          <p:cNvPr id="18" name="Text 16"/>
          <p:cNvSpPr/>
          <p:nvPr/>
        </p:nvSpPr>
        <p:spPr>
          <a:xfrm>
            <a:off x="685800" y="4526280"/>
            <a:ext cx="3200400" cy="32004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Secret password for your app</a:t>
            </a:r>
            <a:endParaRPr lang="en-US" sz="1300" dirty="0"/>
          </a:p>
        </p:txBody>
      </p:sp>
      <p:sp>
        <p:nvSpPr>
          <p:cNvPr id="19" name="Shape 17"/>
          <p:cNvSpPr/>
          <p:nvPr/>
        </p:nvSpPr>
        <p:spPr>
          <a:xfrm>
            <a:off x="4297680" y="3931920"/>
            <a:ext cx="3657600" cy="1097280"/>
          </a:xfrm>
          <a:prstGeom prst="roundRect">
            <a:avLst>
              <a:gd name="adj" fmla="val 10000"/>
            </a:avLst>
          </a:prstGeom>
          <a:solidFill>
            <a:srgbClr val="F1F5F9"/>
          </a:solidFill>
          <a:ln/>
        </p:spPr>
      </p:sp>
      <p:sp>
        <p:nvSpPr>
          <p:cNvPr id="20" name="Text 18"/>
          <p:cNvSpPr/>
          <p:nvPr/>
        </p:nvSpPr>
        <p:spPr>
          <a:xfrm>
            <a:off x="4526280" y="4160520"/>
            <a:ext cx="3200400" cy="320040"/>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Tokens</a:t>
            </a:r>
            <a:endParaRPr lang="en-US" sz="1500" dirty="0"/>
          </a:p>
        </p:txBody>
      </p:sp>
      <p:sp>
        <p:nvSpPr>
          <p:cNvPr id="21" name="Text 19"/>
          <p:cNvSpPr/>
          <p:nvPr/>
        </p:nvSpPr>
        <p:spPr>
          <a:xfrm>
            <a:off x="4526280" y="4526280"/>
            <a:ext cx="3200400" cy="32004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You pay by number of tokens</a:t>
            </a:r>
            <a:endParaRPr lang="en-US" sz="1300" dirty="0"/>
          </a:p>
        </p:txBody>
      </p:sp>
      <p:sp>
        <p:nvSpPr>
          <p:cNvPr id="22" name="Shape 20"/>
          <p:cNvSpPr/>
          <p:nvPr/>
        </p:nvSpPr>
        <p:spPr>
          <a:xfrm>
            <a:off x="8138160" y="3931920"/>
            <a:ext cx="3657600" cy="1097280"/>
          </a:xfrm>
          <a:prstGeom prst="roundRect">
            <a:avLst>
              <a:gd name="adj" fmla="val 10000"/>
            </a:avLst>
          </a:prstGeom>
          <a:solidFill>
            <a:srgbClr val="F1F5F9"/>
          </a:solidFill>
          <a:ln/>
        </p:spPr>
      </p:sp>
      <p:sp>
        <p:nvSpPr>
          <p:cNvPr id="23" name="Text 21"/>
          <p:cNvSpPr/>
          <p:nvPr/>
        </p:nvSpPr>
        <p:spPr>
          <a:xfrm>
            <a:off x="8366760" y="4160520"/>
            <a:ext cx="3200400" cy="320040"/>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Model name</a:t>
            </a:r>
            <a:endParaRPr lang="en-US" sz="1500" dirty="0"/>
          </a:p>
        </p:txBody>
      </p:sp>
      <p:sp>
        <p:nvSpPr>
          <p:cNvPr id="24" name="Text 22"/>
          <p:cNvSpPr/>
          <p:nvPr/>
        </p:nvSpPr>
        <p:spPr>
          <a:xfrm>
            <a:off x="8366760" y="4526280"/>
            <a:ext cx="3200400" cy="32004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Which model to use</a:t>
            </a:r>
            <a:endParaRPr lang="en-US" sz="1300" dirty="0"/>
          </a:p>
        </p:txBody>
      </p:sp>
      <p:sp>
        <p:nvSpPr>
          <p:cNvPr id="25" name="Shape 23"/>
          <p:cNvSpPr/>
          <p:nvPr/>
        </p:nvSpPr>
        <p:spPr>
          <a:xfrm>
            <a:off x="457200" y="5166360"/>
            <a:ext cx="3657600" cy="1097280"/>
          </a:xfrm>
          <a:prstGeom prst="roundRect">
            <a:avLst>
              <a:gd name="adj" fmla="val 10000"/>
            </a:avLst>
          </a:prstGeom>
          <a:solidFill>
            <a:srgbClr val="F1F5F9"/>
          </a:solidFill>
          <a:ln/>
        </p:spPr>
      </p:sp>
      <p:sp>
        <p:nvSpPr>
          <p:cNvPr id="26" name="Text 24"/>
          <p:cNvSpPr/>
          <p:nvPr/>
        </p:nvSpPr>
        <p:spPr>
          <a:xfrm>
            <a:off x="685800" y="5394960"/>
            <a:ext cx="3200400" cy="320040"/>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Temperature</a:t>
            </a:r>
            <a:endParaRPr lang="en-US" sz="1500" dirty="0"/>
          </a:p>
        </p:txBody>
      </p:sp>
      <p:sp>
        <p:nvSpPr>
          <p:cNvPr id="27" name="Text 25"/>
          <p:cNvSpPr/>
          <p:nvPr/>
        </p:nvSpPr>
        <p:spPr>
          <a:xfrm>
            <a:off x="685800" y="5760720"/>
            <a:ext cx="3200400" cy="32004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How creative the answer is</a:t>
            </a:r>
            <a:endParaRPr lang="en-US" sz="1300" dirty="0"/>
          </a:p>
        </p:txBody>
      </p:sp>
      <p:sp>
        <p:nvSpPr>
          <p:cNvPr id="28" name="Shape 26"/>
          <p:cNvSpPr/>
          <p:nvPr/>
        </p:nvSpPr>
        <p:spPr>
          <a:xfrm>
            <a:off x="4297680" y="5166360"/>
            <a:ext cx="3657600" cy="1097280"/>
          </a:xfrm>
          <a:prstGeom prst="roundRect">
            <a:avLst>
              <a:gd name="adj" fmla="val 10000"/>
            </a:avLst>
          </a:prstGeom>
          <a:solidFill>
            <a:srgbClr val="F1F5F9"/>
          </a:solidFill>
          <a:ln/>
        </p:spPr>
      </p:sp>
      <p:sp>
        <p:nvSpPr>
          <p:cNvPr id="29" name="Text 27"/>
          <p:cNvSpPr/>
          <p:nvPr/>
        </p:nvSpPr>
        <p:spPr>
          <a:xfrm>
            <a:off x="4526280" y="5394960"/>
            <a:ext cx="3200400" cy="320040"/>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Streaming</a:t>
            </a:r>
            <a:endParaRPr lang="en-US" sz="1500" dirty="0"/>
          </a:p>
        </p:txBody>
      </p:sp>
      <p:sp>
        <p:nvSpPr>
          <p:cNvPr id="30" name="Text 28"/>
          <p:cNvSpPr/>
          <p:nvPr/>
        </p:nvSpPr>
        <p:spPr>
          <a:xfrm>
            <a:off x="4526280" y="5760720"/>
            <a:ext cx="3200400" cy="32004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Get words as they are written</a:t>
            </a:r>
            <a:endParaRPr lang="en-US" sz="1300" dirty="0"/>
          </a:p>
        </p:txBody>
      </p:sp>
      <p:sp>
        <p:nvSpPr>
          <p:cNvPr id="31" name="Shape 29"/>
          <p:cNvSpPr/>
          <p:nvPr/>
        </p:nvSpPr>
        <p:spPr>
          <a:xfrm>
            <a:off x="8138160" y="5166360"/>
            <a:ext cx="3657600" cy="1097280"/>
          </a:xfrm>
          <a:prstGeom prst="roundRect">
            <a:avLst>
              <a:gd name="adj" fmla="val 10000"/>
            </a:avLst>
          </a:prstGeom>
          <a:solidFill>
            <a:srgbClr val="F1F5F9"/>
          </a:solidFill>
          <a:ln/>
        </p:spPr>
      </p:sp>
      <p:sp>
        <p:nvSpPr>
          <p:cNvPr id="32" name="Text 30"/>
          <p:cNvSpPr/>
          <p:nvPr/>
        </p:nvSpPr>
        <p:spPr>
          <a:xfrm>
            <a:off x="8366760" y="5394960"/>
            <a:ext cx="3200400" cy="320040"/>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Rate limits</a:t>
            </a:r>
            <a:endParaRPr lang="en-US" sz="1500" dirty="0"/>
          </a:p>
        </p:txBody>
      </p:sp>
      <p:sp>
        <p:nvSpPr>
          <p:cNvPr id="33" name="Text 31"/>
          <p:cNvSpPr/>
          <p:nvPr/>
        </p:nvSpPr>
        <p:spPr>
          <a:xfrm>
            <a:off x="8366760" y="5760720"/>
            <a:ext cx="3200400" cy="32004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How many requests allowed</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indent="0" marL="0">
              <a:buNone/>
            </a:pPr>
            <a:r>
              <a:rPr lang="en-US" sz="2600" b="1" dirty="0">
                <a:solidFill>
                  <a:srgbClr val="0F172A"/>
                </a:solidFill>
                <a:latin typeface="Arial" pitchFamily="34" charset="0"/>
                <a:ea typeface="Arial" pitchFamily="34" charset="-122"/>
                <a:cs typeface="Arial" pitchFamily="34" charset="-120"/>
              </a:rPr>
              <a:t>12. What LLMs Cannot Do Alone</a:t>
            </a:r>
            <a:endParaRPr lang="en-US" sz="2600" dirty="0"/>
          </a:p>
        </p:txBody>
      </p:sp>
      <p:sp>
        <p:nvSpPr>
          <p:cNvPr id="3" name="Shape 1"/>
          <p:cNvSpPr/>
          <p:nvPr/>
        </p:nvSpPr>
        <p:spPr>
          <a:xfrm>
            <a:off x="457200" y="868680"/>
            <a:ext cx="1463040" cy="64008"/>
          </a:xfrm>
          <a:prstGeom prst="rect">
            <a:avLst/>
          </a:prstGeom>
          <a:solidFill>
            <a:srgbClr val="2563EB"/>
          </a:solidFill>
          <a:ln/>
        </p:spPr>
      </p:sp>
      <p:sp>
        <p:nvSpPr>
          <p:cNvPr id="4" name="Text 2"/>
          <p:cNvSpPr/>
          <p:nvPr/>
        </p:nvSpPr>
        <p:spPr>
          <a:xfrm>
            <a:off x="457200" y="1143000"/>
            <a:ext cx="10972800" cy="365760"/>
          </a:xfrm>
          <a:prstGeom prst="rect">
            <a:avLst/>
          </a:prstGeom>
          <a:noFill/>
          <a:ln/>
        </p:spPr>
        <p:txBody>
          <a:bodyPr wrap="square" lIns="0" tIns="0" rIns="0" bIns="0" rtlCol="0" anchor="ctr"/>
          <a:lstStyle/>
          <a:p>
            <a:pPr indent="0" marL="0">
              <a:buNone/>
            </a:pPr>
            <a:r>
              <a:rPr lang="en-US" sz="1500" dirty="0">
                <a:solidFill>
                  <a:srgbClr val="64748B"/>
                </a:solidFill>
                <a:latin typeface="Arial" pitchFamily="34" charset="0"/>
                <a:ea typeface="Arial" pitchFamily="34" charset="-122"/>
                <a:cs typeface="Arial" pitchFamily="34" charset="-120"/>
              </a:rPr>
              <a:t>This is why we need RAG and MCP tomorrow.</a:t>
            </a:r>
            <a:endParaRPr lang="en-US" sz="1500" dirty="0"/>
          </a:p>
        </p:txBody>
      </p:sp>
      <p:sp>
        <p:nvSpPr>
          <p:cNvPr id="5" name="Shape 3"/>
          <p:cNvSpPr/>
          <p:nvPr/>
        </p:nvSpPr>
        <p:spPr>
          <a:xfrm>
            <a:off x="457200" y="1691640"/>
            <a:ext cx="11247120" cy="1005840"/>
          </a:xfrm>
          <a:prstGeom prst="roundRect">
            <a:avLst>
              <a:gd name="adj" fmla="val 10909"/>
            </a:avLst>
          </a:prstGeom>
          <a:solidFill>
            <a:srgbClr val="FEE2E2"/>
          </a:solidFill>
          <a:ln/>
        </p:spPr>
      </p:sp>
      <p:sp>
        <p:nvSpPr>
          <p:cNvPr id="6" name="Text 4"/>
          <p:cNvSpPr/>
          <p:nvPr/>
        </p:nvSpPr>
        <p:spPr>
          <a:xfrm>
            <a:off x="822960" y="1828800"/>
            <a:ext cx="10515600" cy="320040"/>
          </a:xfrm>
          <a:prstGeom prst="rect">
            <a:avLst/>
          </a:prstGeom>
          <a:noFill/>
          <a:ln/>
        </p:spPr>
        <p:txBody>
          <a:bodyPr wrap="square" lIns="0" tIns="0" rIns="0" bIns="0" rtlCol="0" anchor="ctr"/>
          <a:lstStyle/>
          <a:p>
            <a:pPr indent="0" marL="0">
              <a:buNone/>
            </a:pPr>
            <a:r>
              <a:rPr lang="en-US" sz="1600" b="1" dirty="0">
                <a:solidFill>
                  <a:srgbClr val="DC2626"/>
                </a:solidFill>
                <a:latin typeface="Arial" pitchFamily="34" charset="0"/>
                <a:ea typeface="Arial" pitchFamily="34" charset="-122"/>
                <a:cs typeface="Arial" pitchFamily="34" charset="-120"/>
              </a:rPr>
              <a:t>Private company data</a:t>
            </a:r>
            <a:endParaRPr lang="en-US" sz="1600" dirty="0"/>
          </a:p>
        </p:txBody>
      </p:sp>
      <p:sp>
        <p:nvSpPr>
          <p:cNvPr id="7" name="Text 5"/>
          <p:cNvSpPr/>
          <p:nvPr/>
        </p:nvSpPr>
        <p:spPr>
          <a:xfrm>
            <a:off x="822960" y="2194560"/>
            <a:ext cx="10515600" cy="365760"/>
          </a:xfrm>
          <a:prstGeom prst="rect">
            <a:avLst/>
          </a:prstGeom>
          <a:noFill/>
          <a:ln/>
        </p:spPr>
        <p:txBody>
          <a:bodyPr wrap="square" lIns="0" tIns="0" rIns="0" bIns="0" rtlCol="0" anchor="ctr"/>
          <a:lstStyle/>
          <a:p>
            <a:pPr indent="0" marL="0">
              <a:buNone/>
            </a:pPr>
            <a:r>
              <a:rPr lang="en-US" sz="1400" dirty="0">
                <a:solidFill>
                  <a:srgbClr val="1E293B"/>
                </a:solidFill>
                <a:latin typeface="Arial" pitchFamily="34" charset="0"/>
                <a:ea typeface="Arial" pitchFamily="34" charset="-122"/>
                <a:cs typeface="Arial" pitchFamily="34" charset="-120"/>
              </a:rPr>
              <a:t>Your HR policy, internal documents, private database — the model never saw them.</a:t>
            </a:r>
            <a:endParaRPr lang="en-US" sz="1400" dirty="0"/>
          </a:p>
        </p:txBody>
      </p:sp>
      <p:sp>
        <p:nvSpPr>
          <p:cNvPr id="8" name="Shape 6"/>
          <p:cNvSpPr/>
          <p:nvPr/>
        </p:nvSpPr>
        <p:spPr>
          <a:xfrm>
            <a:off x="457200" y="2834640"/>
            <a:ext cx="11247120" cy="1005840"/>
          </a:xfrm>
          <a:prstGeom prst="roundRect">
            <a:avLst>
              <a:gd name="adj" fmla="val 10909"/>
            </a:avLst>
          </a:prstGeom>
          <a:solidFill>
            <a:srgbClr val="FEE2E2"/>
          </a:solidFill>
          <a:ln/>
        </p:spPr>
      </p:sp>
      <p:sp>
        <p:nvSpPr>
          <p:cNvPr id="9" name="Text 7"/>
          <p:cNvSpPr/>
          <p:nvPr/>
        </p:nvSpPr>
        <p:spPr>
          <a:xfrm>
            <a:off x="822960" y="2971800"/>
            <a:ext cx="10515600" cy="320040"/>
          </a:xfrm>
          <a:prstGeom prst="rect">
            <a:avLst/>
          </a:prstGeom>
          <a:noFill/>
          <a:ln/>
        </p:spPr>
        <p:txBody>
          <a:bodyPr wrap="square" lIns="0" tIns="0" rIns="0" bIns="0" rtlCol="0" anchor="ctr"/>
          <a:lstStyle/>
          <a:p>
            <a:pPr indent="0" marL="0">
              <a:buNone/>
            </a:pPr>
            <a:r>
              <a:rPr lang="en-US" sz="1600" b="1" dirty="0">
                <a:solidFill>
                  <a:srgbClr val="DC2626"/>
                </a:solidFill>
                <a:latin typeface="Arial" pitchFamily="34" charset="0"/>
                <a:ea typeface="Arial" pitchFamily="34" charset="-122"/>
                <a:cs typeface="Arial" pitchFamily="34" charset="-120"/>
              </a:rPr>
              <a:t>Latest information</a:t>
            </a:r>
            <a:endParaRPr lang="en-US" sz="1600" dirty="0"/>
          </a:p>
        </p:txBody>
      </p:sp>
      <p:sp>
        <p:nvSpPr>
          <p:cNvPr id="10" name="Text 8"/>
          <p:cNvSpPr/>
          <p:nvPr/>
        </p:nvSpPr>
        <p:spPr>
          <a:xfrm>
            <a:off x="822960" y="3337560"/>
            <a:ext cx="10515600" cy="365760"/>
          </a:xfrm>
          <a:prstGeom prst="rect">
            <a:avLst/>
          </a:prstGeom>
          <a:noFill/>
          <a:ln/>
        </p:spPr>
        <p:txBody>
          <a:bodyPr wrap="square" lIns="0" tIns="0" rIns="0" bIns="0" rtlCol="0" anchor="ctr"/>
          <a:lstStyle/>
          <a:p>
            <a:pPr indent="0" marL="0">
              <a:buNone/>
            </a:pPr>
            <a:r>
              <a:rPr lang="en-US" sz="1400" dirty="0">
                <a:solidFill>
                  <a:srgbClr val="1E293B"/>
                </a:solidFill>
                <a:latin typeface="Arial" pitchFamily="34" charset="0"/>
                <a:ea typeface="Arial" pitchFamily="34" charset="-122"/>
                <a:cs typeface="Arial" pitchFamily="34" charset="-120"/>
              </a:rPr>
              <a:t>Its knowledge has a cutoff date. It does not know today’s news automatically.</a:t>
            </a:r>
            <a:endParaRPr lang="en-US" sz="1400" dirty="0"/>
          </a:p>
        </p:txBody>
      </p:sp>
      <p:sp>
        <p:nvSpPr>
          <p:cNvPr id="11" name="Shape 9"/>
          <p:cNvSpPr/>
          <p:nvPr/>
        </p:nvSpPr>
        <p:spPr>
          <a:xfrm>
            <a:off x="457200" y="3977640"/>
            <a:ext cx="11247120" cy="1005840"/>
          </a:xfrm>
          <a:prstGeom prst="roundRect">
            <a:avLst>
              <a:gd name="adj" fmla="val 10909"/>
            </a:avLst>
          </a:prstGeom>
          <a:solidFill>
            <a:srgbClr val="FEE2E2"/>
          </a:solidFill>
          <a:ln/>
        </p:spPr>
      </p:sp>
      <p:sp>
        <p:nvSpPr>
          <p:cNvPr id="12" name="Text 10"/>
          <p:cNvSpPr/>
          <p:nvPr/>
        </p:nvSpPr>
        <p:spPr>
          <a:xfrm>
            <a:off x="822960" y="4114800"/>
            <a:ext cx="10515600" cy="320040"/>
          </a:xfrm>
          <a:prstGeom prst="rect">
            <a:avLst/>
          </a:prstGeom>
          <a:noFill/>
          <a:ln/>
        </p:spPr>
        <p:txBody>
          <a:bodyPr wrap="square" lIns="0" tIns="0" rIns="0" bIns="0" rtlCol="0" anchor="ctr"/>
          <a:lstStyle/>
          <a:p>
            <a:pPr indent="0" marL="0">
              <a:buNone/>
            </a:pPr>
            <a:r>
              <a:rPr lang="en-US" sz="1600" b="1" dirty="0">
                <a:solidFill>
                  <a:srgbClr val="DC2626"/>
                </a:solidFill>
                <a:latin typeface="Arial" pitchFamily="34" charset="0"/>
                <a:ea typeface="Arial" pitchFamily="34" charset="-122"/>
                <a:cs typeface="Arial" pitchFamily="34" charset="-120"/>
              </a:rPr>
              <a:t>Exact business numbers</a:t>
            </a:r>
            <a:endParaRPr lang="en-US" sz="1600" dirty="0"/>
          </a:p>
        </p:txBody>
      </p:sp>
      <p:sp>
        <p:nvSpPr>
          <p:cNvPr id="13" name="Text 11"/>
          <p:cNvSpPr/>
          <p:nvPr/>
        </p:nvSpPr>
        <p:spPr>
          <a:xfrm>
            <a:off x="822960" y="4480560"/>
            <a:ext cx="10515600" cy="365760"/>
          </a:xfrm>
          <a:prstGeom prst="rect">
            <a:avLst/>
          </a:prstGeom>
          <a:noFill/>
          <a:ln/>
        </p:spPr>
        <p:txBody>
          <a:bodyPr wrap="square" lIns="0" tIns="0" rIns="0" bIns="0" rtlCol="0" anchor="ctr"/>
          <a:lstStyle/>
          <a:p>
            <a:pPr indent="0" marL="0">
              <a:buNone/>
            </a:pPr>
            <a:r>
              <a:rPr lang="en-US" sz="1400" dirty="0">
                <a:solidFill>
                  <a:srgbClr val="1E293B"/>
                </a:solidFill>
                <a:latin typeface="Arial" pitchFamily="34" charset="0"/>
                <a:ea typeface="Arial" pitchFamily="34" charset="-122"/>
                <a:cs typeface="Arial" pitchFamily="34" charset="-120"/>
              </a:rPr>
              <a:t>“How many products are in the warehouse right now?” — it should not guess.</a:t>
            </a:r>
            <a:endParaRPr lang="en-US" sz="1400" dirty="0"/>
          </a:p>
        </p:txBody>
      </p:sp>
      <p:sp>
        <p:nvSpPr>
          <p:cNvPr id="14" name="Shape 12"/>
          <p:cNvSpPr/>
          <p:nvPr/>
        </p:nvSpPr>
        <p:spPr>
          <a:xfrm>
            <a:off x="457200" y="5120640"/>
            <a:ext cx="11247120" cy="1005840"/>
          </a:xfrm>
          <a:prstGeom prst="roundRect">
            <a:avLst>
              <a:gd name="adj" fmla="val 10909"/>
            </a:avLst>
          </a:prstGeom>
          <a:solidFill>
            <a:srgbClr val="FEE2E2"/>
          </a:solidFill>
          <a:ln/>
        </p:spPr>
      </p:sp>
      <p:sp>
        <p:nvSpPr>
          <p:cNvPr id="15" name="Text 13"/>
          <p:cNvSpPr/>
          <p:nvPr/>
        </p:nvSpPr>
        <p:spPr>
          <a:xfrm>
            <a:off x="822960" y="5257800"/>
            <a:ext cx="10515600" cy="320040"/>
          </a:xfrm>
          <a:prstGeom prst="rect">
            <a:avLst/>
          </a:prstGeom>
          <a:noFill/>
          <a:ln/>
        </p:spPr>
        <p:txBody>
          <a:bodyPr wrap="square" lIns="0" tIns="0" rIns="0" bIns="0" rtlCol="0" anchor="ctr"/>
          <a:lstStyle/>
          <a:p>
            <a:pPr indent="0" marL="0">
              <a:buNone/>
            </a:pPr>
            <a:r>
              <a:rPr lang="en-US" sz="1600" b="1" dirty="0">
                <a:solidFill>
                  <a:srgbClr val="DC2626"/>
                </a:solidFill>
                <a:latin typeface="Arial" pitchFamily="34" charset="0"/>
                <a:ea typeface="Arial" pitchFamily="34" charset="-122"/>
                <a:cs typeface="Arial" pitchFamily="34" charset="-120"/>
              </a:rPr>
              <a:t>Real actions</a:t>
            </a:r>
            <a:endParaRPr lang="en-US" sz="1600" dirty="0"/>
          </a:p>
        </p:txBody>
      </p:sp>
      <p:sp>
        <p:nvSpPr>
          <p:cNvPr id="16" name="Text 14"/>
          <p:cNvSpPr/>
          <p:nvPr/>
        </p:nvSpPr>
        <p:spPr>
          <a:xfrm>
            <a:off x="822960" y="5623560"/>
            <a:ext cx="10515600" cy="365760"/>
          </a:xfrm>
          <a:prstGeom prst="rect">
            <a:avLst/>
          </a:prstGeom>
          <a:noFill/>
          <a:ln/>
        </p:spPr>
        <p:txBody>
          <a:bodyPr wrap="square" lIns="0" tIns="0" rIns="0" bIns="0" rtlCol="0" anchor="ctr"/>
          <a:lstStyle/>
          <a:p>
            <a:pPr indent="0" marL="0">
              <a:buNone/>
            </a:pPr>
            <a:r>
              <a:rPr lang="en-US" sz="1400" dirty="0">
                <a:solidFill>
                  <a:srgbClr val="1E293B"/>
                </a:solidFill>
                <a:latin typeface="Arial" pitchFamily="34" charset="0"/>
                <a:ea typeface="Arial" pitchFamily="34" charset="-122"/>
                <a:cs typeface="Arial" pitchFamily="34" charset="-120"/>
              </a:rPr>
              <a:t>Send email, create invoice, book a meeting, call an API — pure LLM cannot do this.</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indent="0" marL="0">
              <a:buNone/>
            </a:pPr>
            <a:r>
              <a:rPr lang="en-US" sz="2600" b="1" dirty="0">
                <a:solidFill>
                  <a:srgbClr val="0F172A"/>
                </a:solidFill>
                <a:latin typeface="Arial" pitchFamily="34" charset="0"/>
                <a:ea typeface="Arial" pitchFamily="34" charset="-122"/>
                <a:cs typeface="Arial" pitchFamily="34" charset="-120"/>
              </a:rPr>
              <a:t>Day 1 — Simple Summary</a:t>
            </a:r>
            <a:endParaRPr lang="en-US" sz="2600" dirty="0"/>
          </a:p>
        </p:txBody>
      </p:sp>
      <p:sp>
        <p:nvSpPr>
          <p:cNvPr id="3" name="Shape 1"/>
          <p:cNvSpPr/>
          <p:nvPr/>
        </p:nvSpPr>
        <p:spPr>
          <a:xfrm>
            <a:off x="457200" y="868680"/>
            <a:ext cx="1463040" cy="64008"/>
          </a:xfrm>
          <a:prstGeom prst="rect">
            <a:avLst/>
          </a:prstGeom>
          <a:solidFill>
            <a:srgbClr val="2563EB"/>
          </a:solidFill>
          <a:ln/>
        </p:spPr>
      </p:sp>
      <p:sp>
        <p:nvSpPr>
          <p:cNvPr id="4" name="Shape 2"/>
          <p:cNvSpPr/>
          <p:nvPr/>
        </p:nvSpPr>
        <p:spPr>
          <a:xfrm>
            <a:off x="457200" y="1280160"/>
            <a:ext cx="457200" cy="457200"/>
          </a:xfrm>
          <a:prstGeom prst="ellipse">
            <a:avLst/>
          </a:prstGeom>
          <a:solidFill>
            <a:srgbClr val="2563EB"/>
          </a:solidFill>
          <a:ln/>
        </p:spPr>
      </p:sp>
      <p:sp>
        <p:nvSpPr>
          <p:cNvPr id="5" name="Text 3"/>
          <p:cNvSpPr/>
          <p:nvPr/>
        </p:nvSpPr>
        <p:spPr>
          <a:xfrm>
            <a:off x="457200" y="1353312"/>
            <a:ext cx="45720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6" name="Text 4"/>
          <p:cNvSpPr/>
          <p:nvPr/>
        </p:nvSpPr>
        <p:spPr>
          <a:xfrm>
            <a:off x="1188720" y="1280160"/>
            <a:ext cx="10515600" cy="640080"/>
          </a:xfrm>
          <a:prstGeom prst="rect">
            <a:avLst/>
          </a:prstGeom>
          <a:noFill/>
          <a:ln/>
        </p:spPr>
        <p:txBody>
          <a:bodyPr wrap="square" lIns="0" tIns="0" rIns="0" bIns="0" rtlCol="0" anchor="ctr"/>
          <a:lstStyle/>
          <a:p>
            <a:pPr indent="0" marL="0">
              <a:buNone/>
            </a:pPr>
            <a:r>
              <a:rPr lang="en-US" sz="1400" dirty="0">
                <a:solidFill>
                  <a:srgbClr val="1E293B"/>
                </a:solidFill>
                <a:latin typeface="Arial" pitchFamily="34" charset="0"/>
                <a:ea typeface="Arial" pitchFamily="34" charset="-122"/>
                <a:cs typeface="Arial" pitchFamily="34" charset="-120"/>
              </a:rPr>
              <a:t>AI is the big field. ML learns from data. Deep Learning uses deep networks. Generative AI creates new things. LLM is special for language.</a:t>
            </a:r>
            <a:endParaRPr lang="en-US" sz="1400" dirty="0"/>
          </a:p>
        </p:txBody>
      </p:sp>
      <p:sp>
        <p:nvSpPr>
          <p:cNvPr id="7" name="Shape 5"/>
          <p:cNvSpPr/>
          <p:nvPr/>
        </p:nvSpPr>
        <p:spPr>
          <a:xfrm>
            <a:off x="457200" y="2103120"/>
            <a:ext cx="457200" cy="457200"/>
          </a:xfrm>
          <a:prstGeom prst="ellipse">
            <a:avLst/>
          </a:prstGeom>
          <a:solidFill>
            <a:srgbClr val="2563EB"/>
          </a:solidFill>
          <a:ln/>
        </p:spPr>
      </p:sp>
      <p:sp>
        <p:nvSpPr>
          <p:cNvPr id="8" name="Text 6"/>
          <p:cNvSpPr/>
          <p:nvPr/>
        </p:nvSpPr>
        <p:spPr>
          <a:xfrm>
            <a:off x="457200" y="2176272"/>
            <a:ext cx="45720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9" name="Text 7"/>
          <p:cNvSpPr/>
          <p:nvPr/>
        </p:nvSpPr>
        <p:spPr>
          <a:xfrm>
            <a:off x="1188720" y="2103120"/>
            <a:ext cx="10515600" cy="640080"/>
          </a:xfrm>
          <a:prstGeom prst="rect">
            <a:avLst/>
          </a:prstGeom>
          <a:noFill/>
          <a:ln/>
        </p:spPr>
        <p:txBody>
          <a:bodyPr wrap="square" lIns="0" tIns="0" rIns="0" bIns="0" rtlCol="0" anchor="ctr"/>
          <a:lstStyle/>
          <a:p>
            <a:pPr indent="0" marL="0">
              <a:buNone/>
            </a:pPr>
            <a:r>
              <a:rPr lang="en-US" sz="1400" dirty="0">
                <a:solidFill>
                  <a:srgbClr val="1E293B"/>
                </a:solidFill>
                <a:latin typeface="Arial" pitchFamily="34" charset="0"/>
                <a:ea typeface="Arial" pitchFamily="34" charset="-122"/>
                <a:cs typeface="Arial" pitchFamily="34" charset="-120"/>
              </a:rPr>
              <a:t>LLM is trained once on huge text. Then we use it many times with prompts (Inference).</a:t>
            </a:r>
            <a:endParaRPr lang="en-US" sz="1400" dirty="0"/>
          </a:p>
        </p:txBody>
      </p:sp>
      <p:sp>
        <p:nvSpPr>
          <p:cNvPr id="10" name="Shape 8"/>
          <p:cNvSpPr/>
          <p:nvPr/>
        </p:nvSpPr>
        <p:spPr>
          <a:xfrm>
            <a:off x="457200" y="2926080"/>
            <a:ext cx="457200" cy="457200"/>
          </a:xfrm>
          <a:prstGeom prst="ellipse">
            <a:avLst/>
          </a:prstGeom>
          <a:solidFill>
            <a:srgbClr val="2563EB"/>
          </a:solidFill>
          <a:ln/>
        </p:spPr>
      </p:sp>
      <p:sp>
        <p:nvSpPr>
          <p:cNvPr id="11" name="Text 9"/>
          <p:cNvSpPr/>
          <p:nvPr/>
        </p:nvSpPr>
        <p:spPr>
          <a:xfrm>
            <a:off x="457200" y="2999232"/>
            <a:ext cx="45720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2" name="Text 10"/>
          <p:cNvSpPr/>
          <p:nvPr/>
        </p:nvSpPr>
        <p:spPr>
          <a:xfrm>
            <a:off x="1188720" y="2926080"/>
            <a:ext cx="10515600" cy="640080"/>
          </a:xfrm>
          <a:prstGeom prst="rect">
            <a:avLst/>
          </a:prstGeom>
          <a:noFill/>
          <a:ln/>
        </p:spPr>
        <p:txBody>
          <a:bodyPr wrap="square" lIns="0" tIns="0" rIns="0" bIns="0" rtlCol="0" anchor="ctr"/>
          <a:lstStyle/>
          <a:p>
            <a:pPr indent="0" marL="0">
              <a:buNone/>
            </a:pPr>
            <a:r>
              <a:rPr lang="en-US" sz="1400" dirty="0">
                <a:solidFill>
                  <a:srgbClr val="1E293B"/>
                </a:solidFill>
                <a:latin typeface="Arial" pitchFamily="34" charset="0"/>
                <a:ea typeface="Arial" pitchFamily="34" charset="-122"/>
                <a:cs typeface="Arial" pitchFamily="34" charset="-120"/>
              </a:rPr>
              <a:t>Text is broken into tokens. The model can only see a limited amount at once (context window).</a:t>
            </a:r>
            <a:endParaRPr lang="en-US" sz="1400" dirty="0"/>
          </a:p>
        </p:txBody>
      </p:sp>
      <p:sp>
        <p:nvSpPr>
          <p:cNvPr id="13" name="Shape 11"/>
          <p:cNvSpPr/>
          <p:nvPr/>
        </p:nvSpPr>
        <p:spPr>
          <a:xfrm>
            <a:off x="457200" y="3749040"/>
            <a:ext cx="457200" cy="457200"/>
          </a:xfrm>
          <a:prstGeom prst="ellipse">
            <a:avLst/>
          </a:prstGeom>
          <a:solidFill>
            <a:srgbClr val="2563EB"/>
          </a:solidFill>
          <a:ln/>
        </p:spPr>
      </p:sp>
      <p:sp>
        <p:nvSpPr>
          <p:cNvPr id="14" name="Text 12"/>
          <p:cNvSpPr/>
          <p:nvPr/>
        </p:nvSpPr>
        <p:spPr>
          <a:xfrm>
            <a:off x="457200" y="3822192"/>
            <a:ext cx="45720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5" name="Text 13"/>
          <p:cNvSpPr/>
          <p:nvPr/>
        </p:nvSpPr>
        <p:spPr>
          <a:xfrm>
            <a:off x="1188720" y="3749040"/>
            <a:ext cx="10515600" cy="640080"/>
          </a:xfrm>
          <a:prstGeom prst="rect">
            <a:avLst/>
          </a:prstGeom>
          <a:noFill/>
          <a:ln/>
        </p:spPr>
        <p:txBody>
          <a:bodyPr wrap="square" lIns="0" tIns="0" rIns="0" bIns="0" rtlCol="0" anchor="ctr"/>
          <a:lstStyle/>
          <a:p>
            <a:pPr indent="0" marL="0">
              <a:buNone/>
            </a:pPr>
            <a:r>
              <a:rPr lang="en-US" sz="1400" dirty="0">
                <a:solidFill>
                  <a:srgbClr val="1E293B"/>
                </a:solidFill>
                <a:latin typeface="Arial" pitchFamily="34" charset="0"/>
                <a:ea typeface="Arial" pitchFamily="34" charset="-122"/>
                <a:cs typeface="Arial" pitchFamily="34" charset="-120"/>
              </a:rPr>
              <a:t>We control the AI mainly with prompts and temperature.</a:t>
            </a:r>
            <a:endParaRPr lang="en-US" sz="1400" dirty="0"/>
          </a:p>
        </p:txBody>
      </p:sp>
      <p:sp>
        <p:nvSpPr>
          <p:cNvPr id="16" name="Shape 14"/>
          <p:cNvSpPr/>
          <p:nvPr/>
        </p:nvSpPr>
        <p:spPr>
          <a:xfrm>
            <a:off x="457200" y="4572000"/>
            <a:ext cx="457200" cy="457200"/>
          </a:xfrm>
          <a:prstGeom prst="ellipse">
            <a:avLst/>
          </a:prstGeom>
          <a:solidFill>
            <a:srgbClr val="2563EB"/>
          </a:solidFill>
          <a:ln/>
        </p:spPr>
      </p:sp>
      <p:sp>
        <p:nvSpPr>
          <p:cNvPr id="17" name="Text 15"/>
          <p:cNvSpPr/>
          <p:nvPr/>
        </p:nvSpPr>
        <p:spPr>
          <a:xfrm>
            <a:off x="457200" y="4645152"/>
            <a:ext cx="45720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18" name="Text 16"/>
          <p:cNvSpPr/>
          <p:nvPr/>
        </p:nvSpPr>
        <p:spPr>
          <a:xfrm>
            <a:off x="1188720" y="4572000"/>
            <a:ext cx="10515600" cy="640080"/>
          </a:xfrm>
          <a:prstGeom prst="rect">
            <a:avLst/>
          </a:prstGeom>
          <a:noFill/>
          <a:ln/>
        </p:spPr>
        <p:txBody>
          <a:bodyPr wrap="square" lIns="0" tIns="0" rIns="0" bIns="0" rtlCol="0" anchor="ctr"/>
          <a:lstStyle/>
          <a:p>
            <a:pPr indent="0" marL="0">
              <a:buNone/>
            </a:pPr>
            <a:r>
              <a:rPr lang="en-US" sz="1400" dirty="0">
                <a:solidFill>
                  <a:srgbClr val="1E293B"/>
                </a:solidFill>
                <a:latin typeface="Arial" pitchFamily="34" charset="0"/>
                <a:ea typeface="Arial" pitchFamily="34" charset="-122"/>
                <a:cs typeface="Arial" pitchFamily="34" charset="-120"/>
              </a:rPr>
              <a:t>Embeddings turn meaning into numbers — this prepares us for RAG.</a:t>
            </a:r>
            <a:endParaRPr lang="en-US" sz="1400" dirty="0"/>
          </a:p>
        </p:txBody>
      </p:sp>
      <p:sp>
        <p:nvSpPr>
          <p:cNvPr id="19" name="Shape 17"/>
          <p:cNvSpPr/>
          <p:nvPr/>
        </p:nvSpPr>
        <p:spPr>
          <a:xfrm>
            <a:off x="457200" y="5394960"/>
            <a:ext cx="457200" cy="457200"/>
          </a:xfrm>
          <a:prstGeom prst="ellipse">
            <a:avLst/>
          </a:prstGeom>
          <a:solidFill>
            <a:srgbClr val="2563EB"/>
          </a:solidFill>
          <a:ln/>
        </p:spPr>
      </p:sp>
      <p:sp>
        <p:nvSpPr>
          <p:cNvPr id="20" name="Text 18"/>
          <p:cNvSpPr/>
          <p:nvPr/>
        </p:nvSpPr>
        <p:spPr>
          <a:xfrm>
            <a:off x="457200" y="5468112"/>
            <a:ext cx="45720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1" name="Text 19"/>
          <p:cNvSpPr/>
          <p:nvPr/>
        </p:nvSpPr>
        <p:spPr>
          <a:xfrm>
            <a:off x="1188720" y="5394960"/>
            <a:ext cx="10515600" cy="640080"/>
          </a:xfrm>
          <a:prstGeom prst="rect">
            <a:avLst/>
          </a:prstGeom>
          <a:noFill/>
          <a:ln/>
        </p:spPr>
        <p:txBody>
          <a:bodyPr wrap="square" lIns="0" tIns="0" rIns="0" bIns="0" rtlCol="0" anchor="ctr"/>
          <a:lstStyle/>
          <a:p>
            <a:pPr indent="0" marL="0">
              <a:buNone/>
            </a:pPr>
            <a:r>
              <a:rPr lang="en-US" sz="1400" dirty="0">
                <a:solidFill>
                  <a:srgbClr val="1E293B"/>
                </a:solidFill>
                <a:latin typeface="Arial" pitchFamily="34" charset="0"/>
                <a:ea typeface="Arial" pitchFamily="34" charset="-122"/>
                <a:cs typeface="Arial" pitchFamily="34" charset="-120"/>
              </a:rPr>
              <a:t>Pure LLMs cannot see private data and cannot take real actions. That is why we need Day 2.</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377440"/>
            <a:ext cx="11247120" cy="365760"/>
          </a:xfrm>
          <a:prstGeom prst="rect">
            <a:avLst/>
          </a:prstGeom>
          <a:noFill/>
          <a:ln/>
        </p:spPr>
        <p:txBody>
          <a:bodyPr wrap="square" lIns="0" tIns="0" rIns="0" bIns="0" rtlCol="0" anchor="ctr"/>
          <a:lstStyle/>
          <a:p>
            <a:pPr algn="ctr" indent="0" marL="0">
              <a:buNone/>
            </a:pPr>
            <a:r>
              <a:rPr lang="en-US" sz="1800" b="1" dirty="0">
                <a:solidFill>
                  <a:srgbClr val="93C5FD"/>
                </a:solidFill>
                <a:latin typeface="Arial" pitchFamily="34" charset="0"/>
                <a:ea typeface="Arial" pitchFamily="34" charset="-122"/>
                <a:cs typeface="Arial" pitchFamily="34" charset="-120"/>
              </a:rPr>
              <a:t>DAY 2</a:t>
            </a:r>
            <a:endParaRPr lang="en-US" sz="1800" dirty="0"/>
          </a:p>
        </p:txBody>
      </p:sp>
      <p:sp>
        <p:nvSpPr>
          <p:cNvPr id="3" name="Text 1"/>
          <p:cNvSpPr/>
          <p:nvPr/>
        </p:nvSpPr>
        <p:spPr>
          <a:xfrm>
            <a:off x="457200" y="2926080"/>
            <a:ext cx="11247120" cy="640080"/>
          </a:xfrm>
          <a:prstGeom prst="rect">
            <a:avLst/>
          </a:prstGeom>
          <a:noFill/>
          <a:ln/>
        </p:spPr>
        <p:txBody>
          <a:bodyPr wrap="square" lIns="0" tIns="0" rIns="0" bIns="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RAG + MCP</a:t>
            </a:r>
            <a:endParaRPr lang="en-US" sz="4000" dirty="0"/>
          </a:p>
        </p:txBody>
      </p:sp>
      <p:sp>
        <p:nvSpPr>
          <p:cNvPr id="4" name="Text 2"/>
          <p:cNvSpPr/>
          <p:nvPr/>
        </p:nvSpPr>
        <p:spPr>
          <a:xfrm>
            <a:off x="457200" y="3749040"/>
            <a:ext cx="11247120" cy="365760"/>
          </a:xfrm>
          <a:prstGeom prst="rect">
            <a:avLst/>
          </a:prstGeom>
          <a:noFill/>
          <a:ln/>
        </p:spPr>
        <p:txBody>
          <a:bodyPr wrap="square" lIns="0" tIns="0" rIns="0" bIns="0" rtlCol="0" anchor="ctr"/>
          <a:lstStyle/>
          <a:p>
            <a:pPr algn="ctr" indent="0" marL="0">
              <a:buNone/>
            </a:pPr>
            <a:r>
              <a:rPr lang="en-US" sz="1800" dirty="0">
                <a:solidFill>
                  <a:srgbClr val="94A3B8"/>
                </a:solidFill>
                <a:latin typeface="Arial" pitchFamily="34" charset="0"/>
                <a:ea typeface="Arial" pitchFamily="34" charset="-122"/>
                <a:cs typeface="Arial" pitchFamily="34" charset="-120"/>
              </a:rPr>
              <a:t>Give the AI knowledge and the power to act</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indent="0" marL="0">
              <a:buNone/>
            </a:pPr>
            <a:r>
              <a:rPr lang="en-US" sz="2600" b="1" dirty="0">
                <a:solidFill>
                  <a:srgbClr val="0F172A"/>
                </a:solidFill>
                <a:latin typeface="Arial" pitchFamily="34" charset="0"/>
                <a:ea typeface="Arial" pitchFamily="34" charset="-122"/>
                <a:cs typeface="Arial" pitchFamily="34" charset="-120"/>
              </a:rPr>
              <a:t>13. What is RAG?</a:t>
            </a:r>
            <a:endParaRPr lang="en-US" sz="2600" dirty="0"/>
          </a:p>
        </p:txBody>
      </p:sp>
      <p:sp>
        <p:nvSpPr>
          <p:cNvPr id="3" name="Shape 1"/>
          <p:cNvSpPr/>
          <p:nvPr/>
        </p:nvSpPr>
        <p:spPr>
          <a:xfrm>
            <a:off x="457200" y="868680"/>
            <a:ext cx="1463040" cy="64008"/>
          </a:xfrm>
          <a:prstGeom prst="rect">
            <a:avLst/>
          </a:prstGeom>
          <a:solidFill>
            <a:srgbClr val="2563EB"/>
          </a:solidFill>
          <a:ln/>
        </p:spPr>
      </p:sp>
      <p:sp>
        <p:nvSpPr>
          <p:cNvPr id="4" name="Shape 2"/>
          <p:cNvSpPr/>
          <p:nvPr/>
        </p:nvSpPr>
        <p:spPr>
          <a:xfrm>
            <a:off x="457200" y="1188720"/>
            <a:ext cx="11247120" cy="1463040"/>
          </a:xfrm>
          <a:prstGeom prst="roundRect">
            <a:avLst>
              <a:gd name="adj" fmla="val 7500"/>
            </a:avLst>
          </a:prstGeom>
          <a:solidFill>
            <a:srgbClr val="CCFBF1"/>
          </a:solidFill>
          <a:ln/>
        </p:spPr>
      </p:sp>
      <p:sp>
        <p:nvSpPr>
          <p:cNvPr id="5" name="Text 3"/>
          <p:cNvSpPr/>
          <p:nvPr/>
        </p:nvSpPr>
        <p:spPr>
          <a:xfrm>
            <a:off x="822960" y="1371600"/>
            <a:ext cx="10515600" cy="1097280"/>
          </a:xfrm>
          <a:prstGeom prst="rect">
            <a:avLst/>
          </a:prstGeom>
          <a:noFill/>
          <a:ln/>
        </p:spPr>
        <p:txBody>
          <a:bodyPr wrap="square" lIns="0" tIns="0" rIns="0" bIns="0" rtlCol="0" anchor="ctr"/>
          <a:lstStyle/>
          <a:p>
            <a:pPr indent="0" marL="0">
              <a:buNone/>
            </a:pPr>
            <a:r>
              <a:rPr lang="en-US" sz="1700" dirty="0">
                <a:solidFill>
                  <a:srgbClr val="0F172A"/>
                </a:solidFill>
                <a:latin typeface="Arial" pitchFamily="34" charset="0"/>
                <a:ea typeface="Arial" pitchFamily="34" charset="-122"/>
                <a:cs typeface="Arial" pitchFamily="34" charset="-120"/>
              </a:rPr>
              <a:t>RAG = Retrieval-Augmented Generation</a:t>
            </a:r>
            <a:endParaRPr lang="en-US" sz="1700" dirty="0"/>
          </a:p>
          <a:p>
            <a:pPr indent="0" marL="0">
              <a:buNone/>
            </a:pPr>
            <a:endParaRPr lang="en-US" sz="1700" dirty="0"/>
          </a:p>
          <a:p>
            <a:pPr indent="0" marL="0">
              <a:buNone/>
            </a:pPr>
            <a:r>
              <a:rPr lang="en-US" sz="1700" dirty="0">
                <a:solidFill>
                  <a:srgbClr val="0F172A"/>
                </a:solidFill>
                <a:latin typeface="Arial" pitchFamily="34" charset="0"/>
                <a:ea typeface="Arial" pitchFamily="34" charset="-122"/>
                <a:cs typeface="Arial" pitchFamily="34" charset="-120"/>
              </a:rPr>
              <a:t>It means: First find the right information, then let the AI write the answer using that information.</a:t>
            </a:r>
            <a:endParaRPr lang="en-US" sz="1700" dirty="0"/>
          </a:p>
        </p:txBody>
      </p:sp>
      <p:sp>
        <p:nvSpPr>
          <p:cNvPr id="6" name="Text 4"/>
          <p:cNvSpPr/>
          <p:nvPr/>
        </p:nvSpPr>
        <p:spPr>
          <a:xfrm>
            <a:off x="457200" y="2926080"/>
            <a:ext cx="10972800" cy="365760"/>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Simple picture:</a:t>
            </a:r>
            <a:endParaRPr lang="en-US" sz="1600" dirty="0"/>
          </a:p>
        </p:txBody>
      </p:sp>
      <p:sp>
        <p:nvSpPr>
          <p:cNvPr id="7" name="Shape 5"/>
          <p:cNvSpPr/>
          <p:nvPr/>
        </p:nvSpPr>
        <p:spPr>
          <a:xfrm>
            <a:off x="4114800" y="3383280"/>
            <a:ext cx="3931920" cy="914400"/>
          </a:xfrm>
          <a:prstGeom prst="roundRect">
            <a:avLst>
              <a:gd name="adj" fmla="val 12000"/>
            </a:avLst>
          </a:prstGeom>
          <a:solidFill>
            <a:srgbClr val="2563EB"/>
          </a:solidFill>
          <a:ln/>
        </p:spPr>
      </p:sp>
      <p:sp>
        <p:nvSpPr>
          <p:cNvPr id="8" name="Text 6"/>
          <p:cNvSpPr/>
          <p:nvPr/>
        </p:nvSpPr>
        <p:spPr>
          <a:xfrm>
            <a:off x="4114800" y="3611880"/>
            <a:ext cx="393192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Your Question</a:t>
            </a:r>
            <a:endParaRPr lang="en-US" sz="1600" dirty="0"/>
          </a:p>
        </p:txBody>
      </p:sp>
      <p:sp>
        <p:nvSpPr>
          <p:cNvPr id="9" name="Text 7"/>
          <p:cNvSpPr/>
          <p:nvPr/>
        </p:nvSpPr>
        <p:spPr>
          <a:xfrm>
            <a:off x="4114800" y="4343400"/>
            <a:ext cx="3931920" cy="320040"/>
          </a:xfrm>
          <a:prstGeom prst="rect">
            <a:avLst/>
          </a:prstGeom>
          <a:noFill/>
          <a:ln/>
        </p:spPr>
        <p:txBody>
          <a:bodyPr wrap="square" lIns="0" tIns="0" rIns="0" bIns="0" rtlCol="0" anchor="ctr"/>
          <a:lstStyle/>
          <a:p>
            <a:pPr algn="ctr" indent="0" marL="0">
              <a:buNone/>
            </a:pPr>
            <a:r>
              <a:rPr lang="en-US" sz="2000" dirty="0">
                <a:solidFill>
                  <a:srgbClr val="64748B"/>
                </a:solidFill>
                <a:latin typeface="Arial" pitchFamily="34" charset="0"/>
                <a:ea typeface="Arial" pitchFamily="34" charset="-122"/>
                <a:cs typeface="Arial" pitchFamily="34" charset="-120"/>
              </a:rPr>
              <a:t>↓</a:t>
            </a:r>
            <a:endParaRPr lang="en-US" sz="2000" dirty="0"/>
          </a:p>
        </p:txBody>
      </p:sp>
      <p:sp>
        <p:nvSpPr>
          <p:cNvPr id="10" name="Shape 8"/>
          <p:cNvSpPr/>
          <p:nvPr/>
        </p:nvSpPr>
        <p:spPr>
          <a:xfrm>
            <a:off x="914400" y="4754880"/>
            <a:ext cx="4572000" cy="1371600"/>
          </a:xfrm>
          <a:prstGeom prst="roundRect">
            <a:avLst>
              <a:gd name="adj" fmla="val 8000"/>
            </a:avLst>
          </a:prstGeom>
          <a:solidFill>
            <a:srgbClr val="0D9488"/>
          </a:solidFill>
          <a:ln/>
        </p:spPr>
      </p:sp>
      <p:sp>
        <p:nvSpPr>
          <p:cNvPr id="11" name="Text 9"/>
          <p:cNvSpPr/>
          <p:nvPr/>
        </p:nvSpPr>
        <p:spPr>
          <a:xfrm>
            <a:off x="914400" y="5074920"/>
            <a:ext cx="4572000" cy="82296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 Find relevant</a:t>
            </a:r>
            <a:endParaRPr lang="en-US" sz="1600" dirty="0"/>
          </a:p>
          <a:p>
            <a:pPr algn="ctr" indent="0" marL="0">
              <a:buNone/>
            </a:pPr>
            <a:r>
              <a:rPr lang="en-US" sz="1600" b="1" dirty="0">
                <a:solidFill>
                  <a:srgbClr val="FFFFFF"/>
                </a:solidFill>
                <a:latin typeface="Arial" pitchFamily="34" charset="0"/>
                <a:ea typeface="Arial" pitchFamily="34" charset="-122"/>
                <a:cs typeface="Arial" pitchFamily="34" charset="-120"/>
              </a:rPr>
              <a:t>documents</a:t>
            </a:r>
            <a:endParaRPr lang="en-US" sz="1600" dirty="0"/>
          </a:p>
        </p:txBody>
      </p:sp>
      <p:sp>
        <p:nvSpPr>
          <p:cNvPr id="12" name="Shape 10"/>
          <p:cNvSpPr/>
          <p:nvPr/>
        </p:nvSpPr>
        <p:spPr>
          <a:xfrm>
            <a:off x="6675120" y="4754880"/>
            <a:ext cx="4572000" cy="1371600"/>
          </a:xfrm>
          <a:prstGeom prst="roundRect">
            <a:avLst>
              <a:gd name="adj" fmla="val 8000"/>
            </a:avLst>
          </a:prstGeom>
          <a:solidFill>
            <a:srgbClr val="7C3AED"/>
          </a:solidFill>
          <a:ln/>
        </p:spPr>
      </p:sp>
      <p:sp>
        <p:nvSpPr>
          <p:cNvPr id="13" name="Text 11"/>
          <p:cNvSpPr/>
          <p:nvPr/>
        </p:nvSpPr>
        <p:spPr>
          <a:xfrm>
            <a:off x="6675120" y="5074920"/>
            <a:ext cx="4572000" cy="82296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 AI writes answer</a:t>
            </a:r>
            <a:endParaRPr lang="en-US" sz="1600" dirty="0"/>
          </a:p>
          <a:p>
            <a:pPr algn="ctr" indent="0" marL="0">
              <a:buNone/>
            </a:pPr>
            <a:r>
              <a:rPr lang="en-US" sz="1600" b="1" dirty="0">
                <a:solidFill>
                  <a:srgbClr val="FFFFFF"/>
                </a:solidFill>
                <a:latin typeface="Arial" pitchFamily="34" charset="0"/>
                <a:ea typeface="Arial" pitchFamily="34" charset="-122"/>
                <a:cs typeface="Arial" pitchFamily="34" charset="-120"/>
              </a:rPr>
              <a:t>using those documents</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indent="0" marL="0">
              <a:buNone/>
            </a:pPr>
            <a:r>
              <a:rPr lang="en-US" sz="2600" b="1" dirty="0">
                <a:solidFill>
                  <a:srgbClr val="0F172A"/>
                </a:solidFill>
                <a:latin typeface="Arial" pitchFamily="34" charset="0"/>
                <a:ea typeface="Arial" pitchFamily="34" charset="-122"/>
                <a:cs typeface="Arial" pitchFamily="34" charset="-120"/>
              </a:rPr>
              <a:t>14. Why Do We Need RAG?</a:t>
            </a:r>
            <a:endParaRPr lang="en-US" sz="2600" dirty="0"/>
          </a:p>
        </p:txBody>
      </p:sp>
      <p:sp>
        <p:nvSpPr>
          <p:cNvPr id="3" name="Shape 1"/>
          <p:cNvSpPr/>
          <p:nvPr/>
        </p:nvSpPr>
        <p:spPr>
          <a:xfrm>
            <a:off x="457200" y="868680"/>
            <a:ext cx="1463040" cy="64008"/>
          </a:xfrm>
          <a:prstGeom prst="rect">
            <a:avLst/>
          </a:prstGeom>
          <a:solidFill>
            <a:srgbClr val="2563EB"/>
          </a:solidFill>
          <a:ln/>
        </p:spPr>
      </p:sp>
      <p:sp>
        <p:nvSpPr>
          <p:cNvPr id="4" name="Shape 2"/>
          <p:cNvSpPr/>
          <p:nvPr/>
        </p:nvSpPr>
        <p:spPr>
          <a:xfrm>
            <a:off x="457200" y="1234440"/>
            <a:ext cx="5486400" cy="5029200"/>
          </a:xfrm>
          <a:prstGeom prst="roundRect">
            <a:avLst>
              <a:gd name="adj" fmla="val 2182"/>
            </a:avLst>
          </a:prstGeom>
          <a:solidFill>
            <a:srgbClr val="FEE2E2"/>
          </a:solidFill>
          <a:ln/>
        </p:spPr>
      </p:sp>
      <p:sp>
        <p:nvSpPr>
          <p:cNvPr id="5" name="Text 3"/>
          <p:cNvSpPr/>
          <p:nvPr/>
        </p:nvSpPr>
        <p:spPr>
          <a:xfrm>
            <a:off x="731520" y="1463040"/>
            <a:ext cx="4937760" cy="365760"/>
          </a:xfrm>
          <a:prstGeom prst="rect">
            <a:avLst/>
          </a:prstGeom>
          <a:noFill/>
          <a:ln/>
        </p:spPr>
        <p:txBody>
          <a:bodyPr wrap="square" lIns="0" tIns="0" rIns="0" bIns="0" rtlCol="0" anchor="ctr"/>
          <a:lstStyle/>
          <a:p>
            <a:pPr indent="0" marL="0">
              <a:buNone/>
            </a:pPr>
            <a:r>
              <a:rPr lang="en-US" sz="2000" b="1" dirty="0">
                <a:solidFill>
                  <a:srgbClr val="DC2626"/>
                </a:solidFill>
                <a:latin typeface="Arial" pitchFamily="34" charset="0"/>
                <a:ea typeface="Arial" pitchFamily="34" charset="-122"/>
                <a:cs typeface="Arial" pitchFamily="34" charset="-120"/>
              </a:rPr>
              <a:t>Without RAG</a:t>
            </a:r>
            <a:endParaRPr lang="en-US" sz="2000" dirty="0"/>
          </a:p>
        </p:txBody>
      </p:sp>
      <p:sp>
        <p:nvSpPr>
          <p:cNvPr id="6" name="Text 4"/>
          <p:cNvSpPr/>
          <p:nvPr/>
        </p:nvSpPr>
        <p:spPr>
          <a:xfrm>
            <a:off x="731520" y="2103120"/>
            <a:ext cx="4937760" cy="3657600"/>
          </a:xfrm>
          <a:prstGeom prst="rect">
            <a:avLst/>
          </a:prstGeom>
          <a:noFill/>
          <a:ln/>
        </p:spPr>
        <p:txBody>
          <a:bodyPr wrap="square" lIns="0" tIns="0" rIns="0" bIns="0" rtlCol="0" anchor="ctr"/>
          <a:lstStyle/>
          <a:p>
            <a:pPr indent="0" marL="0">
              <a:buNone/>
            </a:pPr>
            <a:r>
              <a:rPr lang="en-US" sz="1500" dirty="0">
                <a:solidFill>
                  <a:srgbClr val="1E293B"/>
                </a:solidFill>
                <a:latin typeface="Arial" pitchFamily="34" charset="0"/>
                <a:ea typeface="Arial" pitchFamily="34" charset="-122"/>
                <a:cs typeface="Arial" pitchFamily="34" charset="-120"/>
              </a:rPr>
              <a:t>You ask:</a:t>
            </a:r>
            <a:endParaRPr lang="en-US" sz="1500" dirty="0"/>
          </a:p>
          <a:p>
            <a:pPr indent="0" marL="0">
              <a:buNone/>
            </a:pPr>
            <a:r>
              <a:rPr lang="en-US" sz="1500" dirty="0">
                <a:solidFill>
                  <a:srgbClr val="1E293B"/>
                </a:solidFill>
                <a:latin typeface="Arial" pitchFamily="34" charset="0"/>
                <a:ea typeface="Arial" pitchFamily="34" charset="-122"/>
                <a:cs typeface="Arial" pitchFamily="34" charset="-120"/>
              </a:rPr>
              <a:t>“What is our company leave policy?”</a:t>
            </a:r>
            <a:endParaRPr lang="en-US" sz="1500" dirty="0"/>
          </a:p>
          <a:p>
            <a:pPr indent="0" marL="0">
              <a:buNone/>
            </a:pPr>
            <a:endParaRPr lang="en-US" sz="1500" dirty="0"/>
          </a:p>
          <a:p>
            <a:pPr indent="0" marL="0">
              <a:buNone/>
            </a:pPr>
            <a:r>
              <a:rPr lang="en-US" sz="1500" dirty="0">
                <a:solidFill>
                  <a:srgbClr val="1E293B"/>
                </a:solidFill>
                <a:latin typeface="Arial" pitchFamily="34" charset="0"/>
                <a:ea typeface="Arial" pitchFamily="34" charset="-122"/>
                <a:cs typeface="Arial" pitchFamily="34" charset="-120"/>
              </a:rPr>
              <a:t>AI says:</a:t>
            </a:r>
            <a:endParaRPr lang="en-US" sz="1500" dirty="0"/>
          </a:p>
          <a:p>
            <a:pPr indent="0" marL="0">
              <a:buNone/>
            </a:pPr>
            <a:r>
              <a:rPr lang="en-US" sz="1500" dirty="0">
                <a:solidFill>
                  <a:srgbClr val="1E293B"/>
                </a:solidFill>
                <a:latin typeface="Arial" pitchFamily="34" charset="0"/>
                <a:ea typeface="Arial" pitchFamily="34" charset="-122"/>
                <a:cs typeface="Arial" pitchFamily="34" charset="-120"/>
              </a:rPr>
              <a:t>“I don’t know your internal policy.”</a:t>
            </a:r>
            <a:endParaRPr lang="en-US" sz="1500" dirty="0"/>
          </a:p>
          <a:p>
            <a:pPr indent="0" marL="0">
              <a:buNone/>
            </a:pPr>
            <a:endParaRPr lang="en-US" sz="1500" dirty="0"/>
          </a:p>
          <a:p>
            <a:pPr indent="0" marL="0">
              <a:buNone/>
            </a:pPr>
            <a:r>
              <a:rPr lang="en-US" sz="1500" dirty="0">
                <a:solidFill>
                  <a:srgbClr val="1E293B"/>
                </a:solidFill>
                <a:latin typeface="Arial" pitchFamily="34" charset="0"/>
                <a:ea typeface="Arial" pitchFamily="34" charset="-122"/>
                <a:cs typeface="Arial" pitchFamily="34" charset="-120"/>
              </a:rPr>
              <a:t>Or worse — it makes up a wrong answer.</a:t>
            </a:r>
            <a:endParaRPr lang="en-US" sz="1500" dirty="0"/>
          </a:p>
        </p:txBody>
      </p:sp>
      <p:sp>
        <p:nvSpPr>
          <p:cNvPr id="7" name="Shape 5"/>
          <p:cNvSpPr/>
          <p:nvPr/>
        </p:nvSpPr>
        <p:spPr>
          <a:xfrm>
            <a:off x="6217920" y="1234440"/>
            <a:ext cx="5486400" cy="5029200"/>
          </a:xfrm>
          <a:prstGeom prst="roundRect">
            <a:avLst>
              <a:gd name="adj" fmla="val 2182"/>
            </a:avLst>
          </a:prstGeom>
          <a:solidFill>
            <a:srgbClr val="D1FAE5"/>
          </a:solidFill>
          <a:ln/>
        </p:spPr>
      </p:sp>
      <p:sp>
        <p:nvSpPr>
          <p:cNvPr id="8" name="Text 6"/>
          <p:cNvSpPr/>
          <p:nvPr/>
        </p:nvSpPr>
        <p:spPr>
          <a:xfrm>
            <a:off x="6492240" y="1463040"/>
            <a:ext cx="4937760" cy="365760"/>
          </a:xfrm>
          <a:prstGeom prst="rect">
            <a:avLst/>
          </a:prstGeom>
          <a:noFill/>
          <a:ln/>
        </p:spPr>
        <p:txBody>
          <a:bodyPr wrap="square" lIns="0" tIns="0" rIns="0" bIns="0" rtlCol="0" anchor="ctr"/>
          <a:lstStyle/>
          <a:p>
            <a:pPr indent="0" marL="0">
              <a:buNone/>
            </a:pPr>
            <a:r>
              <a:rPr lang="en-US" sz="2000" b="1" dirty="0">
                <a:solidFill>
                  <a:srgbClr val="059669"/>
                </a:solidFill>
                <a:latin typeface="Arial" pitchFamily="34" charset="0"/>
                <a:ea typeface="Arial" pitchFamily="34" charset="-122"/>
                <a:cs typeface="Arial" pitchFamily="34" charset="-120"/>
              </a:rPr>
              <a:t>With RAG</a:t>
            </a:r>
            <a:endParaRPr lang="en-US" sz="2000" dirty="0"/>
          </a:p>
        </p:txBody>
      </p:sp>
      <p:sp>
        <p:nvSpPr>
          <p:cNvPr id="9" name="Text 7"/>
          <p:cNvSpPr/>
          <p:nvPr/>
        </p:nvSpPr>
        <p:spPr>
          <a:xfrm>
            <a:off x="6492240" y="2103120"/>
            <a:ext cx="4937760" cy="3657600"/>
          </a:xfrm>
          <a:prstGeom prst="rect">
            <a:avLst/>
          </a:prstGeom>
          <a:noFill/>
          <a:ln/>
        </p:spPr>
        <p:txBody>
          <a:bodyPr wrap="square" lIns="0" tIns="0" rIns="0" bIns="0" rtlCol="0" anchor="ctr"/>
          <a:lstStyle/>
          <a:p>
            <a:pPr indent="0" marL="0">
              <a:buNone/>
            </a:pPr>
            <a:r>
              <a:rPr lang="en-US" sz="1500" dirty="0">
                <a:solidFill>
                  <a:srgbClr val="1E293B"/>
                </a:solidFill>
                <a:latin typeface="Arial" pitchFamily="34" charset="0"/>
                <a:ea typeface="Arial" pitchFamily="34" charset="-122"/>
                <a:cs typeface="Arial" pitchFamily="34" charset="-120"/>
              </a:rPr>
              <a:t>1. You ask the same question</a:t>
            </a:r>
            <a:endParaRPr lang="en-US" sz="1500" dirty="0"/>
          </a:p>
          <a:p>
            <a:pPr indent="0" marL="0">
              <a:buNone/>
            </a:pPr>
            <a:r>
              <a:rPr lang="en-US" sz="1500" dirty="0">
                <a:solidFill>
                  <a:srgbClr val="1E293B"/>
                </a:solidFill>
                <a:latin typeface="Arial" pitchFamily="34" charset="0"/>
                <a:ea typeface="Arial" pitchFamily="34" charset="-122"/>
                <a:cs typeface="Arial" pitchFamily="34" charset="-120"/>
              </a:rPr>
              <a:t>2. System searches your documents</a:t>
            </a:r>
            <a:endParaRPr lang="en-US" sz="1500" dirty="0"/>
          </a:p>
          <a:p>
            <a:pPr indent="0" marL="0">
              <a:buNone/>
            </a:pPr>
            <a:r>
              <a:rPr lang="en-US" sz="1500" dirty="0">
                <a:solidFill>
                  <a:srgbClr val="1E293B"/>
                </a:solidFill>
                <a:latin typeface="Arial" pitchFamily="34" charset="0"/>
                <a:ea typeface="Arial" pitchFamily="34" charset="-122"/>
                <a:cs typeface="Arial" pitchFamily="34" charset="-120"/>
              </a:rPr>
              <a:t>3. Finds the leave policy</a:t>
            </a:r>
            <a:endParaRPr lang="en-US" sz="1500" dirty="0"/>
          </a:p>
          <a:p>
            <a:pPr indent="0" marL="0">
              <a:buNone/>
            </a:pPr>
            <a:r>
              <a:rPr lang="en-US" sz="1500" dirty="0">
                <a:solidFill>
                  <a:srgbClr val="1E293B"/>
                </a:solidFill>
                <a:latin typeface="Arial" pitchFamily="34" charset="0"/>
                <a:ea typeface="Arial" pitchFamily="34" charset="-122"/>
                <a:cs typeface="Arial" pitchFamily="34" charset="-120"/>
              </a:rPr>
              <a:t>4. Gives that text to the AI</a:t>
            </a:r>
            <a:endParaRPr lang="en-US" sz="1500" dirty="0"/>
          </a:p>
          <a:p>
            <a:pPr indent="0" marL="0">
              <a:buNone/>
            </a:pPr>
            <a:r>
              <a:rPr lang="en-US" sz="1500" dirty="0">
                <a:solidFill>
                  <a:srgbClr val="1E293B"/>
                </a:solidFill>
                <a:latin typeface="Arial" pitchFamily="34" charset="0"/>
                <a:ea typeface="Arial" pitchFamily="34" charset="-122"/>
                <a:cs typeface="Arial" pitchFamily="34" charset="-120"/>
              </a:rPr>
              <a:t>5. AI answers using the real policy</a:t>
            </a:r>
            <a:endParaRPr lang="en-US" sz="1500" dirty="0"/>
          </a:p>
          <a:p>
            <a:pPr indent="0" marL="0">
              <a:buNone/>
            </a:pPr>
            <a:endParaRPr lang="en-US" sz="1500" dirty="0"/>
          </a:p>
          <a:p>
            <a:pPr indent="0" marL="0">
              <a:buNone/>
            </a:pPr>
            <a:r>
              <a:rPr lang="en-US" sz="1500" dirty="0">
                <a:solidFill>
                  <a:srgbClr val="1E293B"/>
                </a:solidFill>
                <a:latin typeface="Arial" pitchFamily="34" charset="0"/>
                <a:ea typeface="Arial" pitchFamily="34" charset="-122"/>
                <a:cs typeface="Arial" pitchFamily="34" charset="-120"/>
              </a:rPr>
              <a:t>Result: Correct answer based on real data.</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indent="0" marL="0">
              <a:buNone/>
            </a:pPr>
            <a:r>
              <a:rPr lang="en-US" sz="2600" b="1" dirty="0">
                <a:solidFill>
                  <a:srgbClr val="0F172A"/>
                </a:solidFill>
                <a:latin typeface="Arial" pitchFamily="34" charset="0"/>
                <a:ea typeface="Arial" pitchFamily="34" charset="-122"/>
                <a:cs typeface="Arial" pitchFamily="34" charset="-120"/>
              </a:rPr>
              <a:t>15. How RAG Works — Step by Step</a:t>
            </a:r>
            <a:endParaRPr lang="en-US" sz="2600" dirty="0"/>
          </a:p>
        </p:txBody>
      </p:sp>
      <p:sp>
        <p:nvSpPr>
          <p:cNvPr id="3" name="Shape 1"/>
          <p:cNvSpPr/>
          <p:nvPr/>
        </p:nvSpPr>
        <p:spPr>
          <a:xfrm>
            <a:off x="457200" y="868680"/>
            <a:ext cx="1463040" cy="64008"/>
          </a:xfrm>
          <a:prstGeom prst="rect">
            <a:avLst/>
          </a:prstGeom>
          <a:solidFill>
            <a:srgbClr val="2563EB"/>
          </a:solidFill>
          <a:ln/>
        </p:spPr>
      </p:sp>
      <p:sp>
        <p:nvSpPr>
          <p:cNvPr id="4" name="Text 2"/>
          <p:cNvSpPr/>
          <p:nvPr/>
        </p:nvSpPr>
        <p:spPr>
          <a:xfrm>
            <a:off x="457200" y="1143000"/>
            <a:ext cx="10972800" cy="320040"/>
          </a:xfrm>
          <a:prstGeom prst="rect">
            <a:avLst/>
          </a:prstGeom>
          <a:noFill/>
          <a:ln/>
        </p:spPr>
        <p:txBody>
          <a:bodyPr wrap="square" lIns="0" tIns="0" rIns="0" bIns="0" rtlCol="0" anchor="ctr"/>
          <a:lstStyle/>
          <a:p>
            <a:pPr indent="0" marL="0">
              <a:buNone/>
            </a:pPr>
            <a:r>
              <a:rPr lang="en-US" sz="1500" dirty="0">
                <a:solidFill>
                  <a:srgbClr val="64748B"/>
                </a:solidFill>
                <a:latin typeface="Arial" pitchFamily="34" charset="0"/>
                <a:ea typeface="Arial" pitchFamily="34" charset="-122"/>
                <a:cs typeface="Arial" pitchFamily="34" charset="-120"/>
              </a:rPr>
              <a:t>First we prepare the documents (done once):</a:t>
            </a:r>
            <a:endParaRPr lang="en-US" sz="1500" dirty="0"/>
          </a:p>
        </p:txBody>
      </p:sp>
      <p:sp>
        <p:nvSpPr>
          <p:cNvPr id="5" name="Shape 3"/>
          <p:cNvSpPr/>
          <p:nvPr/>
        </p:nvSpPr>
        <p:spPr>
          <a:xfrm>
            <a:off x="457200" y="1600200"/>
            <a:ext cx="640080" cy="640080"/>
          </a:xfrm>
          <a:prstGeom prst="ellipse">
            <a:avLst/>
          </a:prstGeom>
          <a:solidFill>
            <a:srgbClr val="2563EB"/>
          </a:solidFill>
          <a:ln/>
        </p:spPr>
      </p:sp>
      <p:sp>
        <p:nvSpPr>
          <p:cNvPr id="6" name="Text 4"/>
          <p:cNvSpPr/>
          <p:nvPr/>
        </p:nvSpPr>
        <p:spPr>
          <a:xfrm>
            <a:off x="457200" y="1737360"/>
            <a:ext cx="64008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7" name="Text 5"/>
          <p:cNvSpPr/>
          <p:nvPr/>
        </p:nvSpPr>
        <p:spPr>
          <a:xfrm>
            <a:off x="1371600" y="1645920"/>
            <a:ext cx="9601200" cy="320040"/>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Collect documents</a:t>
            </a:r>
            <a:endParaRPr lang="en-US" sz="1600" dirty="0"/>
          </a:p>
        </p:txBody>
      </p:sp>
      <p:sp>
        <p:nvSpPr>
          <p:cNvPr id="8" name="Text 6"/>
          <p:cNvSpPr/>
          <p:nvPr/>
        </p:nvSpPr>
        <p:spPr>
          <a:xfrm>
            <a:off x="1371600" y="1965960"/>
            <a:ext cx="9601200" cy="320040"/>
          </a:xfrm>
          <a:prstGeom prst="rect">
            <a:avLst/>
          </a:prstGeom>
          <a:noFill/>
          <a:ln/>
        </p:spPr>
        <p:txBody>
          <a:bodyPr wrap="square" lIns="0" tIns="0" rIns="0" bIns="0" rtlCol="0" anchor="ctr"/>
          <a:lstStyle/>
          <a:p>
            <a:pPr indent="0" marL="0">
              <a:buNone/>
            </a:pPr>
            <a:r>
              <a:rPr lang="en-US" sz="1400" dirty="0">
                <a:solidFill>
                  <a:srgbClr val="64748B"/>
                </a:solidFill>
                <a:latin typeface="Arial" pitchFamily="34" charset="0"/>
                <a:ea typeface="Arial" pitchFamily="34" charset="-122"/>
                <a:cs typeface="Arial" pitchFamily="34" charset="-120"/>
              </a:rPr>
              <a:t>PDFs, Word files, websites, etc.</a:t>
            </a:r>
            <a:endParaRPr lang="en-US" sz="1400" dirty="0"/>
          </a:p>
        </p:txBody>
      </p:sp>
      <p:sp>
        <p:nvSpPr>
          <p:cNvPr id="9" name="Shape 7"/>
          <p:cNvSpPr/>
          <p:nvPr/>
        </p:nvSpPr>
        <p:spPr>
          <a:xfrm>
            <a:off x="457200" y="2743200"/>
            <a:ext cx="640080" cy="640080"/>
          </a:xfrm>
          <a:prstGeom prst="ellipse">
            <a:avLst/>
          </a:prstGeom>
          <a:solidFill>
            <a:srgbClr val="2563EB"/>
          </a:solidFill>
          <a:ln/>
        </p:spPr>
      </p:sp>
      <p:sp>
        <p:nvSpPr>
          <p:cNvPr id="10" name="Text 8"/>
          <p:cNvSpPr/>
          <p:nvPr/>
        </p:nvSpPr>
        <p:spPr>
          <a:xfrm>
            <a:off x="457200" y="2880360"/>
            <a:ext cx="64008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1" name="Text 9"/>
          <p:cNvSpPr/>
          <p:nvPr/>
        </p:nvSpPr>
        <p:spPr>
          <a:xfrm>
            <a:off x="1371600" y="2788920"/>
            <a:ext cx="9601200" cy="320040"/>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Split into chunks</a:t>
            </a:r>
            <a:endParaRPr lang="en-US" sz="1600" dirty="0"/>
          </a:p>
        </p:txBody>
      </p:sp>
      <p:sp>
        <p:nvSpPr>
          <p:cNvPr id="12" name="Text 10"/>
          <p:cNvSpPr/>
          <p:nvPr/>
        </p:nvSpPr>
        <p:spPr>
          <a:xfrm>
            <a:off x="1371600" y="3108960"/>
            <a:ext cx="9601200" cy="320040"/>
          </a:xfrm>
          <a:prstGeom prst="rect">
            <a:avLst/>
          </a:prstGeom>
          <a:noFill/>
          <a:ln/>
        </p:spPr>
        <p:txBody>
          <a:bodyPr wrap="square" lIns="0" tIns="0" rIns="0" bIns="0" rtlCol="0" anchor="ctr"/>
          <a:lstStyle/>
          <a:p>
            <a:pPr indent="0" marL="0">
              <a:buNone/>
            </a:pPr>
            <a:r>
              <a:rPr lang="en-US" sz="1400" dirty="0">
                <a:solidFill>
                  <a:srgbClr val="64748B"/>
                </a:solidFill>
                <a:latin typeface="Arial" pitchFamily="34" charset="0"/>
                <a:ea typeface="Arial" pitchFamily="34" charset="-122"/>
                <a:cs typeface="Arial" pitchFamily="34" charset="-120"/>
              </a:rPr>
              <a:t>Break big files into small pieces</a:t>
            </a:r>
            <a:endParaRPr lang="en-US" sz="1400" dirty="0"/>
          </a:p>
        </p:txBody>
      </p:sp>
      <p:sp>
        <p:nvSpPr>
          <p:cNvPr id="13" name="Shape 11"/>
          <p:cNvSpPr/>
          <p:nvPr/>
        </p:nvSpPr>
        <p:spPr>
          <a:xfrm>
            <a:off x="457200" y="3886200"/>
            <a:ext cx="640080" cy="640080"/>
          </a:xfrm>
          <a:prstGeom prst="ellipse">
            <a:avLst/>
          </a:prstGeom>
          <a:solidFill>
            <a:srgbClr val="2563EB"/>
          </a:solidFill>
          <a:ln/>
        </p:spPr>
      </p:sp>
      <p:sp>
        <p:nvSpPr>
          <p:cNvPr id="14" name="Text 12"/>
          <p:cNvSpPr/>
          <p:nvPr/>
        </p:nvSpPr>
        <p:spPr>
          <a:xfrm>
            <a:off x="457200" y="4023360"/>
            <a:ext cx="64008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5" name="Text 13"/>
          <p:cNvSpPr/>
          <p:nvPr/>
        </p:nvSpPr>
        <p:spPr>
          <a:xfrm>
            <a:off x="1371600" y="3931920"/>
            <a:ext cx="9601200" cy="320040"/>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Create embeddings</a:t>
            </a:r>
            <a:endParaRPr lang="en-US" sz="1600" dirty="0"/>
          </a:p>
        </p:txBody>
      </p:sp>
      <p:sp>
        <p:nvSpPr>
          <p:cNvPr id="16" name="Text 14"/>
          <p:cNvSpPr/>
          <p:nvPr/>
        </p:nvSpPr>
        <p:spPr>
          <a:xfrm>
            <a:off x="1371600" y="4251960"/>
            <a:ext cx="9601200" cy="320040"/>
          </a:xfrm>
          <a:prstGeom prst="rect">
            <a:avLst/>
          </a:prstGeom>
          <a:noFill/>
          <a:ln/>
        </p:spPr>
        <p:txBody>
          <a:bodyPr wrap="square" lIns="0" tIns="0" rIns="0" bIns="0" rtlCol="0" anchor="ctr"/>
          <a:lstStyle/>
          <a:p>
            <a:pPr indent="0" marL="0">
              <a:buNone/>
            </a:pPr>
            <a:r>
              <a:rPr lang="en-US" sz="1400" dirty="0">
                <a:solidFill>
                  <a:srgbClr val="64748B"/>
                </a:solidFill>
                <a:latin typeface="Arial" pitchFamily="34" charset="0"/>
                <a:ea typeface="Arial" pitchFamily="34" charset="-122"/>
                <a:cs typeface="Arial" pitchFamily="34" charset="-120"/>
              </a:rPr>
              <a:t>Turn each piece into numbers</a:t>
            </a:r>
            <a:endParaRPr lang="en-US" sz="1400" dirty="0"/>
          </a:p>
        </p:txBody>
      </p:sp>
      <p:sp>
        <p:nvSpPr>
          <p:cNvPr id="17" name="Shape 15"/>
          <p:cNvSpPr/>
          <p:nvPr/>
        </p:nvSpPr>
        <p:spPr>
          <a:xfrm>
            <a:off x="457200" y="5029200"/>
            <a:ext cx="640080" cy="640080"/>
          </a:xfrm>
          <a:prstGeom prst="ellipse">
            <a:avLst/>
          </a:prstGeom>
          <a:solidFill>
            <a:srgbClr val="2563EB"/>
          </a:solidFill>
          <a:ln/>
        </p:spPr>
      </p:sp>
      <p:sp>
        <p:nvSpPr>
          <p:cNvPr id="18" name="Text 16"/>
          <p:cNvSpPr/>
          <p:nvPr/>
        </p:nvSpPr>
        <p:spPr>
          <a:xfrm>
            <a:off x="457200" y="5166360"/>
            <a:ext cx="64008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19" name="Text 17"/>
          <p:cNvSpPr/>
          <p:nvPr/>
        </p:nvSpPr>
        <p:spPr>
          <a:xfrm>
            <a:off x="1371600" y="5074920"/>
            <a:ext cx="9601200" cy="320040"/>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Store in vector database</a:t>
            </a:r>
            <a:endParaRPr lang="en-US" sz="1600" dirty="0"/>
          </a:p>
        </p:txBody>
      </p:sp>
      <p:sp>
        <p:nvSpPr>
          <p:cNvPr id="20" name="Text 18"/>
          <p:cNvSpPr/>
          <p:nvPr/>
        </p:nvSpPr>
        <p:spPr>
          <a:xfrm>
            <a:off x="1371600" y="5394960"/>
            <a:ext cx="9601200" cy="320040"/>
          </a:xfrm>
          <a:prstGeom prst="rect">
            <a:avLst/>
          </a:prstGeom>
          <a:noFill/>
          <a:ln/>
        </p:spPr>
        <p:txBody>
          <a:bodyPr wrap="square" lIns="0" tIns="0" rIns="0" bIns="0" rtlCol="0" anchor="ctr"/>
          <a:lstStyle/>
          <a:p>
            <a:pPr indent="0" marL="0">
              <a:buNone/>
            </a:pPr>
            <a:r>
              <a:rPr lang="en-US" sz="1400" dirty="0">
                <a:solidFill>
                  <a:srgbClr val="64748B"/>
                </a:solidFill>
                <a:latin typeface="Arial" pitchFamily="34" charset="0"/>
                <a:ea typeface="Arial" pitchFamily="34" charset="-122"/>
                <a:cs typeface="Arial" pitchFamily="34" charset="-120"/>
              </a:rPr>
              <a:t>Save the numbers for fast search</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indent="0" marL="0">
              <a:buNone/>
            </a:pPr>
            <a:r>
              <a:rPr lang="en-US" sz="2600" b="1" dirty="0">
                <a:solidFill>
                  <a:srgbClr val="0F172A"/>
                </a:solidFill>
                <a:latin typeface="Arial" pitchFamily="34" charset="0"/>
                <a:ea typeface="Arial" pitchFamily="34" charset="-122"/>
                <a:cs typeface="Arial" pitchFamily="34" charset="-120"/>
              </a:rPr>
              <a:t>16. When You Ask a Question</a:t>
            </a:r>
            <a:endParaRPr lang="en-US" sz="2600" dirty="0"/>
          </a:p>
        </p:txBody>
      </p:sp>
      <p:sp>
        <p:nvSpPr>
          <p:cNvPr id="3" name="Shape 1"/>
          <p:cNvSpPr/>
          <p:nvPr/>
        </p:nvSpPr>
        <p:spPr>
          <a:xfrm>
            <a:off x="457200" y="868680"/>
            <a:ext cx="1463040" cy="64008"/>
          </a:xfrm>
          <a:prstGeom prst="rect">
            <a:avLst/>
          </a:prstGeom>
          <a:solidFill>
            <a:srgbClr val="2563EB"/>
          </a:solidFill>
          <a:ln/>
        </p:spPr>
      </p:sp>
      <p:sp>
        <p:nvSpPr>
          <p:cNvPr id="4" name="Shape 2"/>
          <p:cNvSpPr/>
          <p:nvPr/>
        </p:nvSpPr>
        <p:spPr>
          <a:xfrm>
            <a:off x="457200" y="1371600"/>
            <a:ext cx="3657600" cy="2103120"/>
          </a:xfrm>
          <a:prstGeom prst="roundRect">
            <a:avLst>
              <a:gd name="adj" fmla="val 5217"/>
            </a:avLst>
          </a:prstGeom>
          <a:solidFill>
            <a:srgbClr val="F1F5F9"/>
          </a:solidFill>
          <a:ln/>
        </p:spPr>
      </p:sp>
      <p:sp>
        <p:nvSpPr>
          <p:cNvPr id="5" name="Shape 3"/>
          <p:cNvSpPr/>
          <p:nvPr/>
        </p:nvSpPr>
        <p:spPr>
          <a:xfrm>
            <a:off x="1874520" y="1645920"/>
            <a:ext cx="822960" cy="822960"/>
          </a:xfrm>
          <a:prstGeom prst="ellipse">
            <a:avLst/>
          </a:prstGeom>
          <a:solidFill>
            <a:srgbClr val="2563EB"/>
          </a:solidFill>
          <a:ln/>
        </p:spPr>
      </p:sp>
      <p:sp>
        <p:nvSpPr>
          <p:cNvPr id="6" name="Text 4"/>
          <p:cNvSpPr/>
          <p:nvPr/>
        </p:nvSpPr>
        <p:spPr>
          <a:xfrm>
            <a:off x="1874520" y="1828800"/>
            <a:ext cx="82296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7" name="Text 5"/>
          <p:cNvSpPr/>
          <p:nvPr/>
        </p:nvSpPr>
        <p:spPr>
          <a:xfrm>
            <a:off x="640080" y="2697480"/>
            <a:ext cx="3291840" cy="502920"/>
          </a:xfrm>
          <a:prstGeom prst="rect">
            <a:avLst/>
          </a:prstGeom>
          <a:noFill/>
          <a:ln/>
        </p:spPr>
        <p:txBody>
          <a:bodyPr wrap="square" lIns="0" tIns="0" rIns="0" bIns="0" rtlCol="0" anchor="ctr"/>
          <a:lstStyle/>
          <a:p>
            <a:pPr algn="ctr" indent="0" marL="0">
              <a:buNone/>
            </a:pPr>
            <a:r>
              <a:rPr lang="en-US" sz="1500" b="1" dirty="0">
                <a:solidFill>
                  <a:srgbClr val="0F172A"/>
                </a:solidFill>
                <a:latin typeface="Arial" pitchFamily="34" charset="0"/>
                <a:ea typeface="Arial" pitchFamily="34" charset="-122"/>
                <a:cs typeface="Arial" pitchFamily="34" charset="-120"/>
              </a:rPr>
              <a:t>You ask a question</a:t>
            </a:r>
            <a:endParaRPr lang="en-US" sz="1500" dirty="0"/>
          </a:p>
        </p:txBody>
      </p:sp>
      <p:sp>
        <p:nvSpPr>
          <p:cNvPr id="8" name="Shape 6"/>
          <p:cNvSpPr/>
          <p:nvPr/>
        </p:nvSpPr>
        <p:spPr>
          <a:xfrm>
            <a:off x="4297680" y="1371600"/>
            <a:ext cx="3657600" cy="2103120"/>
          </a:xfrm>
          <a:prstGeom prst="roundRect">
            <a:avLst>
              <a:gd name="adj" fmla="val 5217"/>
            </a:avLst>
          </a:prstGeom>
          <a:solidFill>
            <a:srgbClr val="F1F5F9"/>
          </a:solidFill>
          <a:ln/>
        </p:spPr>
      </p:sp>
      <p:sp>
        <p:nvSpPr>
          <p:cNvPr id="9" name="Shape 7"/>
          <p:cNvSpPr/>
          <p:nvPr/>
        </p:nvSpPr>
        <p:spPr>
          <a:xfrm>
            <a:off x="5715000" y="1645920"/>
            <a:ext cx="822960" cy="822960"/>
          </a:xfrm>
          <a:prstGeom prst="ellipse">
            <a:avLst/>
          </a:prstGeom>
          <a:solidFill>
            <a:srgbClr val="2563EB"/>
          </a:solidFill>
          <a:ln/>
        </p:spPr>
      </p:sp>
      <p:sp>
        <p:nvSpPr>
          <p:cNvPr id="10" name="Text 8"/>
          <p:cNvSpPr/>
          <p:nvPr/>
        </p:nvSpPr>
        <p:spPr>
          <a:xfrm>
            <a:off x="5715000" y="1828800"/>
            <a:ext cx="82296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1" name="Text 9"/>
          <p:cNvSpPr/>
          <p:nvPr/>
        </p:nvSpPr>
        <p:spPr>
          <a:xfrm>
            <a:off x="4480560" y="2697480"/>
            <a:ext cx="3291840" cy="502920"/>
          </a:xfrm>
          <a:prstGeom prst="rect">
            <a:avLst/>
          </a:prstGeom>
          <a:noFill/>
          <a:ln/>
        </p:spPr>
        <p:txBody>
          <a:bodyPr wrap="square" lIns="0" tIns="0" rIns="0" bIns="0" rtlCol="0" anchor="ctr"/>
          <a:lstStyle/>
          <a:p>
            <a:pPr algn="ctr" indent="0" marL="0">
              <a:buNone/>
            </a:pPr>
            <a:r>
              <a:rPr lang="en-US" sz="1500" b="1" dirty="0">
                <a:solidFill>
                  <a:srgbClr val="0F172A"/>
                </a:solidFill>
                <a:latin typeface="Arial" pitchFamily="34" charset="0"/>
                <a:ea typeface="Arial" pitchFamily="34" charset="-122"/>
                <a:cs typeface="Arial" pitchFamily="34" charset="-120"/>
              </a:rPr>
              <a:t>Question is turned into numbers</a:t>
            </a:r>
            <a:endParaRPr lang="en-US" sz="1500" dirty="0"/>
          </a:p>
        </p:txBody>
      </p:sp>
      <p:sp>
        <p:nvSpPr>
          <p:cNvPr id="12" name="Shape 10"/>
          <p:cNvSpPr/>
          <p:nvPr/>
        </p:nvSpPr>
        <p:spPr>
          <a:xfrm>
            <a:off x="8138160" y="1371600"/>
            <a:ext cx="3657600" cy="2103120"/>
          </a:xfrm>
          <a:prstGeom prst="roundRect">
            <a:avLst>
              <a:gd name="adj" fmla="val 5217"/>
            </a:avLst>
          </a:prstGeom>
          <a:solidFill>
            <a:srgbClr val="F1F5F9"/>
          </a:solidFill>
          <a:ln/>
        </p:spPr>
      </p:sp>
      <p:sp>
        <p:nvSpPr>
          <p:cNvPr id="13" name="Shape 11"/>
          <p:cNvSpPr/>
          <p:nvPr/>
        </p:nvSpPr>
        <p:spPr>
          <a:xfrm>
            <a:off x="9555480" y="1645920"/>
            <a:ext cx="822960" cy="822960"/>
          </a:xfrm>
          <a:prstGeom prst="ellipse">
            <a:avLst/>
          </a:prstGeom>
          <a:solidFill>
            <a:srgbClr val="2563EB"/>
          </a:solidFill>
          <a:ln/>
        </p:spPr>
      </p:sp>
      <p:sp>
        <p:nvSpPr>
          <p:cNvPr id="14" name="Text 12"/>
          <p:cNvSpPr/>
          <p:nvPr/>
        </p:nvSpPr>
        <p:spPr>
          <a:xfrm>
            <a:off x="9555480" y="1828800"/>
            <a:ext cx="82296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5" name="Text 13"/>
          <p:cNvSpPr/>
          <p:nvPr/>
        </p:nvSpPr>
        <p:spPr>
          <a:xfrm>
            <a:off x="8321040" y="2697480"/>
            <a:ext cx="3291840" cy="502920"/>
          </a:xfrm>
          <a:prstGeom prst="rect">
            <a:avLst/>
          </a:prstGeom>
          <a:noFill/>
          <a:ln/>
        </p:spPr>
        <p:txBody>
          <a:bodyPr wrap="square" lIns="0" tIns="0" rIns="0" bIns="0" rtlCol="0" anchor="ctr"/>
          <a:lstStyle/>
          <a:p>
            <a:pPr algn="ctr" indent="0" marL="0">
              <a:buNone/>
            </a:pPr>
            <a:r>
              <a:rPr lang="en-US" sz="1500" b="1" dirty="0">
                <a:solidFill>
                  <a:srgbClr val="0F172A"/>
                </a:solidFill>
                <a:latin typeface="Arial" pitchFamily="34" charset="0"/>
                <a:ea typeface="Arial" pitchFamily="34" charset="-122"/>
                <a:cs typeface="Arial" pitchFamily="34" charset="-120"/>
              </a:rPr>
              <a:t>Search for similar documents</a:t>
            </a:r>
            <a:endParaRPr lang="en-US" sz="1500" dirty="0"/>
          </a:p>
        </p:txBody>
      </p:sp>
      <p:sp>
        <p:nvSpPr>
          <p:cNvPr id="16" name="Shape 14"/>
          <p:cNvSpPr/>
          <p:nvPr/>
        </p:nvSpPr>
        <p:spPr>
          <a:xfrm>
            <a:off x="457200" y="3749040"/>
            <a:ext cx="3657600" cy="2103120"/>
          </a:xfrm>
          <a:prstGeom prst="roundRect">
            <a:avLst>
              <a:gd name="adj" fmla="val 5217"/>
            </a:avLst>
          </a:prstGeom>
          <a:solidFill>
            <a:srgbClr val="F1F5F9"/>
          </a:solidFill>
          <a:ln/>
        </p:spPr>
      </p:sp>
      <p:sp>
        <p:nvSpPr>
          <p:cNvPr id="17" name="Shape 15"/>
          <p:cNvSpPr/>
          <p:nvPr/>
        </p:nvSpPr>
        <p:spPr>
          <a:xfrm>
            <a:off x="1874520" y="4023360"/>
            <a:ext cx="822960" cy="822960"/>
          </a:xfrm>
          <a:prstGeom prst="ellipse">
            <a:avLst/>
          </a:prstGeom>
          <a:solidFill>
            <a:srgbClr val="2563EB"/>
          </a:solidFill>
          <a:ln/>
        </p:spPr>
      </p:sp>
      <p:sp>
        <p:nvSpPr>
          <p:cNvPr id="18" name="Text 16"/>
          <p:cNvSpPr/>
          <p:nvPr/>
        </p:nvSpPr>
        <p:spPr>
          <a:xfrm>
            <a:off x="1874520" y="4206240"/>
            <a:ext cx="82296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19" name="Text 17"/>
          <p:cNvSpPr/>
          <p:nvPr/>
        </p:nvSpPr>
        <p:spPr>
          <a:xfrm>
            <a:off x="640080" y="5074920"/>
            <a:ext cx="3291840" cy="502920"/>
          </a:xfrm>
          <a:prstGeom prst="rect">
            <a:avLst/>
          </a:prstGeom>
          <a:noFill/>
          <a:ln/>
        </p:spPr>
        <p:txBody>
          <a:bodyPr wrap="square" lIns="0" tIns="0" rIns="0" bIns="0" rtlCol="0" anchor="ctr"/>
          <a:lstStyle/>
          <a:p>
            <a:pPr algn="ctr" indent="0" marL="0">
              <a:buNone/>
            </a:pPr>
            <a:r>
              <a:rPr lang="en-US" sz="1500" b="1" dirty="0">
                <a:solidFill>
                  <a:srgbClr val="0F172A"/>
                </a:solidFill>
                <a:latin typeface="Arial" pitchFamily="34" charset="0"/>
                <a:ea typeface="Arial" pitchFamily="34" charset="-122"/>
                <a:cs typeface="Arial" pitchFamily="34" charset="-120"/>
              </a:rPr>
              <a:t>Take the best matching pieces</a:t>
            </a:r>
            <a:endParaRPr lang="en-US" sz="1500" dirty="0"/>
          </a:p>
        </p:txBody>
      </p:sp>
      <p:sp>
        <p:nvSpPr>
          <p:cNvPr id="20" name="Shape 18"/>
          <p:cNvSpPr/>
          <p:nvPr/>
        </p:nvSpPr>
        <p:spPr>
          <a:xfrm>
            <a:off x="4297680" y="3749040"/>
            <a:ext cx="3657600" cy="2103120"/>
          </a:xfrm>
          <a:prstGeom prst="roundRect">
            <a:avLst>
              <a:gd name="adj" fmla="val 5217"/>
            </a:avLst>
          </a:prstGeom>
          <a:solidFill>
            <a:srgbClr val="F1F5F9"/>
          </a:solidFill>
          <a:ln/>
        </p:spPr>
      </p:sp>
      <p:sp>
        <p:nvSpPr>
          <p:cNvPr id="21" name="Shape 19"/>
          <p:cNvSpPr/>
          <p:nvPr/>
        </p:nvSpPr>
        <p:spPr>
          <a:xfrm>
            <a:off x="5715000" y="4023360"/>
            <a:ext cx="822960" cy="822960"/>
          </a:xfrm>
          <a:prstGeom prst="ellipse">
            <a:avLst/>
          </a:prstGeom>
          <a:solidFill>
            <a:srgbClr val="2563EB"/>
          </a:solidFill>
          <a:ln/>
        </p:spPr>
      </p:sp>
      <p:sp>
        <p:nvSpPr>
          <p:cNvPr id="22" name="Text 20"/>
          <p:cNvSpPr/>
          <p:nvPr/>
        </p:nvSpPr>
        <p:spPr>
          <a:xfrm>
            <a:off x="5715000" y="4206240"/>
            <a:ext cx="82296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5</a:t>
            </a:r>
            <a:endParaRPr lang="en-US" sz="2000" dirty="0"/>
          </a:p>
        </p:txBody>
      </p:sp>
      <p:sp>
        <p:nvSpPr>
          <p:cNvPr id="23" name="Text 21"/>
          <p:cNvSpPr/>
          <p:nvPr/>
        </p:nvSpPr>
        <p:spPr>
          <a:xfrm>
            <a:off x="4480560" y="5074920"/>
            <a:ext cx="3291840" cy="502920"/>
          </a:xfrm>
          <a:prstGeom prst="rect">
            <a:avLst/>
          </a:prstGeom>
          <a:noFill/>
          <a:ln/>
        </p:spPr>
        <p:txBody>
          <a:bodyPr wrap="square" lIns="0" tIns="0" rIns="0" bIns="0" rtlCol="0" anchor="ctr"/>
          <a:lstStyle/>
          <a:p>
            <a:pPr algn="ctr" indent="0" marL="0">
              <a:buNone/>
            </a:pPr>
            <a:r>
              <a:rPr lang="en-US" sz="1500" b="1" dirty="0">
                <a:solidFill>
                  <a:srgbClr val="0F172A"/>
                </a:solidFill>
                <a:latin typeface="Arial" pitchFamily="34" charset="0"/>
                <a:ea typeface="Arial" pitchFamily="34" charset="-122"/>
                <a:cs typeface="Arial" pitchFamily="34" charset="-120"/>
              </a:rPr>
              <a:t>Give those pieces + question to LLM</a:t>
            </a:r>
            <a:endParaRPr lang="en-US" sz="1500" dirty="0"/>
          </a:p>
        </p:txBody>
      </p:sp>
      <p:sp>
        <p:nvSpPr>
          <p:cNvPr id="24" name="Shape 22"/>
          <p:cNvSpPr/>
          <p:nvPr/>
        </p:nvSpPr>
        <p:spPr>
          <a:xfrm>
            <a:off x="8138160" y="3749040"/>
            <a:ext cx="3657600" cy="2103120"/>
          </a:xfrm>
          <a:prstGeom prst="roundRect">
            <a:avLst>
              <a:gd name="adj" fmla="val 5217"/>
            </a:avLst>
          </a:prstGeom>
          <a:solidFill>
            <a:srgbClr val="F1F5F9"/>
          </a:solidFill>
          <a:ln/>
        </p:spPr>
      </p:sp>
      <p:sp>
        <p:nvSpPr>
          <p:cNvPr id="25" name="Shape 23"/>
          <p:cNvSpPr/>
          <p:nvPr/>
        </p:nvSpPr>
        <p:spPr>
          <a:xfrm>
            <a:off x="9555480" y="4023360"/>
            <a:ext cx="822960" cy="822960"/>
          </a:xfrm>
          <a:prstGeom prst="ellipse">
            <a:avLst/>
          </a:prstGeom>
          <a:solidFill>
            <a:srgbClr val="2563EB"/>
          </a:solidFill>
          <a:ln/>
        </p:spPr>
      </p:sp>
      <p:sp>
        <p:nvSpPr>
          <p:cNvPr id="26" name="Text 24"/>
          <p:cNvSpPr/>
          <p:nvPr/>
        </p:nvSpPr>
        <p:spPr>
          <a:xfrm>
            <a:off x="9555480" y="4206240"/>
            <a:ext cx="82296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6</a:t>
            </a:r>
            <a:endParaRPr lang="en-US" sz="2000" dirty="0"/>
          </a:p>
        </p:txBody>
      </p:sp>
      <p:sp>
        <p:nvSpPr>
          <p:cNvPr id="27" name="Text 25"/>
          <p:cNvSpPr/>
          <p:nvPr/>
        </p:nvSpPr>
        <p:spPr>
          <a:xfrm>
            <a:off x="8321040" y="5074920"/>
            <a:ext cx="3291840" cy="502920"/>
          </a:xfrm>
          <a:prstGeom prst="rect">
            <a:avLst/>
          </a:prstGeom>
          <a:noFill/>
          <a:ln/>
        </p:spPr>
        <p:txBody>
          <a:bodyPr wrap="square" lIns="0" tIns="0" rIns="0" bIns="0" rtlCol="0" anchor="ctr"/>
          <a:lstStyle/>
          <a:p>
            <a:pPr algn="ctr" indent="0" marL="0">
              <a:buNone/>
            </a:pPr>
            <a:r>
              <a:rPr lang="en-US" sz="1500" b="1" dirty="0">
                <a:solidFill>
                  <a:srgbClr val="0F172A"/>
                </a:solidFill>
                <a:latin typeface="Arial" pitchFamily="34" charset="0"/>
                <a:ea typeface="Arial" pitchFamily="34" charset="-122"/>
                <a:cs typeface="Arial" pitchFamily="34" charset="-120"/>
              </a:rPr>
              <a:t>LLM writes the final answer</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indent="0" marL="0">
              <a:buNone/>
            </a:pPr>
            <a:r>
              <a:rPr lang="en-US" sz="2600" b="1" dirty="0">
                <a:solidFill>
                  <a:srgbClr val="0F172A"/>
                </a:solidFill>
                <a:latin typeface="Arial" pitchFamily="34" charset="0"/>
                <a:ea typeface="Arial" pitchFamily="34" charset="-122"/>
                <a:cs typeface="Arial" pitchFamily="34" charset="-120"/>
              </a:rPr>
              <a:t>17. Why We Split Documents (Chunking)</a:t>
            </a:r>
            <a:endParaRPr lang="en-US" sz="2600" dirty="0"/>
          </a:p>
        </p:txBody>
      </p:sp>
      <p:sp>
        <p:nvSpPr>
          <p:cNvPr id="3" name="Shape 1"/>
          <p:cNvSpPr/>
          <p:nvPr/>
        </p:nvSpPr>
        <p:spPr>
          <a:xfrm>
            <a:off x="457200" y="868680"/>
            <a:ext cx="1463040" cy="64008"/>
          </a:xfrm>
          <a:prstGeom prst="rect">
            <a:avLst/>
          </a:prstGeom>
          <a:solidFill>
            <a:srgbClr val="2563EB"/>
          </a:solidFill>
          <a:ln/>
        </p:spPr>
      </p:sp>
      <p:sp>
        <p:nvSpPr>
          <p:cNvPr id="4" name="Shape 2"/>
          <p:cNvSpPr/>
          <p:nvPr/>
        </p:nvSpPr>
        <p:spPr>
          <a:xfrm>
            <a:off x="457200" y="1188720"/>
            <a:ext cx="11247120" cy="1371600"/>
          </a:xfrm>
          <a:prstGeom prst="roundRect">
            <a:avLst>
              <a:gd name="adj" fmla="val 8000"/>
            </a:avLst>
          </a:prstGeom>
          <a:solidFill>
            <a:srgbClr val="FFEDD5"/>
          </a:solidFill>
          <a:ln/>
        </p:spPr>
      </p:sp>
      <p:sp>
        <p:nvSpPr>
          <p:cNvPr id="5" name="Text 3"/>
          <p:cNvSpPr/>
          <p:nvPr/>
        </p:nvSpPr>
        <p:spPr>
          <a:xfrm>
            <a:off x="822960" y="1417320"/>
            <a:ext cx="10515600" cy="914400"/>
          </a:xfrm>
          <a:prstGeom prst="rect">
            <a:avLst/>
          </a:prstGeom>
          <a:noFill/>
          <a:ln/>
        </p:spPr>
        <p:txBody>
          <a:bodyPr wrap="square" lIns="0" tIns="0" rIns="0" bIns="0" rtlCol="0" anchor="ctr"/>
          <a:lstStyle/>
          <a:p>
            <a:pPr indent="0" marL="0">
              <a:buNone/>
            </a:pPr>
            <a:r>
              <a:rPr lang="en-US" sz="1700" dirty="0">
                <a:solidFill>
                  <a:srgbClr val="0F172A"/>
                </a:solidFill>
                <a:latin typeface="Arial" pitchFamily="34" charset="0"/>
                <a:ea typeface="Arial" pitchFamily="34" charset="-122"/>
                <a:cs typeface="Arial" pitchFamily="34" charset="-120"/>
              </a:rPr>
              <a:t>A 500-page PDF is too big to send every time.</a:t>
            </a:r>
            <a:endParaRPr lang="en-US" sz="1700" dirty="0"/>
          </a:p>
          <a:p>
            <a:pPr indent="0" marL="0">
              <a:buNone/>
            </a:pPr>
            <a:r>
              <a:rPr lang="en-US" sz="1700" dirty="0">
                <a:solidFill>
                  <a:srgbClr val="0F172A"/>
                </a:solidFill>
                <a:latin typeface="Arial" pitchFamily="34" charset="0"/>
                <a:ea typeface="Arial" pitchFamily="34" charset="-122"/>
                <a:cs typeface="Arial" pitchFamily="34" charset="-120"/>
              </a:rPr>
              <a:t>We cut it into small pieces and only send the useful pieces.</a:t>
            </a:r>
            <a:endParaRPr lang="en-US" sz="1700" dirty="0"/>
          </a:p>
        </p:txBody>
      </p:sp>
      <p:sp>
        <p:nvSpPr>
          <p:cNvPr id="6" name="Shape 4"/>
          <p:cNvSpPr/>
          <p:nvPr/>
        </p:nvSpPr>
        <p:spPr>
          <a:xfrm>
            <a:off x="457200" y="2834640"/>
            <a:ext cx="11247120" cy="1051560"/>
          </a:xfrm>
          <a:prstGeom prst="roundRect">
            <a:avLst>
              <a:gd name="adj" fmla="val 10435"/>
            </a:avLst>
          </a:prstGeom>
          <a:solidFill>
            <a:srgbClr val="F1F5F9"/>
          </a:solidFill>
          <a:ln/>
        </p:spPr>
      </p:sp>
      <p:sp>
        <p:nvSpPr>
          <p:cNvPr id="7" name="Text 5"/>
          <p:cNvSpPr/>
          <p:nvPr/>
        </p:nvSpPr>
        <p:spPr>
          <a:xfrm>
            <a:off x="822960" y="3017520"/>
            <a:ext cx="10515600" cy="320040"/>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Chunk size</a:t>
            </a:r>
            <a:endParaRPr lang="en-US" sz="1600" dirty="0"/>
          </a:p>
        </p:txBody>
      </p:sp>
      <p:sp>
        <p:nvSpPr>
          <p:cNvPr id="8" name="Text 6"/>
          <p:cNvSpPr/>
          <p:nvPr/>
        </p:nvSpPr>
        <p:spPr>
          <a:xfrm>
            <a:off x="822960" y="3383280"/>
            <a:ext cx="10515600" cy="365760"/>
          </a:xfrm>
          <a:prstGeom prst="rect">
            <a:avLst/>
          </a:prstGeom>
          <a:noFill/>
          <a:ln/>
        </p:spPr>
        <p:txBody>
          <a:bodyPr wrap="square" lIns="0" tIns="0" rIns="0" bIns="0" rtlCol="0" anchor="ctr"/>
          <a:lstStyle/>
          <a:p>
            <a:pPr indent="0" marL="0">
              <a:buNone/>
            </a:pPr>
            <a:r>
              <a:rPr lang="en-US" sz="1400" dirty="0">
                <a:solidFill>
                  <a:srgbClr val="64748B"/>
                </a:solidFill>
                <a:latin typeface="Arial" pitchFamily="34" charset="0"/>
                <a:ea typeface="Arial" pitchFamily="34" charset="-122"/>
                <a:cs typeface="Arial" pitchFamily="34" charset="-120"/>
              </a:rPr>
              <a:t>How big each piece is. Too small = loses meaning. Too big = less precise.</a:t>
            </a:r>
            <a:endParaRPr lang="en-US" sz="1400" dirty="0"/>
          </a:p>
        </p:txBody>
      </p:sp>
      <p:sp>
        <p:nvSpPr>
          <p:cNvPr id="9" name="Shape 7"/>
          <p:cNvSpPr/>
          <p:nvPr/>
        </p:nvSpPr>
        <p:spPr>
          <a:xfrm>
            <a:off x="457200" y="4023360"/>
            <a:ext cx="11247120" cy="1051560"/>
          </a:xfrm>
          <a:prstGeom prst="roundRect">
            <a:avLst>
              <a:gd name="adj" fmla="val 10435"/>
            </a:avLst>
          </a:prstGeom>
          <a:solidFill>
            <a:srgbClr val="F1F5F9"/>
          </a:solidFill>
          <a:ln/>
        </p:spPr>
      </p:sp>
      <p:sp>
        <p:nvSpPr>
          <p:cNvPr id="10" name="Text 8"/>
          <p:cNvSpPr/>
          <p:nvPr/>
        </p:nvSpPr>
        <p:spPr>
          <a:xfrm>
            <a:off x="822960" y="4206240"/>
            <a:ext cx="10515600" cy="320040"/>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Chunk overlap</a:t>
            </a:r>
            <a:endParaRPr lang="en-US" sz="1600" dirty="0"/>
          </a:p>
        </p:txBody>
      </p:sp>
      <p:sp>
        <p:nvSpPr>
          <p:cNvPr id="11" name="Text 9"/>
          <p:cNvSpPr/>
          <p:nvPr/>
        </p:nvSpPr>
        <p:spPr>
          <a:xfrm>
            <a:off x="822960" y="4572000"/>
            <a:ext cx="10515600" cy="365760"/>
          </a:xfrm>
          <a:prstGeom prst="rect">
            <a:avLst/>
          </a:prstGeom>
          <a:noFill/>
          <a:ln/>
        </p:spPr>
        <p:txBody>
          <a:bodyPr wrap="square" lIns="0" tIns="0" rIns="0" bIns="0" rtlCol="0" anchor="ctr"/>
          <a:lstStyle/>
          <a:p>
            <a:pPr indent="0" marL="0">
              <a:buNone/>
            </a:pPr>
            <a:r>
              <a:rPr lang="en-US" sz="1400" dirty="0">
                <a:solidFill>
                  <a:srgbClr val="64748B"/>
                </a:solidFill>
                <a:latin typeface="Arial" pitchFamily="34" charset="0"/>
                <a:ea typeface="Arial" pitchFamily="34" charset="-122"/>
                <a:cs typeface="Arial" pitchFamily="34" charset="-120"/>
              </a:rPr>
              <a:t>Some words are shared between pieces so we don’t cut important sentences.</a:t>
            </a:r>
            <a:endParaRPr lang="en-US" sz="1400" dirty="0"/>
          </a:p>
        </p:txBody>
      </p:sp>
      <p:sp>
        <p:nvSpPr>
          <p:cNvPr id="12" name="Shape 10"/>
          <p:cNvSpPr/>
          <p:nvPr/>
        </p:nvSpPr>
        <p:spPr>
          <a:xfrm>
            <a:off x="457200" y="5212080"/>
            <a:ext cx="11247120" cy="1051560"/>
          </a:xfrm>
          <a:prstGeom prst="roundRect">
            <a:avLst>
              <a:gd name="adj" fmla="val 10435"/>
            </a:avLst>
          </a:prstGeom>
          <a:solidFill>
            <a:srgbClr val="F1F5F9"/>
          </a:solidFill>
          <a:ln/>
        </p:spPr>
      </p:sp>
      <p:sp>
        <p:nvSpPr>
          <p:cNvPr id="13" name="Text 11"/>
          <p:cNvSpPr/>
          <p:nvPr/>
        </p:nvSpPr>
        <p:spPr>
          <a:xfrm>
            <a:off x="822960" y="5394960"/>
            <a:ext cx="10515600" cy="320040"/>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Metadata</a:t>
            </a:r>
            <a:endParaRPr lang="en-US" sz="1600" dirty="0"/>
          </a:p>
        </p:txBody>
      </p:sp>
      <p:sp>
        <p:nvSpPr>
          <p:cNvPr id="14" name="Text 12"/>
          <p:cNvSpPr/>
          <p:nvPr/>
        </p:nvSpPr>
        <p:spPr>
          <a:xfrm>
            <a:off x="822960" y="5760720"/>
            <a:ext cx="10515600" cy="365760"/>
          </a:xfrm>
          <a:prstGeom prst="rect">
            <a:avLst/>
          </a:prstGeom>
          <a:noFill/>
          <a:ln/>
        </p:spPr>
        <p:txBody>
          <a:bodyPr wrap="square" lIns="0" tIns="0" rIns="0" bIns="0" rtlCol="0" anchor="ctr"/>
          <a:lstStyle/>
          <a:p>
            <a:pPr indent="0" marL="0">
              <a:buNone/>
            </a:pPr>
            <a:r>
              <a:rPr lang="en-US" sz="1400" dirty="0">
                <a:solidFill>
                  <a:srgbClr val="64748B"/>
                </a:solidFill>
                <a:latin typeface="Arial" pitchFamily="34" charset="0"/>
                <a:ea typeface="Arial" pitchFamily="34" charset="-122"/>
                <a:cs typeface="Arial" pitchFamily="34" charset="-120"/>
              </a:rPr>
              <a:t>Extra info saved with each piece (file name, page number, date).</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indent="0" marL="0">
              <a:buNone/>
            </a:pPr>
            <a:r>
              <a:rPr lang="en-US" sz="2600" b="1" dirty="0">
                <a:solidFill>
                  <a:srgbClr val="0F172A"/>
                </a:solidFill>
                <a:latin typeface="Arial" pitchFamily="34" charset="0"/>
                <a:ea typeface="Arial" pitchFamily="34" charset="-122"/>
                <a:cs typeface="Arial" pitchFamily="34" charset="-120"/>
              </a:rPr>
              <a:t>18. Vector Database — Simple Idea</a:t>
            </a:r>
            <a:endParaRPr lang="en-US" sz="2600" dirty="0"/>
          </a:p>
        </p:txBody>
      </p:sp>
      <p:sp>
        <p:nvSpPr>
          <p:cNvPr id="3" name="Shape 1"/>
          <p:cNvSpPr/>
          <p:nvPr/>
        </p:nvSpPr>
        <p:spPr>
          <a:xfrm>
            <a:off x="457200" y="868680"/>
            <a:ext cx="1463040" cy="64008"/>
          </a:xfrm>
          <a:prstGeom prst="rect">
            <a:avLst/>
          </a:prstGeom>
          <a:solidFill>
            <a:srgbClr val="2563EB"/>
          </a:solidFill>
          <a:ln/>
        </p:spPr>
      </p:sp>
      <p:sp>
        <p:nvSpPr>
          <p:cNvPr id="4" name="Text 2"/>
          <p:cNvSpPr/>
          <p:nvPr/>
        </p:nvSpPr>
        <p:spPr>
          <a:xfrm>
            <a:off x="457200" y="1143000"/>
            <a:ext cx="10972800" cy="457200"/>
          </a:xfrm>
          <a:prstGeom prst="rect">
            <a:avLst/>
          </a:prstGeom>
          <a:noFill/>
          <a:ln/>
        </p:spPr>
        <p:txBody>
          <a:bodyPr wrap="square" lIns="0" tIns="0" rIns="0" bIns="0" rtlCol="0" anchor="ctr"/>
          <a:lstStyle/>
          <a:p>
            <a:pPr indent="0" marL="0">
              <a:buNone/>
            </a:pPr>
            <a:r>
              <a:rPr lang="en-US" sz="1500" dirty="0">
                <a:solidFill>
                  <a:srgbClr val="64748B"/>
                </a:solidFill>
                <a:latin typeface="Arial" pitchFamily="34" charset="0"/>
                <a:ea typeface="Arial" pitchFamily="34" charset="-122"/>
                <a:cs typeface="Arial" pitchFamily="34" charset="-120"/>
              </a:rPr>
              <a:t>A special database that stores the number lists (embeddings) so we can search by meaning very fast.</a:t>
            </a:r>
            <a:endParaRPr lang="en-US" sz="1500" dirty="0"/>
          </a:p>
        </p:txBody>
      </p:sp>
      <p:sp>
        <p:nvSpPr>
          <p:cNvPr id="5" name="Shape 3"/>
          <p:cNvSpPr/>
          <p:nvPr/>
        </p:nvSpPr>
        <p:spPr>
          <a:xfrm>
            <a:off x="914400" y="1828800"/>
            <a:ext cx="3200400" cy="1371600"/>
          </a:xfrm>
          <a:prstGeom prst="roundRect">
            <a:avLst>
              <a:gd name="adj" fmla="val 8000"/>
            </a:avLst>
          </a:prstGeom>
          <a:solidFill>
            <a:srgbClr val="F1F5F9"/>
          </a:solidFill>
          <a:ln/>
        </p:spPr>
      </p:sp>
      <p:sp>
        <p:nvSpPr>
          <p:cNvPr id="6" name="Text 4"/>
          <p:cNvSpPr/>
          <p:nvPr/>
        </p:nvSpPr>
        <p:spPr>
          <a:xfrm>
            <a:off x="914400" y="2286000"/>
            <a:ext cx="3200400" cy="457200"/>
          </a:xfrm>
          <a:prstGeom prst="rect">
            <a:avLst/>
          </a:prstGeom>
          <a:noFill/>
          <a:ln/>
        </p:spPr>
        <p:txBody>
          <a:bodyPr wrap="square" lIns="0" tIns="0" rIns="0" bIns="0" rtlCol="0" anchor="ctr"/>
          <a:lstStyle/>
          <a:p>
            <a:pPr algn="ctr" indent="0" marL="0">
              <a:buNone/>
            </a:pPr>
            <a:r>
              <a:rPr lang="en-US" sz="1500" b="1" dirty="0">
                <a:solidFill>
                  <a:srgbClr val="0F172A"/>
                </a:solidFill>
                <a:latin typeface="Arial" pitchFamily="34" charset="0"/>
                <a:ea typeface="Arial" pitchFamily="34" charset="-122"/>
                <a:cs typeface="Arial" pitchFamily="34" charset="-120"/>
              </a:rPr>
              <a:t>Document piece</a:t>
            </a:r>
            <a:endParaRPr lang="en-US" sz="1500" dirty="0"/>
          </a:p>
        </p:txBody>
      </p:sp>
      <p:sp>
        <p:nvSpPr>
          <p:cNvPr id="7" name="Shape 5"/>
          <p:cNvSpPr/>
          <p:nvPr/>
        </p:nvSpPr>
        <p:spPr>
          <a:xfrm>
            <a:off x="4572000" y="1828800"/>
            <a:ext cx="3200400" cy="1371600"/>
          </a:xfrm>
          <a:prstGeom prst="roundRect">
            <a:avLst>
              <a:gd name="adj" fmla="val 8000"/>
            </a:avLst>
          </a:prstGeom>
          <a:solidFill>
            <a:srgbClr val="2563EB"/>
          </a:solidFill>
          <a:ln/>
        </p:spPr>
      </p:sp>
      <p:sp>
        <p:nvSpPr>
          <p:cNvPr id="8" name="Text 6"/>
          <p:cNvSpPr/>
          <p:nvPr/>
        </p:nvSpPr>
        <p:spPr>
          <a:xfrm>
            <a:off x="4572000" y="2286000"/>
            <a:ext cx="32004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Turn into numbers</a:t>
            </a:r>
            <a:endParaRPr lang="en-US" sz="1500" dirty="0"/>
          </a:p>
        </p:txBody>
      </p:sp>
      <p:sp>
        <p:nvSpPr>
          <p:cNvPr id="9" name="Shape 7"/>
          <p:cNvSpPr/>
          <p:nvPr/>
        </p:nvSpPr>
        <p:spPr>
          <a:xfrm>
            <a:off x="8229600" y="1828800"/>
            <a:ext cx="3200400" cy="1371600"/>
          </a:xfrm>
          <a:prstGeom prst="roundRect">
            <a:avLst>
              <a:gd name="adj" fmla="val 8000"/>
            </a:avLst>
          </a:prstGeom>
          <a:solidFill>
            <a:srgbClr val="0D9488"/>
          </a:solidFill>
          <a:ln/>
        </p:spPr>
      </p:sp>
      <p:sp>
        <p:nvSpPr>
          <p:cNvPr id="10" name="Text 8"/>
          <p:cNvSpPr/>
          <p:nvPr/>
        </p:nvSpPr>
        <p:spPr>
          <a:xfrm>
            <a:off x="8229600" y="2286000"/>
            <a:ext cx="32004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Save in Vector DB</a:t>
            </a:r>
            <a:endParaRPr lang="en-US" sz="1500" dirty="0"/>
          </a:p>
        </p:txBody>
      </p:sp>
      <p:sp>
        <p:nvSpPr>
          <p:cNvPr id="11" name="Text 9"/>
          <p:cNvSpPr/>
          <p:nvPr/>
        </p:nvSpPr>
        <p:spPr>
          <a:xfrm>
            <a:off x="457200" y="3566160"/>
            <a:ext cx="10972800" cy="365760"/>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When you ask a question:</a:t>
            </a:r>
            <a:endParaRPr lang="en-US" sz="1600" dirty="0"/>
          </a:p>
        </p:txBody>
      </p:sp>
      <p:sp>
        <p:nvSpPr>
          <p:cNvPr id="12" name="Shape 10"/>
          <p:cNvSpPr/>
          <p:nvPr/>
        </p:nvSpPr>
        <p:spPr>
          <a:xfrm>
            <a:off x="731520" y="4114800"/>
            <a:ext cx="3474720" cy="1188720"/>
          </a:xfrm>
          <a:prstGeom prst="roundRect">
            <a:avLst>
              <a:gd name="adj" fmla="val 9231"/>
            </a:avLst>
          </a:prstGeom>
          <a:solidFill>
            <a:srgbClr val="DBEAFE"/>
          </a:solidFill>
          <a:ln/>
        </p:spPr>
      </p:sp>
      <p:sp>
        <p:nvSpPr>
          <p:cNvPr id="13" name="Text 11"/>
          <p:cNvSpPr/>
          <p:nvPr/>
        </p:nvSpPr>
        <p:spPr>
          <a:xfrm>
            <a:off x="868680" y="4480560"/>
            <a:ext cx="3200400" cy="457200"/>
          </a:xfrm>
          <a:prstGeom prst="rect">
            <a:avLst/>
          </a:prstGeom>
          <a:noFill/>
          <a:ln/>
        </p:spPr>
        <p:txBody>
          <a:bodyPr wrap="square" lIns="0" tIns="0" rIns="0" bIns="0" rtlCol="0" anchor="ctr"/>
          <a:lstStyle/>
          <a:p>
            <a:pPr algn="ctr" indent="0" marL="0">
              <a:buNone/>
            </a:pPr>
            <a:r>
              <a:rPr lang="en-US" sz="1400" dirty="0">
                <a:solidFill>
                  <a:srgbClr val="0F172A"/>
                </a:solidFill>
                <a:latin typeface="Arial" pitchFamily="34" charset="0"/>
                <a:ea typeface="Arial" pitchFamily="34" charset="-122"/>
                <a:cs typeface="Arial" pitchFamily="34" charset="-120"/>
              </a:rPr>
              <a:t>Question → numbers</a:t>
            </a:r>
            <a:endParaRPr lang="en-US" sz="1400" dirty="0"/>
          </a:p>
        </p:txBody>
      </p:sp>
      <p:sp>
        <p:nvSpPr>
          <p:cNvPr id="14" name="Shape 12"/>
          <p:cNvSpPr/>
          <p:nvPr/>
        </p:nvSpPr>
        <p:spPr>
          <a:xfrm>
            <a:off x="4480560" y="4114800"/>
            <a:ext cx="3474720" cy="1188720"/>
          </a:xfrm>
          <a:prstGeom prst="roundRect">
            <a:avLst>
              <a:gd name="adj" fmla="val 9231"/>
            </a:avLst>
          </a:prstGeom>
          <a:solidFill>
            <a:srgbClr val="DBEAFE"/>
          </a:solidFill>
          <a:ln/>
        </p:spPr>
      </p:sp>
      <p:sp>
        <p:nvSpPr>
          <p:cNvPr id="15" name="Text 13"/>
          <p:cNvSpPr/>
          <p:nvPr/>
        </p:nvSpPr>
        <p:spPr>
          <a:xfrm>
            <a:off x="4617720" y="4480560"/>
            <a:ext cx="3200400" cy="457200"/>
          </a:xfrm>
          <a:prstGeom prst="rect">
            <a:avLst/>
          </a:prstGeom>
          <a:noFill/>
          <a:ln/>
        </p:spPr>
        <p:txBody>
          <a:bodyPr wrap="square" lIns="0" tIns="0" rIns="0" bIns="0" rtlCol="0" anchor="ctr"/>
          <a:lstStyle/>
          <a:p>
            <a:pPr algn="ctr" indent="0" marL="0">
              <a:buNone/>
            </a:pPr>
            <a:r>
              <a:rPr lang="en-US" sz="1400" dirty="0">
                <a:solidFill>
                  <a:srgbClr val="0F172A"/>
                </a:solidFill>
                <a:latin typeface="Arial" pitchFamily="34" charset="0"/>
                <a:ea typeface="Arial" pitchFamily="34" charset="-122"/>
                <a:cs typeface="Arial" pitchFamily="34" charset="-120"/>
              </a:rPr>
              <a:t>Find similar numbers</a:t>
            </a:r>
            <a:endParaRPr lang="en-US" sz="1400" dirty="0"/>
          </a:p>
        </p:txBody>
      </p:sp>
      <p:sp>
        <p:nvSpPr>
          <p:cNvPr id="16" name="Shape 14"/>
          <p:cNvSpPr/>
          <p:nvPr/>
        </p:nvSpPr>
        <p:spPr>
          <a:xfrm>
            <a:off x="8229600" y="4114800"/>
            <a:ext cx="3474720" cy="1188720"/>
          </a:xfrm>
          <a:prstGeom prst="roundRect">
            <a:avLst>
              <a:gd name="adj" fmla="val 9231"/>
            </a:avLst>
          </a:prstGeom>
          <a:solidFill>
            <a:srgbClr val="DBEAFE"/>
          </a:solidFill>
          <a:ln/>
        </p:spPr>
      </p:sp>
      <p:sp>
        <p:nvSpPr>
          <p:cNvPr id="17" name="Text 15"/>
          <p:cNvSpPr/>
          <p:nvPr/>
        </p:nvSpPr>
        <p:spPr>
          <a:xfrm>
            <a:off x="8366760" y="4480560"/>
            <a:ext cx="3200400" cy="457200"/>
          </a:xfrm>
          <a:prstGeom prst="rect">
            <a:avLst/>
          </a:prstGeom>
          <a:noFill/>
          <a:ln/>
        </p:spPr>
        <p:txBody>
          <a:bodyPr wrap="square" lIns="0" tIns="0" rIns="0" bIns="0" rtlCol="0" anchor="ctr"/>
          <a:lstStyle/>
          <a:p>
            <a:pPr algn="ctr" indent="0" marL="0">
              <a:buNone/>
            </a:pPr>
            <a:r>
              <a:rPr lang="en-US" sz="1400" dirty="0">
                <a:solidFill>
                  <a:srgbClr val="0F172A"/>
                </a:solidFill>
                <a:latin typeface="Arial" pitchFamily="34" charset="0"/>
                <a:ea typeface="Arial" pitchFamily="34" charset="-122"/>
                <a:cs typeface="Arial" pitchFamily="34" charset="-120"/>
              </a:rPr>
              <a:t>Get matching documents</a:t>
            </a:r>
            <a:endParaRPr lang="en-US" sz="1400" dirty="0"/>
          </a:p>
        </p:txBody>
      </p:sp>
      <p:sp>
        <p:nvSpPr>
          <p:cNvPr id="18" name="Text 16"/>
          <p:cNvSpPr/>
          <p:nvPr/>
        </p:nvSpPr>
        <p:spPr>
          <a:xfrm>
            <a:off x="457200" y="5669280"/>
            <a:ext cx="10972800" cy="365760"/>
          </a:xfrm>
          <a:prstGeom prst="rect">
            <a:avLst/>
          </a:prstGeom>
          <a:noFill/>
          <a:ln/>
        </p:spPr>
        <p:txBody>
          <a:bodyPr wrap="square" lIns="0" tIns="0" rIns="0" bIns="0" rtlCol="0" anchor="ctr"/>
          <a:lstStyle/>
          <a:p>
            <a:pPr indent="0" marL="0">
              <a:buNone/>
            </a:pPr>
            <a:r>
              <a:rPr lang="en-US" sz="1400" dirty="0">
                <a:solidFill>
                  <a:srgbClr val="64748B"/>
                </a:solidFill>
                <a:latin typeface="Arial" pitchFamily="34" charset="0"/>
                <a:ea typeface="Arial" pitchFamily="34" charset="-122"/>
                <a:cs typeface="Arial" pitchFamily="34" charset="-120"/>
              </a:rPr>
              <a:t>Popular tools: Chroma, Pinecone, FAISS, Weaviate, Qdrant</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indent="0" marL="0">
              <a:buNone/>
            </a:pPr>
            <a:r>
              <a:rPr lang="en-US" sz="2600" b="1" dirty="0">
                <a:solidFill>
                  <a:srgbClr val="0F172A"/>
                </a:solidFill>
                <a:latin typeface="Arial" pitchFamily="34" charset="0"/>
                <a:ea typeface="Arial" pitchFamily="34" charset="-122"/>
                <a:cs typeface="Arial" pitchFamily="34" charset="-120"/>
              </a:rPr>
              <a:t>19. Common RAG Problems</a:t>
            </a:r>
            <a:endParaRPr lang="en-US" sz="2600" dirty="0"/>
          </a:p>
        </p:txBody>
      </p:sp>
      <p:sp>
        <p:nvSpPr>
          <p:cNvPr id="3" name="Shape 1"/>
          <p:cNvSpPr/>
          <p:nvPr/>
        </p:nvSpPr>
        <p:spPr>
          <a:xfrm>
            <a:off x="457200" y="868680"/>
            <a:ext cx="1463040" cy="64008"/>
          </a:xfrm>
          <a:prstGeom prst="rect">
            <a:avLst/>
          </a:prstGeom>
          <a:solidFill>
            <a:srgbClr val="2563EB"/>
          </a:solidFill>
          <a:ln/>
        </p:spPr>
      </p:sp>
      <p:sp>
        <p:nvSpPr>
          <p:cNvPr id="4" name="Text 2"/>
          <p:cNvSpPr/>
          <p:nvPr/>
        </p:nvSpPr>
        <p:spPr>
          <a:xfrm>
            <a:off x="457200" y="1143000"/>
            <a:ext cx="10972800" cy="365760"/>
          </a:xfrm>
          <a:prstGeom prst="rect">
            <a:avLst/>
          </a:prstGeom>
          <a:noFill/>
          <a:ln/>
        </p:spPr>
        <p:txBody>
          <a:bodyPr wrap="square" lIns="0" tIns="0" rIns="0" bIns="0" rtlCol="0" anchor="ctr"/>
          <a:lstStyle/>
          <a:p>
            <a:pPr indent="0" marL="0">
              <a:buNone/>
            </a:pPr>
            <a:r>
              <a:rPr lang="en-US" sz="1500" dirty="0">
                <a:solidFill>
                  <a:srgbClr val="64748B"/>
                </a:solidFill>
                <a:latin typeface="Arial" pitchFamily="34" charset="0"/>
                <a:ea typeface="Arial" pitchFamily="34" charset="-122"/>
                <a:cs typeface="Arial" pitchFamily="34" charset="-120"/>
              </a:rPr>
              <a:t>RAG is powerful, but not perfect. These are the usual issues:</a:t>
            </a:r>
            <a:endParaRPr lang="en-US" sz="1500" dirty="0"/>
          </a:p>
        </p:txBody>
      </p:sp>
      <p:sp>
        <p:nvSpPr>
          <p:cNvPr id="5" name="Shape 3"/>
          <p:cNvSpPr/>
          <p:nvPr/>
        </p:nvSpPr>
        <p:spPr>
          <a:xfrm>
            <a:off x="457200" y="1691640"/>
            <a:ext cx="5623560" cy="1371600"/>
          </a:xfrm>
          <a:prstGeom prst="roundRect">
            <a:avLst>
              <a:gd name="adj" fmla="val 8000"/>
            </a:avLst>
          </a:prstGeom>
          <a:solidFill>
            <a:srgbClr val="FEE2E2"/>
          </a:solidFill>
          <a:ln/>
        </p:spPr>
      </p:sp>
      <p:sp>
        <p:nvSpPr>
          <p:cNvPr id="6" name="Text 4"/>
          <p:cNvSpPr/>
          <p:nvPr/>
        </p:nvSpPr>
        <p:spPr>
          <a:xfrm>
            <a:off x="685800" y="1920240"/>
            <a:ext cx="5166360" cy="320040"/>
          </a:xfrm>
          <a:prstGeom prst="rect">
            <a:avLst/>
          </a:prstGeom>
          <a:noFill/>
          <a:ln/>
        </p:spPr>
        <p:txBody>
          <a:bodyPr wrap="square" lIns="0" tIns="0" rIns="0" bIns="0" rtlCol="0" anchor="ctr"/>
          <a:lstStyle/>
          <a:p>
            <a:pPr indent="0" marL="0">
              <a:buNone/>
            </a:pPr>
            <a:r>
              <a:rPr lang="en-US" sz="1500" b="1" dirty="0">
                <a:solidFill>
                  <a:srgbClr val="DC2626"/>
                </a:solidFill>
                <a:latin typeface="Arial" pitchFamily="34" charset="0"/>
                <a:ea typeface="Arial" pitchFamily="34" charset="-122"/>
                <a:cs typeface="Arial" pitchFamily="34" charset="-120"/>
              </a:rPr>
              <a:t>Bad splitting</a:t>
            </a:r>
            <a:endParaRPr lang="en-US" sz="1500" dirty="0"/>
          </a:p>
        </p:txBody>
      </p:sp>
      <p:sp>
        <p:nvSpPr>
          <p:cNvPr id="7" name="Text 5"/>
          <p:cNvSpPr/>
          <p:nvPr/>
        </p:nvSpPr>
        <p:spPr>
          <a:xfrm>
            <a:off x="685800" y="2331720"/>
            <a:ext cx="5166360" cy="457200"/>
          </a:xfrm>
          <a:prstGeom prst="rect">
            <a:avLst/>
          </a:prstGeom>
          <a:noFill/>
          <a:ln/>
        </p:spPr>
        <p:txBody>
          <a:bodyPr wrap="square" lIns="0" tIns="0" rIns="0" bIns="0" rtlCol="0" anchor="ctr"/>
          <a:lstStyle/>
          <a:p>
            <a:pPr indent="0" marL="0">
              <a:buNone/>
            </a:pPr>
            <a:r>
              <a:rPr lang="en-US" sz="1300" dirty="0">
                <a:solidFill>
                  <a:srgbClr val="1E293B"/>
                </a:solidFill>
                <a:latin typeface="Arial" pitchFamily="34" charset="0"/>
                <a:ea typeface="Arial" pitchFamily="34" charset="-122"/>
                <a:cs typeface="Arial" pitchFamily="34" charset="-120"/>
              </a:rPr>
              <a:t>Important info is cut in the middle or mixed with noise.</a:t>
            </a:r>
            <a:endParaRPr lang="en-US" sz="1300" dirty="0"/>
          </a:p>
        </p:txBody>
      </p:sp>
      <p:sp>
        <p:nvSpPr>
          <p:cNvPr id="8" name="Shape 6"/>
          <p:cNvSpPr/>
          <p:nvPr/>
        </p:nvSpPr>
        <p:spPr>
          <a:xfrm>
            <a:off x="6309360" y="1691640"/>
            <a:ext cx="5623560" cy="1371600"/>
          </a:xfrm>
          <a:prstGeom prst="roundRect">
            <a:avLst>
              <a:gd name="adj" fmla="val 8000"/>
            </a:avLst>
          </a:prstGeom>
          <a:solidFill>
            <a:srgbClr val="FEE2E2"/>
          </a:solidFill>
          <a:ln/>
        </p:spPr>
      </p:sp>
      <p:sp>
        <p:nvSpPr>
          <p:cNvPr id="9" name="Text 7"/>
          <p:cNvSpPr/>
          <p:nvPr/>
        </p:nvSpPr>
        <p:spPr>
          <a:xfrm>
            <a:off x="6537960" y="1920240"/>
            <a:ext cx="5166360" cy="320040"/>
          </a:xfrm>
          <a:prstGeom prst="rect">
            <a:avLst/>
          </a:prstGeom>
          <a:noFill/>
          <a:ln/>
        </p:spPr>
        <p:txBody>
          <a:bodyPr wrap="square" lIns="0" tIns="0" rIns="0" bIns="0" rtlCol="0" anchor="ctr"/>
          <a:lstStyle/>
          <a:p>
            <a:pPr indent="0" marL="0">
              <a:buNone/>
            </a:pPr>
            <a:r>
              <a:rPr lang="en-US" sz="1500" b="1" dirty="0">
                <a:solidFill>
                  <a:srgbClr val="DC2626"/>
                </a:solidFill>
                <a:latin typeface="Arial" pitchFamily="34" charset="0"/>
                <a:ea typeface="Arial" pitchFamily="34" charset="-122"/>
                <a:cs typeface="Arial" pitchFamily="34" charset="-120"/>
              </a:rPr>
              <a:t>Wrong documents found</a:t>
            </a:r>
            <a:endParaRPr lang="en-US" sz="1500" dirty="0"/>
          </a:p>
        </p:txBody>
      </p:sp>
      <p:sp>
        <p:nvSpPr>
          <p:cNvPr id="10" name="Text 8"/>
          <p:cNvSpPr/>
          <p:nvPr/>
        </p:nvSpPr>
        <p:spPr>
          <a:xfrm>
            <a:off x="6537960" y="2331720"/>
            <a:ext cx="5166360" cy="457200"/>
          </a:xfrm>
          <a:prstGeom prst="rect">
            <a:avLst/>
          </a:prstGeom>
          <a:noFill/>
          <a:ln/>
        </p:spPr>
        <p:txBody>
          <a:bodyPr wrap="square" lIns="0" tIns="0" rIns="0" bIns="0" rtlCol="0" anchor="ctr"/>
          <a:lstStyle/>
          <a:p>
            <a:pPr indent="0" marL="0">
              <a:buNone/>
            </a:pPr>
            <a:r>
              <a:rPr lang="en-US" sz="1300" dirty="0">
                <a:solidFill>
                  <a:srgbClr val="1E293B"/>
                </a:solidFill>
                <a:latin typeface="Arial" pitchFamily="34" charset="0"/>
                <a:ea typeface="Arial" pitchFamily="34" charset="-122"/>
                <a:cs typeface="Arial" pitchFamily="34" charset="-120"/>
              </a:rPr>
              <a:t>The search returns documents that look similar but are not useful.</a:t>
            </a:r>
            <a:endParaRPr lang="en-US" sz="1300" dirty="0"/>
          </a:p>
        </p:txBody>
      </p:sp>
      <p:sp>
        <p:nvSpPr>
          <p:cNvPr id="11" name="Shape 9"/>
          <p:cNvSpPr/>
          <p:nvPr/>
        </p:nvSpPr>
        <p:spPr>
          <a:xfrm>
            <a:off x="457200" y="3246120"/>
            <a:ext cx="5623560" cy="1371600"/>
          </a:xfrm>
          <a:prstGeom prst="roundRect">
            <a:avLst>
              <a:gd name="adj" fmla="val 8000"/>
            </a:avLst>
          </a:prstGeom>
          <a:solidFill>
            <a:srgbClr val="FEE2E2"/>
          </a:solidFill>
          <a:ln/>
        </p:spPr>
      </p:sp>
      <p:sp>
        <p:nvSpPr>
          <p:cNvPr id="12" name="Text 10"/>
          <p:cNvSpPr/>
          <p:nvPr/>
        </p:nvSpPr>
        <p:spPr>
          <a:xfrm>
            <a:off x="685800" y="3474720"/>
            <a:ext cx="5166360" cy="320040"/>
          </a:xfrm>
          <a:prstGeom prst="rect">
            <a:avLst/>
          </a:prstGeom>
          <a:noFill/>
          <a:ln/>
        </p:spPr>
        <p:txBody>
          <a:bodyPr wrap="square" lIns="0" tIns="0" rIns="0" bIns="0" rtlCol="0" anchor="ctr"/>
          <a:lstStyle/>
          <a:p>
            <a:pPr indent="0" marL="0">
              <a:buNone/>
            </a:pPr>
            <a:r>
              <a:rPr lang="en-US" sz="1500" b="1" dirty="0">
                <a:solidFill>
                  <a:srgbClr val="DC2626"/>
                </a:solidFill>
                <a:latin typeface="Arial" pitchFamily="34" charset="0"/>
                <a:ea typeface="Arial" pitchFamily="34" charset="-122"/>
                <a:cs typeface="Arial" pitchFamily="34" charset="-120"/>
              </a:rPr>
              <a:t>Too much text given</a:t>
            </a:r>
            <a:endParaRPr lang="en-US" sz="1500" dirty="0"/>
          </a:p>
        </p:txBody>
      </p:sp>
      <p:sp>
        <p:nvSpPr>
          <p:cNvPr id="13" name="Text 11"/>
          <p:cNvSpPr/>
          <p:nvPr/>
        </p:nvSpPr>
        <p:spPr>
          <a:xfrm>
            <a:off x="685800" y="3886200"/>
            <a:ext cx="5166360" cy="457200"/>
          </a:xfrm>
          <a:prstGeom prst="rect">
            <a:avLst/>
          </a:prstGeom>
          <a:noFill/>
          <a:ln/>
        </p:spPr>
        <p:txBody>
          <a:bodyPr wrap="square" lIns="0" tIns="0" rIns="0" bIns="0" rtlCol="0" anchor="ctr"/>
          <a:lstStyle/>
          <a:p>
            <a:pPr indent="0" marL="0">
              <a:buNone/>
            </a:pPr>
            <a:r>
              <a:rPr lang="en-US" sz="1300" dirty="0">
                <a:solidFill>
                  <a:srgbClr val="1E293B"/>
                </a:solidFill>
                <a:latin typeface="Arial" pitchFamily="34" charset="0"/>
                <a:ea typeface="Arial" pitchFamily="34" charset="-122"/>
                <a:cs typeface="Arial" pitchFamily="34" charset="-120"/>
              </a:rPr>
              <a:t>Sending too many pieces confuses the AI.</a:t>
            </a:r>
            <a:endParaRPr lang="en-US" sz="1300" dirty="0"/>
          </a:p>
        </p:txBody>
      </p:sp>
      <p:sp>
        <p:nvSpPr>
          <p:cNvPr id="14" name="Shape 12"/>
          <p:cNvSpPr/>
          <p:nvPr/>
        </p:nvSpPr>
        <p:spPr>
          <a:xfrm>
            <a:off x="6309360" y="3246120"/>
            <a:ext cx="5623560" cy="1371600"/>
          </a:xfrm>
          <a:prstGeom prst="roundRect">
            <a:avLst>
              <a:gd name="adj" fmla="val 8000"/>
            </a:avLst>
          </a:prstGeom>
          <a:solidFill>
            <a:srgbClr val="FEE2E2"/>
          </a:solidFill>
          <a:ln/>
        </p:spPr>
      </p:sp>
      <p:sp>
        <p:nvSpPr>
          <p:cNvPr id="15" name="Text 13"/>
          <p:cNvSpPr/>
          <p:nvPr/>
        </p:nvSpPr>
        <p:spPr>
          <a:xfrm>
            <a:off x="6537960" y="3474720"/>
            <a:ext cx="5166360" cy="320040"/>
          </a:xfrm>
          <a:prstGeom prst="rect">
            <a:avLst/>
          </a:prstGeom>
          <a:noFill/>
          <a:ln/>
        </p:spPr>
        <p:txBody>
          <a:bodyPr wrap="square" lIns="0" tIns="0" rIns="0" bIns="0" rtlCol="0" anchor="ctr"/>
          <a:lstStyle/>
          <a:p>
            <a:pPr indent="0" marL="0">
              <a:buNone/>
            </a:pPr>
            <a:r>
              <a:rPr lang="en-US" sz="1500" b="1" dirty="0">
                <a:solidFill>
                  <a:srgbClr val="DC2626"/>
                </a:solidFill>
                <a:latin typeface="Arial" pitchFamily="34" charset="0"/>
                <a:ea typeface="Arial" pitchFamily="34" charset="-122"/>
                <a:cs typeface="Arial" pitchFamily="34" charset="-120"/>
              </a:rPr>
              <a:t>AI still invents things</a:t>
            </a:r>
            <a:endParaRPr lang="en-US" sz="1500" dirty="0"/>
          </a:p>
        </p:txBody>
      </p:sp>
      <p:sp>
        <p:nvSpPr>
          <p:cNvPr id="16" name="Text 14"/>
          <p:cNvSpPr/>
          <p:nvPr/>
        </p:nvSpPr>
        <p:spPr>
          <a:xfrm>
            <a:off x="6537960" y="3886200"/>
            <a:ext cx="5166360" cy="457200"/>
          </a:xfrm>
          <a:prstGeom prst="rect">
            <a:avLst/>
          </a:prstGeom>
          <a:noFill/>
          <a:ln/>
        </p:spPr>
        <p:txBody>
          <a:bodyPr wrap="square" lIns="0" tIns="0" rIns="0" bIns="0" rtlCol="0" anchor="ctr"/>
          <a:lstStyle/>
          <a:p>
            <a:pPr indent="0" marL="0">
              <a:buNone/>
            </a:pPr>
            <a:r>
              <a:rPr lang="en-US" sz="1300" dirty="0">
                <a:solidFill>
                  <a:srgbClr val="1E293B"/>
                </a:solidFill>
                <a:latin typeface="Arial" pitchFamily="34" charset="0"/>
                <a:ea typeface="Arial" pitchFamily="34" charset="-122"/>
                <a:cs typeface="Arial" pitchFamily="34" charset="-120"/>
              </a:rPr>
              <a:t>Even with good documents, the AI may add wrong information.</a:t>
            </a:r>
            <a:endParaRPr lang="en-US" sz="1300" dirty="0"/>
          </a:p>
        </p:txBody>
      </p:sp>
      <p:sp>
        <p:nvSpPr>
          <p:cNvPr id="17" name="Shape 15"/>
          <p:cNvSpPr/>
          <p:nvPr/>
        </p:nvSpPr>
        <p:spPr>
          <a:xfrm>
            <a:off x="457200" y="4800600"/>
            <a:ext cx="5623560" cy="1371600"/>
          </a:xfrm>
          <a:prstGeom prst="roundRect">
            <a:avLst>
              <a:gd name="adj" fmla="val 8000"/>
            </a:avLst>
          </a:prstGeom>
          <a:solidFill>
            <a:srgbClr val="FEE2E2"/>
          </a:solidFill>
          <a:ln/>
        </p:spPr>
      </p:sp>
      <p:sp>
        <p:nvSpPr>
          <p:cNvPr id="18" name="Text 16"/>
          <p:cNvSpPr/>
          <p:nvPr/>
        </p:nvSpPr>
        <p:spPr>
          <a:xfrm>
            <a:off x="685800" y="5029200"/>
            <a:ext cx="5166360" cy="320040"/>
          </a:xfrm>
          <a:prstGeom prst="rect">
            <a:avLst/>
          </a:prstGeom>
          <a:noFill/>
          <a:ln/>
        </p:spPr>
        <p:txBody>
          <a:bodyPr wrap="square" lIns="0" tIns="0" rIns="0" bIns="0" rtlCol="0" anchor="ctr"/>
          <a:lstStyle/>
          <a:p>
            <a:pPr indent="0" marL="0">
              <a:buNone/>
            </a:pPr>
            <a:r>
              <a:rPr lang="en-US" sz="1500" b="1" dirty="0">
                <a:solidFill>
                  <a:srgbClr val="DC2626"/>
                </a:solidFill>
                <a:latin typeface="Arial" pitchFamily="34" charset="0"/>
                <a:ea typeface="Arial" pitchFamily="34" charset="-122"/>
                <a:cs typeface="Arial" pitchFamily="34" charset="-120"/>
              </a:rPr>
              <a:t>Old data</a:t>
            </a:r>
            <a:endParaRPr lang="en-US" sz="1500" dirty="0"/>
          </a:p>
        </p:txBody>
      </p:sp>
      <p:sp>
        <p:nvSpPr>
          <p:cNvPr id="19" name="Text 17"/>
          <p:cNvSpPr/>
          <p:nvPr/>
        </p:nvSpPr>
        <p:spPr>
          <a:xfrm>
            <a:off x="685800" y="5440680"/>
            <a:ext cx="5166360" cy="457200"/>
          </a:xfrm>
          <a:prstGeom prst="rect">
            <a:avLst/>
          </a:prstGeom>
          <a:noFill/>
          <a:ln/>
        </p:spPr>
        <p:txBody>
          <a:bodyPr wrap="square" lIns="0" tIns="0" rIns="0" bIns="0" rtlCol="0" anchor="ctr"/>
          <a:lstStyle/>
          <a:p>
            <a:pPr indent="0" marL="0">
              <a:buNone/>
            </a:pPr>
            <a:r>
              <a:rPr lang="en-US" sz="1300" dirty="0">
                <a:solidFill>
                  <a:srgbClr val="1E293B"/>
                </a:solidFill>
                <a:latin typeface="Arial" pitchFamily="34" charset="0"/>
                <a:ea typeface="Arial" pitchFamily="34" charset="-122"/>
                <a:cs typeface="Arial" pitchFamily="34" charset="-120"/>
              </a:rPr>
              <a:t>Documents changed but the database was not updated.</a:t>
            </a:r>
            <a:endParaRPr lang="en-US" sz="1300" dirty="0"/>
          </a:p>
        </p:txBody>
      </p:sp>
      <p:sp>
        <p:nvSpPr>
          <p:cNvPr id="20" name="Shape 18"/>
          <p:cNvSpPr/>
          <p:nvPr/>
        </p:nvSpPr>
        <p:spPr>
          <a:xfrm>
            <a:off x="6309360" y="4800600"/>
            <a:ext cx="5623560" cy="1371600"/>
          </a:xfrm>
          <a:prstGeom prst="roundRect">
            <a:avLst>
              <a:gd name="adj" fmla="val 8000"/>
            </a:avLst>
          </a:prstGeom>
          <a:solidFill>
            <a:srgbClr val="FEE2E2"/>
          </a:solidFill>
          <a:ln/>
        </p:spPr>
      </p:sp>
      <p:sp>
        <p:nvSpPr>
          <p:cNvPr id="21" name="Text 19"/>
          <p:cNvSpPr/>
          <p:nvPr/>
        </p:nvSpPr>
        <p:spPr>
          <a:xfrm>
            <a:off x="6537960" y="5029200"/>
            <a:ext cx="5166360" cy="320040"/>
          </a:xfrm>
          <a:prstGeom prst="rect">
            <a:avLst/>
          </a:prstGeom>
          <a:noFill/>
          <a:ln/>
        </p:spPr>
        <p:txBody>
          <a:bodyPr wrap="square" lIns="0" tIns="0" rIns="0" bIns="0" rtlCol="0" anchor="ctr"/>
          <a:lstStyle/>
          <a:p>
            <a:pPr indent="0" marL="0">
              <a:buNone/>
            </a:pPr>
            <a:r>
              <a:rPr lang="en-US" sz="1500" b="1" dirty="0">
                <a:solidFill>
                  <a:srgbClr val="DC2626"/>
                </a:solidFill>
                <a:latin typeface="Arial" pitchFamily="34" charset="0"/>
                <a:ea typeface="Arial" pitchFamily="34" charset="-122"/>
                <a:cs typeface="Arial" pitchFamily="34" charset="-120"/>
              </a:rPr>
              <a:t>Poor embeddings</a:t>
            </a:r>
            <a:endParaRPr lang="en-US" sz="1500" dirty="0"/>
          </a:p>
        </p:txBody>
      </p:sp>
      <p:sp>
        <p:nvSpPr>
          <p:cNvPr id="22" name="Text 20"/>
          <p:cNvSpPr/>
          <p:nvPr/>
        </p:nvSpPr>
        <p:spPr>
          <a:xfrm>
            <a:off x="6537960" y="5440680"/>
            <a:ext cx="5166360" cy="457200"/>
          </a:xfrm>
          <a:prstGeom prst="rect">
            <a:avLst/>
          </a:prstGeom>
          <a:noFill/>
          <a:ln/>
        </p:spPr>
        <p:txBody>
          <a:bodyPr wrap="square" lIns="0" tIns="0" rIns="0" bIns="0" rtlCol="0" anchor="ctr"/>
          <a:lstStyle/>
          <a:p>
            <a:pPr indent="0" marL="0">
              <a:buNone/>
            </a:pPr>
            <a:r>
              <a:rPr lang="en-US" sz="1300" dirty="0">
                <a:solidFill>
                  <a:srgbClr val="1E293B"/>
                </a:solidFill>
                <a:latin typeface="Arial" pitchFamily="34" charset="0"/>
                <a:ea typeface="Arial" pitchFamily="34" charset="-122"/>
                <a:cs typeface="Arial" pitchFamily="34" charset="-120"/>
              </a:rPr>
              <a:t>The number lists do not capture meaning well for your topic.</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468880"/>
            <a:ext cx="11247120" cy="365760"/>
          </a:xfrm>
          <a:prstGeom prst="rect">
            <a:avLst/>
          </a:prstGeom>
          <a:noFill/>
          <a:ln/>
        </p:spPr>
        <p:txBody>
          <a:bodyPr wrap="square" lIns="0" tIns="0" rIns="0" bIns="0" rtlCol="0" anchor="ctr"/>
          <a:lstStyle/>
          <a:p>
            <a:pPr algn="ctr" indent="0" marL="0">
              <a:buNone/>
            </a:pPr>
            <a:r>
              <a:rPr lang="en-US" sz="1600" b="1" dirty="0">
                <a:solidFill>
                  <a:srgbClr val="93C5FD"/>
                </a:solidFill>
                <a:latin typeface="Arial" pitchFamily="34" charset="0"/>
                <a:ea typeface="Arial" pitchFamily="34" charset="-122"/>
                <a:cs typeface="Arial" pitchFamily="34" charset="-120"/>
              </a:rPr>
              <a:t>PART B</a:t>
            </a:r>
            <a:endParaRPr lang="en-US" sz="1600" dirty="0"/>
          </a:p>
        </p:txBody>
      </p:sp>
      <p:sp>
        <p:nvSpPr>
          <p:cNvPr id="3" name="Text 1"/>
          <p:cNvSpPr/>
          <p:nvPr/>
        </p:nvSpPr>
        <p:spPr>
          <a:xfrm>
            <a:off x="457200" y="3017520"/>
            <a:ext cx="11247120" cy="640080"/>
          </a:xfrm>
          <a:prstGeom prst="rect">
            <a:avLst/>
          </a:prstGeom>
          <a:noFill/>
          <a:ln/>
        </p:spPr>
        <p:txBody>
          <a:bodyPr wrap="square" lIns="0" tIns="0" rIns="0" bIns="0"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MCP — Connecting AI to Tools</a:t>
            </a:r>
            <a:endParaRPr lang="en-US" sz="3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indent="0" marL="0">
              <a:buNone/>
            </a:pPr>
            <a:r>
              <a:rPr lang="en-US" sz="2600" b="1" dirty="0">
                <a:solidFill>
                  <a:srgbClr val="0F172A"/>
                </a:solidFill>
                <a:latin typeface="Arial" pitchFamily="34" charset="0"/>
                <a:ea typeface="Arial" pitchFamily="34" charset="-122"/>
                <a:cs typeface="Arial" pitchFamily="34" charset="-120"/>
              </a:rPr>
              <a:t>20. What is MCP?</a:t>
            </a:r>
            <a:endParaRPr lang="en-US" sz="2600" dirty="0"/>
          </a:p>
        </p:txBody>
      </p:sp>
      <p:sp>
        <p:nvSpPr>
          <p:cNvPr id="3" name="Shape 1"/>
          <p:cNvSpPr/>
          <p:nvPr/>
        </p:nvSpPr>
        <p:spPr>
          <a:xfrm>
            <a:off x="457200" y="868680"/>
            <a:ext cx="1463040" cy="64008"/>
          </a:xfrm>
          <a:prstGeom prst="rect">
            <a:avLst/>
          </a:prstGeom>
          <a:solidFill>
            <a:srgbClr val="2563EB"/>
          </a:solidFill>
          <a:ln/>
        </p:spPr>
      </p:sp>
      <p:sp>
        <p:nvSpPr>
          <p:cNvPr id="4" name="Shape 2"/>
          <p:cNvSpPr/>
          <p:nvPr/>
        </p:nvSpPr>
        <p:spPr>
          <a:xfrm>
            <a:off x="457200" y="1188720"/>
            <a:ext cx="11247120" cy="1554480"/>
          </a:xfrm>
          <a:prstGeom prst="roundRect">
            <a:avLst>
              <a:gd name="adj" fmla="val 7059"/>
            </a:avLst>
          </a:prstGeom>
          <a:solidFill>
            <a:srgbClr val="EDE9FE"/>
          </a:solidFill>
          <a:ln/>
        </p:spPr>
      </p:sp>
      <p:sp>
        <p:nvSpPr>
          <p:cNvPr id="5" name="Text 3"/>
          <p:cNvSpPr/>
          <p:nvPr/>
        </p:nvSpPr>
        <p:spPr>
          <a:xfrm>
            <a:off x="822960" y="1371600"/>
            <a:ext cx="10515600" cy="1188720"/>
          </a:xfrm>
          <a:prstGeom prst="rect">
            <a:avLst/>
          </a:prstGeom>
          <a:noFill/>
          <a:ln/>
        </p:spPr>
        <p:txBody>
          <a:bodyPr wrap="square" lIns="0" tIns="0" rIns="0" bIns="0" rtlCol="0" anchor="ctr"/>
          <a:lstStyle/>
          <a:p>
            <a:pPr indent="0" marL="0">
              <a:buNone/>
            </a:pPr>
            <a:r>
              <a:rPr lang="en-US" sz="1700" dirty="0">
                <a:solidFill>
                  <a:srgbClr val="0F172A"/>
                </a:solidFill>
                <a:latin typeface="Arial" pitchFamily="34" charset="0"/>
                <a:ea typeface="Arial" pitchFamily="34" charset="-122"/>
                <a:cs typeface="Arial" pitchFamily="34" charset="-120"/>
              </a:rPr>
              <a:t>MCP = Model Context Protocol</a:t>
            </a:r>
            <a:endParaRPr lang="en-US" sz="1700" dirty="0"/>
          </a:p>
          <a:p>
            <a:pPr indent="0" marL="0">
              <a:buNone/>
            </a:pPr>
            <a:endParaRPr lang="en-US" sz="1700" dirty="0"/>
          </a:p>
          <a:p>
            <a:pPr indent="0" marL="0">
              <a:buNone/>
            </a:pPr>
            <a:r>
              <a:rPr lang="en-US" sz="1700" dirty="0">
                <a:solidFill>
                  <a:srgbClr val="0F172A"/>
                </a:solidFill>
                <a:latin typeface="Arial" pitchFamily="34" charset="0"/>
                <a:ea typeface="Arial" pitchFamily="34" charset="-122"/>
                <a:cs typeface="Arial" pitchFamily="34" charset="-120"/>
              </a:rPr>
              <a:t>A standard way for AI apps to connect to tools, databases, files, and other systems.</a:t>
            </a:r>
            <a:endParaRPr lang="en-US" sz="1700" dirty="0"/>
          </a:p>
          <a:p>
            <a:pPr indent="0" marL="0">
              <a:buNone/>
            </a:pPr>
            <a:r>
              <a:rPr lang="en-US" sz="1700" dirty="0">
                <a:solidFill>
                  <a:srgbClr val="0F172A"/>
                </a:solidFill>
                <a:latin typeface="Arial" pitchFamily="34" charset="0"/>
                <a:ea typeface="Arial" pitchFamily="34" charset="-122"/>
                <a:cs typeface="Arial" pitchFamily="34" charset="-120"/>
              </a:rPr>
              <a:t>The important word is “Protocol” — a common language.</a:t>
            </a:r>
            <a:endParaRPr lang="en-US" sz="1700" dirty="0"/>
          </a:p>
        </p:txBody>
      </p:sp>
      <p:sp>
        <p:nvSpPr>
          <p:cNvPr id="6" name="Text 4"/>
          <p:cNvSpPr/>
          <p:nvPr/>
        </p:nvSpPr>
        <p:spPr>
          <a:xfrm>
            <a:off x="457200" y="3017520"/>
            <a:ext cx="10972800" cy="365760"/>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Why do we need a standard?</a:t>
            </a:r>
            <a:endParaRPr lang="en-US" sz="1600" dirty="0"/>
          </a:p>
        </p:txBody>
      </p:sp>
      <p:sp>
        <p:nvSpPr>
          <p:cNvPr id="7" name="Shape 5"/>
          <p:cNvSpPr/>
          <p:nvPr/>
        </p:nvSpPr>
        <p:spPr>
          <a:xfrm>
            <a:off x="457200" y="3566160"/>
            <a:ext cx="5486400" cy="2743200"/>
          </a:xfrm>
          <a:prstGeom prst="roundRect">
            <a:avLst>
              <a:gd name="adj" fmla="val 4000"/>
            </a:avLst>
          </a:prstGeom>
          <a:solidFill>
            <a:srgbClr val="FEE2E2"/>
          </a:solidFill>
          <a:ln/>
        </p:spPr>
      </p:sp>
      <p:sp>
        <p:nvSpPr>
          <p:cNvPr id="8" name="Text 6"/>
          <p:cNvSpPr/>
          <p:nvPr/>
        </p:nvSpPr>
        <p:spPr>
          <a:xfrm>
            <a:off x="731520" y="3794760"/>
            <a:ext cx="4937760" cy="365760"/>
          </a:xfrm>
          <a:prstGeom prst="rect">
            <a:avLst/>
          </a:prstGeom>
          <a:noFill/>
          <a:ln/>
        </p:spPr>
        <p:txBody>
          <a:bodyPr wrap="square" lIns="0" tIns="0" rIns="0" bIns="0" rtlCol="0" anchor="ctr"/>
          <a:lstStyle/>
          <a:p>
            <a:pPr indent="0" marL="0">
              <a:buNone/>
            </a:pPr>
            <a:r>
              <a:rPr lang="en-US" sz="1600" b="1" dirty="0">
                <a:solidFill>
                  <a:srgbClr val="DC2626"/>
                </a:solidFill>
                <a:latin typeface="Arial" pitchFamily="34" charset="0"/>
                <a:ea typeface="Arial" pitchFamily="34" charset="-122"/>
                <a:cs typeface="Arial" pitchFamily="34" charset="-120"/>
              </a:rPr>
              <a:t>Without standard</a:t>
            </a:r>
            <a:endParaRPr lang="en-US" sz="1600" dirty="0"/>
          </a:p>
        </p:txBody>
      </p:sp>
      <p:sp>
        <p:nvSpPr>
          <p:cNvPr id="9" name="Text 7"/>
          <p:cNvSpPr/>
          <p:nvPr/>
        </p:nvSpPr>
        <p:spPr>
          <a:xfrm>
            <a:off x="731520" y="4297680"/>
            <a:ext cx="4937760" cy="1645920"/>
          </a:xfrm>
          <a:prstGeom prst="rect">
            <a:avLst/>
          </a:prstGeom>
          <a:noFill/>
          <a:ln/>
        </p:spPr>
        <p:txBody>
          <a:bodyPr wrap="square" lIns="0" tIns="0" rIns="0" bIns="0" rtlCol="0" anchor="ctr"/>
          <a:lstStyle/>
          <a:p>
            <a:pPr indent="0" marL="0">
              <a:buNone/>
            </a:pPr>
            <a:r>
              <a:rPr lang="en-US" sz="1400" dirty="0">
                <a:solidFill>
                  <a:srgbClr val="1E293B"/>
                </a:solidFill>
                <a:latin typeface="Arial" pitchFamily="34" charset="0"/>
                <a:ea typeface="Arial" pitchFamily="34" charset="-122"/>
                <a:cs typeface="Arial" pitchFamily="34" charset="-120"/>
              </a:rPr>
              <a:t>Every app builds its own connection code for every tool. Hard to maintain and share.</a:t>
            </a:r>
            <a:endParaRPr lang="en-US" sz="1400" dirty="0"/>
          </a:p>
        </p:txBody>
      </p:sp>
      <p:sp>
        <p:nvSpPr>
          <p:cNvPr id="10" name="Shape 8"/>
          <p:cNvSpPr/>
          <p:nvPr/>
        </p:nvSpPr>
        <p:spPr>
          <a:xfrm>
            <a:off x="6217920" y="3566160"/>
            <a:ext cx="5486400" cy="2743200"/>
          </a:xfrm>
          <a:prstGeom prst="roundRect">
            <a:avLst>
              <a:gd name="adj" fmla="val 4000"/>
            </a:avLst>
          </a:prstGeom>
          <a:solidFill>
            <a:srgbClr val="D1FAE5"/>
          </a:solidFill>
          <a:ln/>
        </p:spPr>
      </p:sp>
      <p:sp>
        <p:nvSpPr>
          <p:cNvPr id="11" name="Text 9"/>
          <p:cNvSpPr/>
          <p:nvPr/>
        </p:nvSpPr>
        <p:spPr>
          <a:xfrm>
            <a:off x="6492240" y="3794760"/>
            <a:ext cx="4937760" cy="365760"/>
          </a:xfrm>
          <a:prstGeom prst="rect">
            <a:avLst/>
          </a:prstGeom>
          <a:noFill/>
          <a:ln/>
        </p:spPr>
        <p:txBody>
          <a:bodyPr wrap="square" lIns="0" tIns="0" rIns="0" bIns="0" rtlCol="0" anchor="ctr"/>
          <a:lstStyle/>
          <a:p>
            <a:pPr indent="0" marL="0">
              <a:buNone/>
            </a:pPr>
            <a:r>
              <a:rPr lang="en-US" sz="1600" b="1" dirty="0">
                <a:solidFill>
                  <a:srgbClr val="059669"/>
                </a:solidFill>
                <a:latin typeface="Arial" pitchFamily="34" charset="0"/>
                <a:ea typeface="Arial" pitchFamily="34" charset="-122"/>
                <a:cs typeface="Arial" pitchFamily="34" charset="-120"/>
              </a:rPr>
              <a:t>With MCP</a:t>
            </a:r>
            <a:endParaRPr lang="en-US" sz="1600" dirty="0"/>
          </a:p>
        </p:txBody>
      </p:sp>
      <p:sp>
        <p:nvSpPr>
          <p:cNvPr id="12" name="Text 10"/>
          <p:cNvSpPr/>
          <p:nvPr/>
        </p:nvSpPr>
        <p:spPr>
          <a:xfrm>
            <a:off x="6492240" y="4297680"/>
            <a:ext cx="4937760" cy="1645920"/>
          </a:xfrm>
          <a:prstGeom prst="rect">
            <a:avLst/>
          </a:prstGeom>
          <a:noFill/>
          <a:ln/>
        </p:spPr>
        <p:txBody>
          <a:bodyPr wrap="square" lIns="0" tIns="0" rIns="0" bIns="0" rtlCol="0" anchor="ctr"/>
          <a:lstStyle/>
          <a:p>
            <a:pPr indent="0" marL="0">
              <a:buNone/>
            </a:pPr>
            <a:r>
              <a:rPr lang="en-US" sz="1400" dirty="0">
                <a:solidFill>
                  <a:srgbClr val="1E293B"/>
                </a:solidFill>
                <a:latin typeface="Arial" pitchFamily="34" charset="0"/>
                <a:ea typeface="Arial" pitchFamily="34" charset="-122"/>
                <a:cs typeface="Arial" pitchFamily="34" charset="-120"/>
              </a:rPr>
              <a:t>One common way to connect. Easier to build, share, and reuse.</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indent="0" marL="0">
              <a:buNone/>
            </a:pPr>
            <a:r>
              <a:rPr lang="en-US" sz="2600" b="1" dirty="0">
                <a:solidFill>
                  <a:srgbClr val="0F172A"/>
                </a:solidFill>
                <a:latin typeface="Arial" pitchFamily="34" charset="0"/>
                <a:ea typeface="Arial" pitchFamily="34" charset="-122"/>
                <a:cs typeface="Arial" pitchFamily="34" charset="-120"/>
              </a:rPr>
              <a:t>21. MCP — Simple Architecture</a:t>
            </a:r>
            <a:endParaRPr lang="en-US" sz="2600" dirty="0"/>
          </a:p>
        </p:txBody>
      </p:sp>
      <p:sp>
        <p:nvSpPr>
          <p:cNvPr id="3" name="Shape 1"/>
          <p:cNvSpPr/>
          <p:nvPr/>
        </p:nvSpPr>
        <p:spPr>
          <a:xfrm>
            <a:off x="457200" y="868680"/>
            <a:ext cx="1463040" cy="64008"/>
          </a:xfrm>
          <a:prstGeom prst="rect">
            <a:avLst/>
          </a:prstGeom>
          <a:solidFill>
            <a:srgbClr val="2563EB"/>
          </a:solidFill>
          <a:ln/>
        </p:spPr>
      </p:sp>
      <p:sp>
        <p:nvSpPr>
          <p:cNvPr id="4" name="Shape 2"/>
          <p:cNvSpPr/>
          <p:nvPr/>
        </p:nvSpPr>
        <p:spPr>
          <a:xfrm>
            <a:off x="3200400" y="1280160"/>
            <a:ext cx="5760720" cy="1097280"/>
          </a:xfrm>
          <a:prstGeom prst="roundRect">
            <a:avLst>
              <a:gd name="adj" fmla="val 10000"/>
            </a:avLst>
          </a:prstGeom>
          <a:solidFill>
            <a:srgbClr val="2563EB"/>
          </a:solidFill>
          <a:ln/>
        </p:spPr>
      </p:sp>
      <p:sp>
        <p:nvSpPr>
          <p:cNvPr id="5" name="Text 3"/>
          <p:cNvSpPr/>
          <p:nvPr/>
        </p:nvSpPr>
        <p:spPr>
          <a:xfrm>
            <a:off x="3200400" y="1554480"/>
            <a:ext cx="576072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AI App (Host)</a:t>
            </a:r>
            <a:endParaRPr lang="en-US" sz="1800" dirty="0"/>
          </a:p>
        </p:txBody>
      </p:sp>
      <p:sp>
        <p:nvSpPr>
          <p:cNvPr id="6" name="Text 4"/>
          <p:cNvSpPr/>
          <p:nvPr/>
        </p:nvSpPr>
        <p:spPr>
          <a:xfrm>
            <a:off x="3200400" y="2514600"/>
            <a:ext cx="5760720" cy="365760"/>
          </a:xfrm>
          <a:prstGeom prst="rect">
            <a:avLst/>
          </a:prstGeom>
          <a:noFill/>
          <a:ln/>
        </p:spPr>
        <p:txBody>
          <a:bodyPr wrap="square" lIns="0" tIns="0" rIns="0" bIns="0" rtlCol="0" anchor="ctr"/>
          <a:lstStyle/>
          <a:p>
            <a:pPr algn="ctr" indent="0" marL="0">
              <a:buNone/>
            </a:pPr>
            <a:r>
              <a:rPr lang="en-US" sz="1400" dirty="0">
                <a:solidFill>
                  <a:srgbClr val="64748B"/>
                </a:solidFill>
                <a:latin typeface="Arial" pitchFamily="34" charset="0"/>
                <a:ea typeface="Arial" pitchFamily="34" charset="-122"/>
                <a:cs typeface="Arial" pitchFamily="34" charset="-120"/>
              </a:rPr>
              <a:t>↓  talks using MCP  ↓</a:t>
            </a:r>
            <a:endParaRPr lang="en-US" sz="1400" dirty="0"/>
          </a:p>
        </p:txBody>
      </p:sp>
      <p:sp>
        <p:nvSpPr>
          <p:cNvPr id="7" name="Shape 5"/>
          <p:cNvSpPr/>
          <p:nvPr/>
        </p:nvSpPr>
        <p:spPr>
          <a:xfrm>
            <a:off x="3200400" y="3017520"/>
            <a:ext cx="5760720" cy="1371600"/>
          </a:xfrm>
          <a:prstGeom prst="roundRect">
            <a:avLst>
              <a:gd name="adj" fmla="val 8000"/>
            </a:avLst>
          </a:prstGeom>
          <a:solidFill>
            <a:srgbClr val="7C3AED"/>
          </a:solidFill>
          <a:ln/>
        </p:spPr>
      </p:sp>
      <p:sp>
        <p:nvSpPr>
          <p:cNvPr id="8" name="Text 6"/>
          <p:cNvSpPr/>
          <p:nvPr/>
        </p:nvSpPr>
        <p:spPr>
          <a:xfrm>
            <a:off x="3200400" y="3200400"/>
            <a:ext cx="576072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MCP Server</a:t>
            </a:r>
            <a:endParaRPr lang="en-US" sz="1800" dirty="0"/>
          </a:p>
        </p:txBody>
      </p:sp>
      <p:sp>
        <p:nvSpPr>
          <p:cNvPr id="9" name="Text 7"/>
          <p:cNvSpPr/>
          <p:nvPr/>
        </p:nvSpPr>
        <p:spPr>
          <a:xfrm>
            <a:off x="3200400" y="3749040"/>
            <a:ext cx="5760720" cy="365760"/>
          </a:xfrm>
          <a:prstGeom prst="rect">
            <a:avLst/>
          </a:prstGeom>
          <a:noFill/>
          <a:ln/>
        </p:spPr>
        <p:txBody>
          <a:bodyPr wrap="square" lIns="0" tIns="0" rIns="0" bIns="0" rtlCol="0" anchor="ctr"/>
          <a:lstStyle/>
          <a:p>
            <a:pPr algn="ctr" indent="0" marL="0">
              <a:buNone/>
            </a:pPr>
            <a:r>
              <a:rPr lang="en-US" sz="1400" dirty="0">
                <a:solidFill>
                  <a:srgbClr val="E0E7FF"/>
                </a:solidFill>
                <a:latin typeface="Arial" pitchFamily="34" charset="0"/>
                <a:ea typeface="Arial" pitchFamily="34" charset="-122"/>
                <a:cs typeface="Arial" pitchFamily="34" charset="-120"/>
              </a:rPr>
              <a:t>Provides Tools • Resources • Prompts</a:t>
            </a:r>
            <a:endParaRPr lang="en-US" sz="1400" dirty="0"/>
          </a:p>
        </p:txBody>
      </p:sp>
      <p:sp>
        <p:nvSpPr>
          <p:cNvPr id="10" name="Text 8"/>
          <p:cNvSpPr/>
          <p:nvPr/>
        </p:nvSpPr>
        <p:spPr>
          <a:xfrm>
            <a:off x="3200400" y="4526280"/>
            <a:ext cx="5760720" cy="320040"/>
          </a:xfrm>
          <a:prstGeom prst="rect">
            <a:avLst/>
          </a:prstGeom>
          <a:noFill/>
          <a:ln/>
        </p:spPr>
        <p:txBody>
          <a:bodyPr wrap="square" lIns="0" tIns="0" rIns="0" bIns="0" rtlCol="0" anchor="ctr"/>
          <a:lstStyle/>
          <a:p>
            <a:pPr algn="ctr" indent="0" marL="0">
              <a:buNone/>
            </a:pPr>
            <a:r>
              <a:rPr lang="en-US" sz="1800" dirty="0">
                <a:solidFill>
                  <a:srgbClr val="64748B"/>
                </a:solidFill>
                <a:latin typeface="Arial" pitchFamily="34" charset="0"/>
                <a:ea typeface="Arial" pitchFamily="34" charset="-122"/>
                <a:cs typeface="Arial" pitchFamily="34" charset="-120"/>
              </a:rPr>
              <a:t>↓</a:t>
            </a:r>
            <a:endParaRPr lang="en-US" sz="1800" dirty="0"/>
          </a:p>
        </p:txBody>
      </p:sp>
      <p:sp>
        <p:nvSpPr>
          <p:cNvPr id="11" name="Shape 9"/>
          <p:cNvSpPr/>
          <p:nvPr/>
        </p:nvSpPr>
        <p:spPr>
          <a:xfrm>
            <a:off x="1371600" y="4937760"/>
            <a:ext cx="9418320" cy="1188720"/>
          </a:xfrm>
          <a:prstGeom prst="roundRect">
            <a:avLst>
              <a:gd name="adj" fmla="val 9231"/>
            </a:avLst>
          </a:prstGeom>
          <a:solidFill>
            <a:srgbClr val="0D9488"/>
          </a:solidFill>
          <a:ln/>
        </p:spPr>
      </p:sp>
      <p:sp>
        <p:nvSpPr>
          <p:cNvPr id="12" name="Text 10"/>
          <p:cNvSpPr/>
          <p:nvPr/>
        </p:nvSpPr>
        <p:spPr>
          <a:xfrm>
            <a:off x="1371600" y="5303520"/>
            <a:ext cx="941832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Real Systems (Database, Files, APIs, Slack, GitHub...)</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indent="0" marL="0">
              <a:buNone/>
            </a:pPr>
            <a:r>
              <a:rPr lang="en-US" sz="2600" b="1" dirty="0">
                <a:solidFill>
                  <a:srgbClr val="0F172A"/>
                </a:solidFill>
                <a:latin typeface="Arial" pitchFamily="34" charset="0"/>
                <a:ea typeface="Arial" pitchFamily="34" charset="-122"/>
                <a:cs typeface="Arial" pitchFamily="34" charset="-120"/>
              </a:rPr>
              <a:t>22. MCP Tools — Let AI Do Actions</a:t>
            </a:r>
            <a:endParaRPr lang="en-US" sz="2600" dirty="0"/>
          </a:p>
        </p:txBody>
      </p:sp>
      <p:sp>
        <p:nvSpPr>
          <p:cNvPr id="3" name="Shape 1"/>
          <p:cNvSpPr/>
          <p:nvPr/>
        </p:nvSpPr>
        <p:spPr>
          <a:xfrm>
            <a:off x="457200" y="868680"/>
            <a:ext cx="1463040" cy="64008"/>
          </a:xfrm>
          <a:prstGeom prst="rect">
            <a:avLst/>
          </a:prstGeom>
          <a:solidFill>
            <a:srgbClr val="2563EB"/>
          </a:solidFill>
          <a:ln/>
        </p:spPr>
      </p:sp>
      <p:sp>
        <p:nvSpPr>
          <p:cNvPr id="4" name="Shape 2"/>
          <p:cNvSpPr/>
          <p:nvPr/>
        </p:nvSpPr>
        <p:spPr>
          <a:xfrm>
            <a:off x="457200" y="1188720"/>
            <a:ext cx="11247120" cy="1188720"/>
          </a:xfrm>
          <a:prstGeom prst="roundRect">
            <a:avLst>
              <a:gd name="adj" fmla="val 9231"/>
            </a:avLst>
          </a:prstGeom>
          <a:solidFill>
            <a:srgbClr val="FFEDD5"/>
          </a:solidFill>
          <a:ln/>
        </p:spPr>
      </p:sp>
      <p:sp>
        <p:nvSpPr>
          <p:cNvPr id="5" name="Text 3"/>
          <p:cNvSpPr/>
          <p:nvPr/>
        </p:nvSpPr>
        <p:spPr>
          <a:xfrm>
            <a:off x="822960" y="1508760"/>
            <a:ext cx="10515600" cy="548640"/>
          </a:xfrm>
          <a:prstGeom prst="rect">
            <a:avLst/>
          </a:prstGeom>
          <a:noFill/>
          <a:ln/>
        </p:spPr>
        <p:txBody>
          <a:bodyPr wrap="square" lIns="0" tIns="0" rIns="0" bIns="0" rtlCol="0" anchor="ctr"/>
          <a:lstStyle/>
          <a:p>
            <a:pPr indent="0" marL="0">
              <a:buNone/>
            </a:pPr>
            <a:r>
              <a:rPr lang="en-US" sz="1700" dirty="0">
                <a:solidFill>
                  <a:srgbClr val="0F172A"/>
                </a:solidFill>
                <a:latin typeface="Arial" pitchFamily="34" charset="0"/>
                <a:ea typeface="Arial" pitchFamily="34" charset="-122"/>
                <a:cs typeface="Arial" pitchFamily="34" charset="-120"/>
              </a:rPr>
              <a:t>A Tool is something the AI can call to perform a real action.</a:t>
            </a:r>
            <a:endParaRPr lang="en-US" sz="1700" dirty="0"/>
          </a:p>
        </p:txBody>
      </p:sp>
      <p:sp>
        <p:nvSpPr>
          <p:cNvPr id="6" name="Shape 4"/>
          <p:cNvSpPr/>
          <p:nvPr/>
        </p:nvSpPr>
        <p:spPr>
          <a:xfrm>
            <a:off x="457200" y="2651760"/>
            <a:ext cx="3657600" cy="1600200"/>
          </a:xfrm>
          <a:prstGeom prst="roundRect">
            <a:avLst>
              <a:gd name="adj" fmla="val 6857"/>
            </a:avLst>
          </a:prstGeom>
          <a:solidFill>
            <a:srgbClr val="F1F5F9"/>
          </a:solidFill>
          <a:ln/>
        </p:spPr>
      </p:sp>
      <p:sp>
        <p:nvSpPr>
          <p:cNvPr id="7" name="Text 5"/>
          <p:cNvSpPr/>
          <p:nvPr/>
        </p:nvSpPr>
        <p:spPr>
          <a:xfrm>
            <a:off x="640080" y="2971800"/>
            <a:ext cx="3291840" cy="411480"/>
          </a:xfrm>
          <a:prstGeom prst="rect">
            <a:avLst/>
          </a:prstGeom>
          <a:noFill/>
          <a:ln/>
        </p:spPr>
        <p:txBody>
          <a:bodyPr wrap="square" lIns="0" tIns="0" rIns="0" bIns="0" rtlCol="0" anchor="ctr"/>
          <a:lstStyle/>
          <a:p>
            <a:pPr indent="0" marL="0">
              <a:buNone/>
            </a:pPr>
            <a:r>
              <a:rPr lang="en-US" sz="1400" b="1" dirty="0">
                <a:solidFill>
                  <a:srgbClr val="0F172A"/>
                </a:solidFill>
                <a:latin typeface="Consolas" pitchFamily="34" charset="0"/>
                <a:ea typeface="Consolas" pitchFamily="34" charset="-122"/>
                <a:cs typeface="Consolas" pitchFamily="34" charset="-120"/>
              </a:rPr>
              <a:t>check_inventory()</a:t>
            </a:r>
            <a:endParaRPr lang="en-US" sz="1400" dirty="0"/>
          </a:p>
        </p:txBody>
      </p:sp>
      <p:sp>
        <p:nvSpPr>
          <p:cNvPr id="8" name="Text 6"/>
          <p:cNvSpPr/>
          <p:nvPr/>
        </p:nvSpPr>
        <p:spPr>
          <a:xfrm>
            <a:off x="640080" y="3520440"/>
            <a:ext cx="3291840" cy="365760"/>
          </a:xfrm>
          <a:prstGeom prst="rect">
            <a:avLst/>
          </a:prstGeom>
          <a:noFill/>
          <a:ln/>
        </p:spPr>
        <p:txBody>
          <a:bodyPr wrap="square" lIns="0" tIns="0" rIns="0" bIns="0" rtlCol="0" anchor="ctr"/>
          <a:lstStyle/>
          <a:p>
            <a:pPr indent="0" marL="0">
              <a:buNone/>
            </a:pPr>
            <a:r>
              <a:rPr lang="en-US" sz="1400" dirty="0">
                <a:solidFill>
                  <a:srgbClr val="64748B"/>
                </a:solidFill>
                <a:latin typeface="Arial" pitchFamily="34" charset="0"/>
                <a:ea typeface="Arial" pitchFamily="34" charset="-122"/>
                <a:cs typeface="Arial" pitchFamily="34" charset="-120"/>
              </a:rPr>
              <a:t>How many items in stock?</a:t>
            </a:r>
            <a:endParaRPr lang="en-US" sz="1400" dirty="0"/>
          </a:p>
        </p:txBody>
      </p:sp>
      <p:sp>
        <p:nvSpPr>
          <p:cNvPr id="9" name="Shape 7"/>
          <p:cNvSpPr/>
          <p:nvPr/>
        </p:nvSpPr>
        <p:spPr>
          <a:xfrm>
            <a:off x="4297680" y="2651760"/>
            <a:ext cx="3657600" cy="1600200"/>
          </a:xfrm>
          <a:prstGeom prst="roundRect">
            <a:avLst>
              <a:gd name="adj" fmla="val 6857"/>
            </a:avLst>
          </a:prstGeom>
          <a:solidFill>
            <a:srgbClr val="F1F5F9"/>
          </a:solidFill>
          <a:ln/>
        </p:spPr>
      </p:sp>
      <p:sp>
        <p:nvSpPr>
          <p:cNvPr id="10" name="Text 8"/>
          <p:cNvSpPr/>
          <p:nvPr/>
        </p:nvSpPr>
        <p:spPr>
          <a:xfrm>
            <a:off x="4480560" y="2971800"/>
            <a:ext cx="3291840" cy="411480"/>
          </a:xfrm>
          <a:prstGeom prst="rect">
            <a:avLst/>
          </a:prstGeom>
          <a:noFill/>
          <a:ln/>
        </p:spPr>
        <p:txBody>
          <a:bodyPr wrap="square" lIns="0" tIns="0" rIns="0" bIns="0" rtlCol="0" anchor="ctr"/>
          <a:lstStyle/>
          <a:p>
            <a:pPr indent="0" marL="0">
              <a:buNone/>
            </a:pPr>
            <a:r>
              <a:rPr lang="en-US" sz="1400" b="1" dirty="0">
                <a:solidFill>
                  <a:srgbClr val="0F172A"/>
                </a:solidFill>
                <a:latin typeface="Consolas" pitchFamily="34" charset="0"/>
                <a:ea typeface="Consolas" pitchFamily="34" charset="-122"/>
                <a:cs typeface="Consolas" pitchFamily="34" charset="-120"/>
              </a:rPr>
              <a:t>get_customer()</a:t>
            </a:r>
            <a:endParaRPr lang="en-US" sz="1400" dirty="0"/>
          </a:p>
        </p:txBody>
      </p:sp>
      <p:sp>
        <p:nvSpPr>
          <p:cNvPr id="11" name="Text 9"/>
          <p:cNvSpPr/>
          <p:nvPr/>
        </p:nvSpPr>
        <p:spPr>
          <a:xfrm>
            <a:off x="4480560" y="3520440"/>
            <a:ext cx="3291840" cy="365760"/>
          </a:xfrm>
          <a:prstGeom prst="rect">
            <a:avLst/>
          </a:prstGeom>
          <a:noFill/>
          <a:ln/>
        </p:spPr>
        <p:txBody>
          <a:bodyPr wrap="square" lIns="0" tIns="0" rIns="0" bIns="0" rtlCol="0" anchor="ctr"/>
          <a:lstStyle/>
          <a:p>
            <a:pPr indent="0" marL="0">
              <a:buNone/>
            </a:pPr>
            <a:r>
              <a:rPr lang="en-US" sz="1400" dirty="0">
                <a:solidFill>
                  <a:srgbClr val="64748B"/>
                </a:solidFill>
                <a:latin typeface="Arial" pitchFamily="34" charset="0"/>
                <a:ea typeface="Arial" pitchFamily="34" charset="-122"/>
                <a:cs typeface="Arial" pitchFamily="34" charset="-120"/>
              </a:rPr>
              <a:t>Fetch customer details</a:t>
            </a:r>
            <a:endParaRPr lang="en-US" sz="1400" dirty="0"/>
          </a:p>
        </p:txBody>
      </p:sp>
      <p:sp>
        <p:nvSpPr>
          <p:cNvPr id="12" name="Shape 10"/>
          <p:cNvSpPr/>
          <p:nvPr/>
        </p:nvSpPr>
        <p:spPr>
          <a:xfrm>
            <a:off x="8138160" y="2651760"/>
            <a:ext cx="3657600" cy="1600200"/>
          </a:xfrm>
          <a:prstGeom prst="roundRect">
            <a:avLst>
              <a:gd name="adj" fmla="val 6857"/>
            </a:avLst>
          </a:prstGeom>
          <a:solidFill>
            <a:srgbClr val="F1F5F9"/>
          </a:solidFill>
          <a:ln/>
        </p:spPr>
      </p:sp>
      <p:sp>
        <p:nvSpPr>
          <p:cNvPr id="13" name="Text 11"/>
          <p:cNvSpPr/>
          <p:nvPr/>
        </p:nvSpPr>
        <p:spPr>
          <a:xfrm>
            <a:off x="8321040" y="2971800"/>
            <a:ext cx="3291840" cy="411480"/>
          </a:xfrm>
          <a:prstGeom prst="rect">
            <a:avLst/>
          </a:prstGeom>
          <a:noFill/>
          <a:ln/>
        </p:spPr>
        <p:txBody>
          <a:bodyPr wrap="square" lIns="0" tIns="0" rIns="0" bIns="0" rtlCol="0" anchor="ctr"/>
          <a:lstStyle/>
          <a:p>
            <a:pPr indent="0" marL="0">
              <a:buNone/>
            </a:pPr>
            <a:r>
              <a:rPr lang="en-US" sz="1400" b="1" dirty="0">
                <a:solidFill>
                  <a:srgbClr val="0F172A"/>
                </a:solidFill>
                <a:latin typeface="Consolas" pitchFamily="34" charset="0"/>
                <a:ea typeface="Consolas" pitchFamily="34" charset="-122"/>
                <a:cs typeface="Consolas" pitchFamily="34" charset="-120"/>
              </a:rPr>
              <a:t>create_ticket()</a:t>
            </a:r>
            <a:endParaRPr lang="en-US" sz="1400" dirty="0"/>
          </a:p>
        </p:txBody>
      </p:sp>
      <p:sp>
        <p:nvSpPr>
          <p:cNvPr id="14" name="Text 12"/>
          <p:cNvSpPr/>
          <p:nvPr/>
        </p:nvSpPr>
        <p:spPr>
          <a:xfrm>
            <a:off x="8321040" y="3520440"/>
            <a:ext cx="3291840" cy="365760"/>
          </a:xfrm>
          <a:prstGeom prst="rect">
            <a:avLst/>
          </a:prstGeom>
          <a:noFill/>
          <a:ln/>
        </p:spPr>
        <p:txBody>
          <a:bodyPr wrap="square" lIns="0" tIns="0" rIns="0" bIns="0" rtlCol="0" anchor="ctr"/>
          <a:lstStyle/>
          <a:p>
            <a:pPr indent="0" marL="0">
              <a:buNone/>
            </a:pPr>
            <a:r>
              <a:rPr lang="en-US" sz="1400" dirty="0">
                <a:solidFill>
                  <a:srgbClr val="64748B"/>
                </a:solidFill>
                <a:latin typeface="Arial" pitchFamily="34" charset="0"/>
                <a:ea typeface="Arial" pitchFamily="34" charset="-122"/>
                <a:cs typeface="Arial" pitchFamily="34" charset="-120"/>
              </a:rPr>
              <a:t>Open a support ticket</a:t>
            </a:r>
            <a:endParaRPr lang="en-US" sz="1400" dirty="0"/>
          </a:p>
        </p:txBody>
      </p:sp>
      <p:sp>
        <p:nvSpPr>
          <p:cNvPr id="15" name="Shape 13"/>
          <p:cNvSpPr/>
          <p:nvPr/>
        </p:nvSpPr>
        <p:spPr>
          <a:xfrm>
            <a:off x="457200" y="4480560"/>
            <a:ext cx="3657600" cy="1600200"/>
          </a:xfrm>
          <a:prstGeom prst="roundRect">
            <a:avLst>
              <a:gd name="adj" fmla="val 6857"/>
            </a:avLst>
          </a:prstGeom>
          <a:solidFill>
            <a:srgbClr val="F1F5F9"/>
          </a:solidFill>
          <a:ln/>
        </p:spPr>
      </p:sp>
      <p:sp>
        <p:nvSpPr>
          <p:cNvPr id="16" name="Text 14"/>
          <p:cNvSpPr/>
          <p:nvPr/>
        </p:nvSpPr>
        <p:spPr>
          <a:xfrm>
            <a:off x="640080" y="4800600"/>
            <a:ext cx="3291840" cy="411480"/>
          </a:xfrm>
          <a:prstGeom prst="rect">
            <a:avLst/>
          </a:prstGeom>
          <a:noFill/>
          <a:ln/>
        </p:spPr>
        <p:txBody>
          <a:bodyPr wrap="square" lIns="0" tIns="0" rIns="0" bIns="0" rtlCol="0" anchor="ctr"/>
          <a:lstStyle/>
          <a:p>
            <a:pPr indent="0" marL="0">
              <a:buNone/>
            </a:pPr>
            <a:r>
              <a:rPr lang="en-US" sz="1400" b="1" dirty="0">
                <a:solidFill>
                  <a:srgbClr val="0F172A"/>
                </a:solidFill>
                <a:latin typeface="Consolas" pitchFamily="34" charset="0"/>
                <a:ea typeface="Consolas" pitchFamily="34" charset="-122"/>
                <a:cs typeface="Consolas" pitchFamily="34" charset="-120"/>
              </a:rPr>
              <a:t>send_email()</a:t>
            </a:r>
            <a:endParaRPr lang="en-US" sz="1400" dirty="0"/>
          </a:p>
        </p:txBody>
      </p:sp>
      <p:sp>
        <p:nvSpPr>
          <p:cNvPr id="17" name="Text 15"/>
          <p:cNvSpPr/>
          <p:nvPr/>
        </p:nvSpPr>
        <p:spPr>
          <a:xfrm>
            <a:off x="640080" y="5349240"/>
            <a:ext cx="3291840" cy="365760"/>
          </a:xfrm>
          <a:prstGeom prst="rect">
            <a:avLst/>
          </a:prstGeom>
          <a:noFill/>
          <a:ln/>
        </p:spPr>
        <p:txBody>
          <a:bodyPr wrap="square" lIns="0" tIns="0" rIns="0" bIns="0" rtlCol="0" anchor="ctr"/>
          <a:lstStyle/>
          <a:p>
            <a:pPr indent="0" marL="0">
              <a:buNone/>
            </a:pPr>
            <a:r>
              <a:rPr lang="en-US" sz="1400" dirty="0">
                <a:solidFill>
                  <a:srgbClr val="64748B"/>
                </a:solidFill>
                <a:latin typeface="Arial" pitchFamily="34" charset="0"/>
                <a:ea typeface="Arial" pitchFamily="34" charset="-122"/>
                <a:cs typeface="Arial" pitchFamily="34" charset="-120"/>
              </a:rPr>
              <a:t>Send an email</a:t>
            </a:r>
            <a:endParaRPr lang="en-US" sz="1400" dirty="0"/>
          </a:p>
        </p:txBody>
      </p:sp>
      <p:sp>
        <p:nvSpPr>
          <p:cNvPr id="18" name="Shape 16"/>
          <p:cNvSpPr/>
          <p:nvPr/>
        </p:nvSpPr>
        <p:spPr>
          <a:xfrm>
            <a:off x="4297680" y="4480560"/>
            <a:ext cx="3657600" cy="1600200"/>
          </a:xfrm>
          <a:prstGeom prst="roundRect">
            <a:avLst>
              <a:gd name="adj" fmla="val 6857"/>
            </a:avLst>
          </a:prstGeom>
          <a:solidFill>
            <a:srgbClr val="F1F5F9"/>
          </a:solidFill>
          <a:ln/>
        </p:spPr>
      </p:sp>
      <p:sp>
        <p:nvSpPr>
          <p:cNvPr id="19" name="Text 17"/>
          <p:cNvSpPr/>
          <p:nvPr/>
        </p:nvSpPr>
        <p:spPr>
          <a:xfrm>
            <a:off x="4480560" y="4800600"/>
            <a:ext cx="3291840" cy="411480"/>
          </a:xfrm>
          <a:prstGeom prst="rect">
            <a:avLst/>
          </a:prstGeom>
          <a:noFill/>
          <a:ln/>
        </p:spPr>
        <p:txBody>
          <a:bodyPr wrap="square" lIns="0" tIns="0" rIns="0" bIns="0" rtlCol="0" anchor="ctr"/>
          <a:lstStyle/>
          <a:p>
            <a:pPr indent="0" marL="0">
              <a:buNone/>
            </a:pPr>
            <a:r>
              <a:rPr lang="en-US" sz="1400" b="1" dirty="0">
                <a:solidFill>
                  <a:srgbClr val="0F172A"/>
                </a:solidFill>
                <a:latin typeface="Consolas" pitchFamily="34" charset="0"/>
                <a:ea typeface="Consolas" pitchFamily="34" charset="-122"/>
                <a:cs typeface="Consolas" pitchFamily="34" charset="-120"/>
              </a:rPr>
              <a:t>query_database()</a:t>
            </a:r>
            <a:endParaRPr lang="en-US" sz="1400" dirty="0"/>
          </a:p>
        </p:txBody>
      </p:sp>
      <p:sp>
        <p:nvSpPr>
          <p:cNvPr id="20" name="Text 18"/>
          <p:cNvSpPr/>
          <p:nvPr/>
        </p:nvSpPr>
        <p:spPr>
          <a:xfrm>
            <a:off x="4480560" y="5349240"/>
            <a:ext cx="3291840" cy="365760"/>
          </a:xfrm>
          <a:prstGeom prst="rect">
            <a:avLst/>
          </a:prstGeom>
          <a:noFill/>
          <a:ln/>
        </p:spPr>
        <p:txBody>
          <a:bodyPr wrap="square" lIns="0" tIns="0" rIns="0" bIns="0" rtlCol="0" anchor="ctr"/>
          <a:lstStyle/>
          <a:p>
            <a:pPr indent="0" marL="0">
              <a:buNone/>
            </a:pPr>
            <a:r>
              <a:rPr lang="en-US" sz="1400" dirty="0">
                <a:solidFill>
                  <a:srgbClr val="64748B"/>
                </a:solidFill>
                <a:latin typeface="Arial" pitchFamily="34" charset="0"/>
                <a:ea typeface="Arial" pitchFamily="34" charset="-122"/>
                <a:cs typeface="Arial" pitchFamily="34" charset="-120"/>
              </a:rPr>
              <a:t>Get data from database</a:t>
            </a:r>
            <a:endParaRPr lang="en-US" sz="1400" dirty="0"/>
          </a:p>
        </p:txBody>
      </p:sp>
      <p:sp>
        <p:nvSpPr>
          <p:cNvPr id="21" name="Shape 19"/>
          <p:cNvSpPr/>
          <p:nvPr/>
        </p:nvSpPr>
        <p:spPr>
          <a:xfrm>
            <a:off x="8138160" y="4480560"/>
            <a:ext cx="3657600" cy="1600200"/>
          </a:xfrm>
          <a:prstGeom prst="roundRect">
            <a:avLst>
              <a:gd name="adj" fmla="val 6857"/>
            </a:avLst>
          </a:prstGeom>
          <a:solidFill>
            <a:srgbClr val="F1F5F9"/>
          </a:solidFill>
          <a:ln/>
        </p:spPr>
      </p:sp>
      <p:sp>
        <p:nvSpPr>
          <p:cNvPr id="22" name="Text 20"/>
          <p:cNvSpPr/>
          <p:nvPr/>
        </p:nvSpPr>
        <p:spPr>
          <a:xfrm>
            <a:off x="8321040" y="4800600"/>
            <a:ext cx="3291840" cy="411480"/>
          </a:xfrm>
          <a:prstGeom prst="rect">
            <a:avLst/>
          </a:prstGeom>
          <a:noFill/>
          <a:ln/>
        </p:spPr>
        <p:txBody>
          <a:bodyPr wrap="square" lIns="0" tIns="0" rIns="0" bIns="0" rtlCol="0" anchor="ctr"/>
          <a:lstStyle/>
          <a:p>
            <a:pPr indent="0" marL="0">
              <a:buNone/>
            </a:pPr>
            <a:r>
              <a:rPr lang="en-US" sz="1400" b="1" dirty="0">
                <a:solidFill>
                  <a:srgbClr val="0F172A"/>
                </a:solidFill>
                <a:latin typeface="Consolas" pitchFamily="34" charset="0"/>
                <a:ea typeface="Consolas" pitchFamily="34" charset="-122"/>
                <a:cs typeface="Consolas" pitchFamily="34" charset="-120"/>
              </a:rPr>
              <a:t>book_meeting()</a:t>
            </a:r>
            <a:endParaRPr lang="en-US" sz="1400" dirty="0"/>
          </a:p>
        </p:txBody>
      </p:sp>
      <p:sp>
        <p:nvSpPr>
          <p:cNvPr id="23" name="Text 21"/>
          <p:cNvSpPr/>
          <p:nvPr/>
        </p:nvSpPr>
        <p:spPr>
          <a:xfrm>
            <a:off x="8321040" y="5349240"/>
            <a:ext cx="3291840" cy="365760"/>
          </a:xfrm>
          <a:prstGeom prst="rect">
            <a:avLst/>
          </a:prstGeom>
          <a:noFill/>
          <a:ln/>
        </p:spPr>
        <p:txBody>
          <a:bodyPr wrap="square" lIns="0" tIns="0" rIns="0" bIns="0" rtlCol="0" anchor="ctr"/>
          <a:lstStyle/>
          <a:p>
            <a:pPr indent="0" marL="0">
              <a:buNone/>
            </a:pPr>
            <a:r>
              <a:rPr lang="en-US" sz="1400" dirty="0">
                <a:solidFill>
                  <a:srgbClr val="64748B"/>
                </a:solidFill>
                <a:latin typeface="Arial" pitchFamily="34" charset="0"/>
                <a:ea typeface="Arial" pitchFamily="34" charset="-122"/>
                <a:cs typeface="Arial" pitchFamily="34" charset="-120"/>
              </a:rPr>
              <a:t>Create calendar event</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indent="0" marL="0">
              <a:buNone/>
            </a:pPr>
            <a:r>
              <a:rPr lang="en-US" sz="2600" b="1" dirty="0">
                <a:solidFill>
                  <a:srgbClr val="0F172A"/>
                </a:solidFill>
                <a:latin typeface="Arial" pitchFamily="34" charset="0"/>
                <a:ea typeface="Arial" pitchFamily="34" charset="-122"/>
                <a:cs typeface="Arial" pitchFamily="34" charset="-120"/>
              </a:rPr>
              <a:t>How Tool Calling Works</a:t>
            </a:r>
            <a:endParaRPr lang="en-US" sz="2600" dirty="0"/>
          </a:p>
        </p:txBody>
      </p:sp>
      <p:sp>
        <p:nvSpPr>
          <p:cNvPr id="3" name="Shape 1"/>
          <p:cNvSpPr/>
          <p:nvPr/>
        </p:nvSpPr>
        <p:spPr>
          <a:xfrm>
            <a:off x="457200" y="868680"/>
            <a:ext cx="1463040" cy="64008"/>
          </a:xfrm>
          <a:prstGeom prst="rect">
            <a:avLst/>
          </a:prstGeom>
          <a:solidFill>
            <a:srgbClr val="2563EB"/>
          </a:solidFill>
          <a:ln/>
        </p:spPr>
      </p:sp>
      <p:sp>
        <p:nvSpPr>
          <p:cNvPr id="4" name="Shape 2"/>
          <p:cNvSpPr/>
          <p:nvPr/>
        </p:nvSpPr>
        <p:spPr>
          <a:xfrm>
            <a:off x="457200" y="1234440"/>
            <a:ext cx="640080" cy="640080"/>
          </a:xfrm>
          <a:prstGeom prst="ellipse">
            <a:avLst/>
          </a:prstGeom>
          <a:solidFill>
            <a:srgbClr val="2563EB"/>
          </a:solidFill>
          <a:ln/>
        </p:spPr>
      </p:sp>
      <p:sp>
        <p:nvSpPr>
          <p:cNvPr id="5" name="Text 3"/>
          <p:cNvSpPr/>
          <p:nvPr/>
        </p:nvSpPr>
        <p:spPr>
          <a:xfrm>
            <a:off x="457200" y="1371600"/>
            <a:ext cx="64008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6" name="Text 4"/>
          <p:cNvSpPr/>
          <p:nvPr/>
        </p:nvSpPr>
        <p:spPr>
          <a:xfrm>
            <a:off x="1371600" y="1325880"/>
            <a:ext cx="2743200" cy="457200"/>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You ask</a:t>
            </a:r>
            <a:endParaRPr lang="en-US" sz="1600" dirty="0"/>
          </a:p>
        </p:txBody>
      </p:sp>
      <p:sp>
        <p:nvSpPr>
          <p:cNvPr id="7" name="Text 5"/>
          <p:cNvSpPr/>
          <p:nvPr/>
        </p:nvSpPr>
        <p:spPr>
          <a:xfrm>
            <a:off x="4297680" y="1325880"/>
            <a:ext cx="7315200" cy="457200"/>
          </a:xfrm>
          <a:prstGeom prst="rect">
            <a:avLst/>
          </a:prstGeom>
          <a:noFill/>
          <a:ln/>
        </p:spPr>
        <p:txBody>
          <a:bodyPr wrap="square" lIns="0" tIns="0" rIns="0" bIns="0" rtlCol="0" anchor="ctr"/>
          <a:lstStyle/>
          <a:p>
            <a:pPr indent="0" marL="0">
              <a:buNone/>
            </a:pPr>
            <a:r>
              <a:rPr lang="en-US" sz="1500" dirty="0">
                <a:solidFill>
                  <a:srgbClr val="1E293B"/>
                </a:solidFill>
                <a:latin typeface="Arial" pitchFamily="34" charset="0"/>
                <a:ea typeface="Arial" pitchFamily="34" charset="-122"/>
                <a:cs typeface="Arial" pitchFamily="34" charset="-120"/>
              </a:rPr>
              <a:t>“How many laptops are in stock?”</a:t>
            </a:r>
            <a:endParaRPr lang="en-US" sz="1500" dirty="0"/>
          </a:p>
        </p:txBody>
      </p:sp>
      <p:sp>
        <p:nvSpPr>
          <p:cNvPr id="8" name="Shape 6"/>
          <p:cNvSpPr/>
          <p:nvPr/>
        </p:nvSpPr>
        <p:spPr>
          <a:xfrm>
            <a:off x="457200" y="2240280"/>
            <a:ext cx="640080" cy="640080"/>
          </a:xfrm>
          <a:prstGeom prst="ellipse">
            <a:avLst/>
          </a:prstGeom>
          <a:solidFill>
            <a:srgbClr val="2563EB"/>
          </a:solidFill>
          <a:ln/>
        </p:spPr>
      </p:sp>
      <p:sp>
        <p:nvSpPr>
          <p:cNvPr id="9" name="Text 7"/>
          <p:cNvSpPr/>
          <p:nvPr/>
        </p:nvSpPr>
        <p:spPr>
          <a:xfrm>
            <a:off x="457200" y="2377440"/>
            <a:ext cx="64008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0" name="Text 8"/>
          <p:cNvSpPr/>
          <p:nvPr/>
        </p:nvSpPr>
        <p:spPr>
          <a:xfrm>
            <a:off x="1371600" y="2331720"/>
            <a:ext cx="2743200" cy="457200"/>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AI decides</a:t>
            </a:r>
            <a:endParaRPr lang="en-US" sz="1600" dirty="0"/>
          </a:p>
        </p:txBody>
      </p:sp>
      <p:sp>
        <p:nvSpPr>
          <p:cNvPr id="11" name="Text 9"/>
          <p:cNvSpPr/>
          <p:nvPr/>
        </p:nvSpPr>
        <p:spPr>
          <a:xfrm>
            <a:off x="4297680" y="2331720"/>
            <a:ext cx="7315200" cy="457200"/>
          </a:xfrm>
          <a:prstGeom prst="rect">
            <a:avLst/>
          </a:prstGeom>
          <a:noFill/>
          <a:ln/>
        </p:spPr>
        <p:txBody>
          <a:bodyPr wrap="square" lIns="0" tIns="0" rIns="0" bIns="0" rtlCol="0" anchor="ctr"/>
          <a:lstStyle/>
          <a:p>
            <a:pPr indent="0" marL="0">
              <a:buNone/>
            </a:pPr>
            <a:r>
              <a:rPr lang="en-US" sz="1500" dirty="0">
                <a:solidFill>
                  <a:srgbClr val="1E293B"/>
                </a:solidFill>
                <a:latin typeface="Arial" pitchFamily="34" charset="0"/>
                <a:ea typeface="Arial" pitchFamily="34" charset="-122"/>
                <a:cs typeface="Arial" pitchFamily="34" charset="-120"/>
              </a:rPr>
              <a:t>It needs live inventory data</a:t>
            </a:r>
            <a:endParaRPr lang="en-US" sz="1500" dirty="0"/>
          </a:p>
        </p:txBody>
      </p:sp>
      <p:sp>
        <p:nvSpPr>
          <p:cNvPr id="12" name="Shape 10"/>
          <p:cNvSpPr/>
          <p:nvPr/>
        </p:nvSpPr>
        <p:spPr>
          <a:xfrm>
            <a:off x="457200" y="3246120"/>
            <a:ext cx="640080" cy="640080"/>
          </a:xfrm>
          <a:prstGeom prst="ellipse">
            <a:avLst/>
          </a:prstGeom>
          <a:solidFill>
            <a:srgbClr val="2563EB"/>
          </a:solidFill>
          <a:ln/>
        </p:spPr>
      </p:sp>
      <p:sp>
        <p:nvSpPr>
          <p:cNvPr id="13" name="Text 11"/>
          <p:cNvSpPr/>
          <p:nvPr/>
        </p:nvSpPr>
        <p:spPr>
          <a:xfrm>
            <a:off x="457200" y="3383280"/>
            <a:ext cx="64008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4" name="Text 12"/>
          <p:cNvSpPr/>
          <p:nvPr/>
        </p:nvSpPr>
        <p:spPr>
          <a:xfrm>
            <a:off x="1371600" y="3337560"/>
            <a:ext cx="2743200" cy="457200"/>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Tool is called</a:t>
            </a:r>
            <a:endParaRPr lang="en-US" sz="1600" dirty="0"/>
          </a:p>
        </p:txBody>
      </p:sp>
      <p:sp>
        <p:nvSpPr>
          <p:cNvPr id="15" name="Text 13"/>
          <p:cNvSpPr/>
          <p:nvPr/>
        </p:nvSpPr>
        <p:spPr>
          <a:xfrm>
            <a:off x="4297680" y="3337560"/>
            <a:ext cx="7315200" cy="457200"/>
          </a:xfrm>
          <a:prstGeom prst="rect">
            <a:avLst/>
          </a:prstGeom>
          <a:noFill/>
          <a:ln/>
        </p:spPr>
        <p:txBody>
          <a:bodyPr wrap="square" lIns="0" tIns="0" rIns="0" bIns="0" rtlCol="0" anchor="ctr"/>
          <a:lstStyle/>
          <a:p>
            <a:pPr indent="0" marL="0">
              <a:buNone/>
            </a:pPr>
            <a:r>
              <a:rPr lang="en-US" sz="1500" dirty="0">
                <a:solidFill>
                  <a:srgbClr val="1E293B"/>
                </a:solidFill>
                <a:latin typeface="Arial" pitchFamily="34" charset="0"/>
                <a:ea typeface="Arial" pitchFamily="34" charset="-122"/>
                <a:cs typeface="Arial" pitchFamily="34" charset="-120"/>
              </a:rPr>
              <a:t>check_inventory() runs</a:t>
            </a:r>
            <a:endParaRPr lang="en-US" sz="1500" dirty="0"/>
          </a:p>
        </p:txBody>
      </p:sp>
      <p:sp>
        <p:nvSpPr>
          <p:cNvPr id="16" name="Shape 14"/>
          <p:cNvSpPr/>
          <p:nvPr/>
        </p:nvSpPr>
        <p:spPr>
          <a:xfrm>
            <a:off x="457200" y="4251960"/>
            <a:ext cx="640080" cy="640080"/>
          </a:xfrm>
          <a:prstGeom prst="ellipse">
            <a:avLst/>
          </a:prstGeom>
          <a:solidFill>
            <a:srgbClr val="2563EB"/>
          </a:solidFill>
          <a:ln/>
        </p:spPr>
      </p:sp>
      <p:sp>
        <p:nvSpPr>
          <p:cNvPr id="17" name="Text 15"/>
          <p:cNvSpPr/>
          <p:nvPr/>
        </p:nvSpPr>
        <p:spPr>
          <a:xfrm>
            <a:off x="457200" y="4389120"/>
            <a:ext cx="64008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18" name="Text 16"/>
          <p:cNvSpPr/>
          <p:nvPr/>
        </p:nvSpPr>
        <p:spPr>
          <a:xfrm>
            <a:off x="1371600" y="4343400"/>
            <a:ext cx="2743200" cy="457200"/>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Result comes back</a:t>
            </a:r>
            <a:endParaRPr lang="en-US" sz="1600" dirty="0"/>
          </a:p>
        </p:txBody>
      </p:sp>
      <p:sp>
        <p:nvSpPr>
          <p:cNvPr id="19" name="Text 17"/>
          <p:cNvSpPr/>
          <p:nvPr/>
        </p:nvSpPr>
        <p:spPr>
          <a:xfrm>
            <a:off x="4297680" y="4343400"/>
            <a:ext cx="7315200" cy="457200"/>
          </a:xfrm>
          <a:prstGeom prst="rect">
            <a:avLst/>
          </a:prstGeom>
          <a:noFill/>
          <a:ln/>
        </p:spPr>
        <p:txBody>
          <a:bodyPr wrap="square" lIns="0" tIns="0" rIns="0" bIns="0" rtlCol="0" anchor="ctr"/>
          <a:lstStyle/>
          <a:p>
            <a:pPr indent="0" marL="0">
              <a:buNone/>
            </a:pPr>
            <a:r>
              <a:rPr lang="en-US" sz="1500" dirty="0">
                <a:solidFill>
                  <a:srgbClr val="1E293B"/>
                </a:solidFill>
                <a:latin typeface="Arial" pitchFamily="34" charset="0"/>
                <a:ea typeface="Arial" pitchFamily="34" charset="-122"/>
                <a:cs typeface="Arial" pitchFamily="34" charset="-120"/>
              </a:rPr>
              <a:t>“47 laptops available”</a:t>
            </a:r>
            <a:endParaRPr lang="en-US" sz="1500" dirty="0"/>
          </a:p>
        </p:txBody>
      </p:sp>
      <p:sp>
        <p:nvSpPr>
          <p:cNvPr id="20" name="Shape 18"/>
          <p:cNvSpPr/>
          <p:nvPr/>
        </p:nvSpPr>
        <p:spPr>
          <a:xfrm>
            <a:off x="457200" y="5257800"/>
            <a:ext cx="640080" cy="640080"/>
          </a:xfrm>
          <a:prstGeom prst="ellipse">
            <a:avLst/>
          </a:prstGeom>
          <a:solidFill>
            <a:srgbClr val="2563EB"/>
          </a:solidFill>
          <a:ln/>
        </p:spPr>
      </p:sp>
      <p:sp>
        <p:nvSpPr>
          <p:cNvPr id="21" name="Text 19"/>
          <p:cNvSpPr/>
          <p:nvPr/>
        </p:nvSpPr>
        <p:spPr>
          <a:xfrm>
            <a:off x="457200" y="5394960"/>
            <a:ext cx="64008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5</a:t>
            </a:r>
            <a:endParaRPr lang="en-US" sz="1800" dirty="0"/>
          </a:p>
        </p:txBody>
      </p:sp>
      <p:sp>
        <p:nvSpPr>
          <p:cNvPr id="22" name="Text 20"/>
          <p:cNvSpPr/>
          <p:nvPr/>
        </p:nvSpPr>
        <p:spPr>
          <a:xfrm>
            <a:off x="1371600" y="5349240"/>
            <a:ext cx="2743200" cy="457200"/>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AI answers you</a:t>
            </a:r>
            <a:endParaRPr lang="en-US" sz="1600" dirty="0"/>
          </a:p>
        </p:txBody>
      </p:sp>
      <p:sp>
        <p:nvSpPr>
          <p:cNvPr id="23" name="Text 21"/>
          <p:cNvSpPr/>
          <p:nvPr/>
        </p:nvSpPr>
        <p:spPr>
          <a:xfrm>
            <a:off x="4297680" y="5349240"/>
            <a:ext cx="7315200" cy="457200"/>
          </a:xfrm>
          <a:prstGeom prst="rect">
            <a:avLst/>
          </a:prstGeom>
          <a:noFill/>
          <a:ln/>
        </p:spPr>
        <p:txBody>
          <a:bodyPr wrap="square" lIns="0" tIns="0" rIns="0" bIns="0" rtlCol="0" anchor="ctr"/>
          <a:lstStyle/>
          <a:p>
            <a:pPr indent="0" marL="0">
              <a:buNone/>
            </a:pPr>
            <a:r>
              <a:rPr lang="en-US" sz="1500" dirty="0">
                <a:solidFill>
                  <a:srgbClr val="1E293B"/>
                </a:solidFill>
                <a:latin typeface="Arial" pitchFamily="34" charset="0"/>
                <a:ea typeface="Arial" pitchFamily="34" charset="-122"/>
                <a:cs typeface="Arial" pitchFamily="34" charset="-120"/>
              </a:rPr>
              <a:t>Uses the real number in its reply</a:t>
            </a:r>
            <a:endParaRPr lang="en-US" sz="15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indent="0" marL="0">
              <a:buNone/>
            </a:pPr>
            <a:r>
              <a:rPr lang="en-US" sz="2600" b="1" dirty="0">
                <a:solidFill>
                  <a:srgbClr val="0F172A"/>
                </a:solidFill>
                <a:latin typeface="Arial" pitchFamily="34" charset="0"/>
                <a:ea typeface="Arial" pitchFamily="34" charset="-122"/>
                <a:cs typeface="Arial" pitchFamily="34" charset="-120"/>
              </a:rPr>
              <a:t>23. Tools vs Resources vs Prompts</a:t>
            </a:r>
            <a:endParaRPr lang="en-US" sz="2600" dirty="0"/>
          </a:p>
        </p:txBody>
      </p:sp>
      <p:sp>
        <p:nvSpPr>
          <p:cNvPr id="3" name="Shape 1"/>
          <p:cNvSpPr/>
          <p:nvPr/>
        </p:nvSpPr>
        <p:spPr>
          <a:xfrm>
            <a:off x="457200" y="868680"/>
            <a:ext cx="1463040" cy="64008"/>
          </a:xfrm>
          <a:prstGeom prst="rect">
            <a:avLst/>
          </a:prstGeom>
          <a:solidFill>
            <a:srgbClr val="2563EB"/>
          </a:solidFill>
          <a:ln/>
        </p:spPr>
      </p:sp>
      <p:sp>
        <p:nvSpPr>
          <p:cNvPr id="4" name="Shape 2"/>
          <p:cNvSpPr/>
          <p:nvPr/>
        </p:nvSpPr>
        <p:spPr>
          <a:xfrm>
            <a:off x="457200" y="1371600"/>
            <a:ext cx="3017520" cy="1371600"/>
          </a:xfrm>
          <a:prstGeom prst="roundRect">
            <a:avLst>
              <a:gd name="adj" fmla="val 8000"/>
            </a:avLst>
          </a:prstGeom>
          <a:solidFill>
            <a:srgbClr val="2563EB"/>
          </a:solidFill>
          <a:ln/>
        </p:spPr>
      </p:sp>
      <p:sp>
        <p:nvSpPr>
          <p:cNvPr id="5" name="Text 3"/>
          <p:cNvSpPr/>
          <p:nvPr/>
        </p:nvSpPr>
        <p:spPr>
          <a:xfrm>
            <a:off x="457200" y="1828800"/>
            <a:ext cx="301752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Tool</a:t>
            </a:r>
            <a:endParaRPr lang="en-US" sz="2000" dirty="0"/>
          </a:p>
        </p:txBody>
      </p:sp>
      <p:sp>
        <p:nvSpPr>
          <p:cNvPr id="6" name="Shape 4"/>
          <p:cNvSpPr/>
          <p:nvPr/>
        </p:nvSpPr>
        <p:spPr>
          <a:xfrm>
            <a:off x="3657600" y="1371600"/>
            <a:ext cx="3657600" cy="1371600"/>
          </a:xfrm>
          <a:prstGeom prst="roundRect">
            <a:avLst>
              <a:gd name="adj" fmla="val 8000"/>
            </a:avLst>
          </a:prstGeom>
          <a:solidFill>
            <a:srgbClr val="F1F5F9"/>
          </a:solidFill>
          <a:ln/>
        </p:spPr>
      </p:sp>
      <p:sp>
        <p:nvSpPr>
          <p:cNvPr id="7" name="Text 5"/>
          <p:cNvSpPr/>
          <p:nvPr/>
        </p:nvSpPr>
        <p:spPr>
          <a:xfrm>
            <a:off x="3840480" y="1828800"/>
            <a:ext cx="3291840" cy="457200"/>
          </a:xfrm>
          <a:prstGeom prst="rect">
            <a:avLst/>
          </a:prstGeom>
          <a:noFill/>
          <a:ln/>
        </p:spPr>
        <p:txBody>
          <a:bodyPr wrap="square" lIns="0" tIns="0" rIns="0" bIns="0" rtlCol="0" anchor="ctr"/>
          <a:lstStyle/>
          <a:p>
            <a:pPr algn="ctr" indent="0" marL="0">
              <a:buNone/>
            </a:pPr>
            <a:r>
              <a:rPr lang="en-US" sz="1600" dirty="0">
                <a:solidFill>
                  <a:srgbClr val="0F172A"/>
                </a:solidFill>
                <a:latin typeface="Arial" pitchFamily="34" charset="0"/>
                <a:ea typeface="Arial" pitchFamily="34" charset="-122"/>
                <a:cs typeface="Arial" pitchFamily="34" charset="-120"/>
              </a:rPr>
              <a:t>DO something</a:t>
            </a:r>
            <a:endParaRPr lang="en-US" sz="1600" dirty="0"/>
          </a:p>
        </p:txBody>
      </p:sp>
      <p:sp>
        <p:nvSpPr>
          <p:cNvPr id="8" name="Shape 6"/>
          <p:cNvSpPr/>
          <p:nvPr/>
        </p:nvSpPr>
        <p:spPr>
          <a:xfrm>
            <a:off x="7498080" y="1371600"/>
            <a:ext cx="4206240" cy="1371600"/>
          </a:xfrm>
          <a:prstGeom prst="roundRect">
            <a:avLst>
              <a:gd name="adj" fmla="val 8000"/>
            </a:avLst>
          </a:prstGeom>
          <a:solidFill>
            <a:srgbClr val="F1F5F9"/>
          </a:solidFill>
          <a:ln/>
        </p:spPr>
      </p:sp>
      <p:sp>
        <p:nvSpPr>
          <p:cNvPr id="9" name="Text 7"/>
          <p:cNvSpPr/>
          <p:nvPr/>
        </p:nvSpPr>
        <p:spPr>
          <a:xfrm>
            <a:off x="7680960" y="1828800"/>
            <a:ext cx="3840480" cy="457200"/>
          </a:xfrm>
          <a:prstGeom prst="rect">
            <a:avLst/>
          </a:prstGeom>
          <a:noFill/>
          <a:ln/>
        </p:spPr>
        <p:txBody>
          <a:bodyPr wrap="square" lIns="0" tIns="0" rIns="0" bIns="0" rtlCol="0" anchor="ctr"/>
          <a:lstStyle/>
          <a:p>
            <a:pPr algn="ctr" indent="0" marL="0">
              <a:buNone/>
            </a:pPr>
            <a:r>
              <a:rPr lang="en-US" sz="1400" dirty="0">
                <a:solidFill>
                  <a:srgbClr val="1E293B"/>
                </a:solidFill>
                <a:latin typeface="Arial" pitchFamily="34" charset="0"/>
                <a:ea typeface="Arial" pitchFamily="34" charset="-122"/>
                <a:cs typeface="Arial" pitchFamily="34" charset="-120"/>
              </a:rPr>
              <a:t>Create ticket, send email, check stock</a:t>
            </a:r>
            <a:endParaRPr lang="en-US" sz="1400" dirty="0"/>
          </a:p>
        </p:txBody>
      </p:sp>
      <p:sp>
        <p:nvSpPr>
          <p:cNvPr id="10" name="Shape 8"/>
          <p:cNvSpPr/>
          <p:nvPr/>
        </p:nvSpPr>
        <p:spPr>
          <a:xfrm>
            <a:off x="457200" y="2926080"/>
            <a:ext cx="3017520" cy="1371600"/>
          </a:xfrm>
          <a:prstGeom prst="roundRect">
            <a:avLst>
              <a:gd name="adj" fmla="val 8000"/>
            </a:avLst>
          </a:prstGeom>
          <a:solidFill>
            <a:srgbClr val="2563EB"/>
          </a:solidFill>
          <a:ln/>
        </p:spPr>
      </p:sp>
      <p:sp>
        <p:nvSpPr>
          <p:cNvPr id="11" name="Text 9"/>
          <p:cNvSpPr/>
          <p:nvPr/>
        </p:nvSpPr>
        <p:spPr>
          <a:xfrm>
            <a:off x="457200" y="3383280"/>
            <a:ext cx="301752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Resource</a:t>
            </a:r>
            <a:endParaRPr lang="en-US" sz="2000" dirty="0"/>
          </a:p>
        </p:txBody>
      </p:sp>
      <p:sp>
        <p:nvSpPr>
          <p:cNvPr id="12" name="Shape 10"/>
          <p:cNvSpPr/>
          <p:nvPr/>
        </p:nvSpPr>
        <p:spPr>
          <a:xfrm>
            <a:off x="3657600" y="2926080"/>
            <a:ext cx="3657600" cy="1371600"/>
          </a:xfrm>
          <a:prstGeom prst="roundRect">
            <a:avLst>
              <a:gd name="adj" fmla="val 8000"/>
            </a:avLst>
          </a:prstGeom>
          <a:solidFill>
            <a:srgbClr val="F1F5F9"/>
          </a:solidFill>
          <a:ln/>
        </p:spPr>
      </p:sp>
      <p:sp>
        <p:nvSpPr>
          <p:cNvPr id="13" name="Text 11"/>
          <p:cNvSpPr/>
          <p:nvPr/>
        </p:nvSpPr>
        <p:spPr>
          <a:xfrm>
            <a:off x="3840480" y="3383280"/>
            <a:ext cx="3291840" cy="457200"/>
          </a:xfrm>
          <a:prstGeom prst="rect">
            <a:avLst/>
          </a:prstGeom>
          <a:noFill/>
          <a:ln/>
        </p:spPr>
        <p:txBody>
          <a:bodyPr wrap="square" lIns="0" tIns="0" rIns="0" bIns="0" rtlCol="0" anchor="ctr"/>
          <a:lstStyle/>
          <a:p>
            <a:pPr algn="ctr" indent="0" marL="0">
              <a:buNone/>
            </a:pPr>
            <a:r>
              <a:rPr lang="en-US" sz="1600" dirty="0">
                <a:solidFill>
                  <a:srgbClr val="0F172A"/>
                </a:solidFill>
                <a:latin typeface="Arial" pitchFamily="34" charset="0"/>
                <a:ea typeface="Arial" pitchFamily="34" charset="-122"/>
                <a:cs typeface="Arial" pitchFamily="34" charset="-120"/>
              </a:rPr>
              <a:t>READ something</a:t>
            </a:r>
            <a:endParaRPr lang="en-US" sz="1600" dirty="0"/>
          </a:p>
        </p:txBody>
      </p:sp>
      <p:sp>
        <p:nvSpPr>
          <p:cNvPr id="14" name="Shape 12"/>
          <p:cNvSpPr/>
          <p:nvPr/>
        </p:nvSpPr>
        <p:spPr>
          <a:xfrm>
            <a:off x="7498080" y="2926080"/>
            <a:ext cx="4206240" cy="1371600"/>
          </a:xfrm>
          <a:prstGeom prst="roundRect">
            <a:avLst>
              <a:gd name="adj" fmla="val 8000"/>
            </a:avLst>
          </a:prstGeom>
          <a:solidFill>
            <a:srgbClr val="F1F5F9"/>
          </a:solidFill>
          <a:ln/>
        </p:spPr>
      </p:sp>
      <p:sp>
        <p:nvSpPr>
          <p:cNvPr id="15" name="Text 13"/>
          <p:cNvSpPr/>
          <p:nvPr/>
        </p:nvSpPr>
        <p:spPr>
          <a:xfrm>
            <a:off x="7680960" y="3383280"/>
            <a:ext cx="3840480" cy="457200"/>
          </a:xfrm>
          <a:prstGeom prst="rect">
            <a:avLst/>
          </a:prstGeom>
          <a:noFill/>
          <a:ln/>
        </p:spPr>
        <p:txBody>
          <a:bodyPr wrap="square" lIns="0" tIns="0" rIns="0" bIns="0" rtlCol="0" anchor="ctr"/>
          <a:lstStyle/>
          <a:p>
            <a:pPr algn="ctr" indent="0" marL="0">
              <a:buNone/>
            </a:pPr>
            <a:r>
              <a:rPr lang="en-US" sz="1400" dirty="0">
                <a:solidFill>
                  <a:srgbClr val="1E293B"/>
                </a:solidFill>
                <a:latin typeface="Arial" pitchFamily="34" charset="0"/>
                <a:ea typeface="Arial" pitchFamily="34" charset="-122"/>
                <a:cs typeface="Arial" pitchFamily="34" charset="-120"/>
              </a:rPr>
              <a:t>Read a file, look at database row</a:t>
            </a:r>
            <a:endParaRPr lang="en-US" sz="1400" dirty="0"/>
          </a:p>
        </p:txBody>
      </p:sp>
      <p:sp>
        <p:nvSpPr>
          <p:cNvPr id="16" name="Shape 14"/>
          <p:cNvSpPr/>
          <p:nvPr/>
        </p:nvSpPr>
        <p:spPr>
          <a:xfrm>
            <a:off x="457200" y="4480560"/>
            <a:ext cx="3017520" cy="1371600"/>
          </a:xfrm>
          <a:prstGeom prst="roundRect">
            <a:avLst>
              <a:gd name="adj" fmla="val 8000"/>
            </a:avLst>
          </a:prstGeom>
          <a:solidFill>
            <a:srgbClr val="2563EB"/>
          </a:solidFill>
          <a:ln/>
        </p:spPr>
      </p:sp>
      <p:sp>
        <p:nvSpPr>
          <p:cNvPr id="17" name="Text 15"/>
          <p:cNvSpPr/>
          <p:nvPr/>
        </p:nvSpPr>
        <p:spPr>
          <a:xfrm>
            <a:off x="457200" y="4937760"/>
            <a:ext cx="301752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Prompt</a:t>
            </a:r>
            <a:endParaRPr lang="en-US" sz="2000" dirty="0"/>
          </a:p>
        </p:txBody>
      </p:sp>
      <p:sp>
        <p:nvSpPr>
          <p:cNvPr id="18" name="Shape 16"/>
          <p:cNvSpPr/>
          <p:nvPr/>
        </p:nvSpPr>
        <p:spPr>
          <a:xfrm>
            <a:off x="3657600" y="4480560"/>
            <a:ext cx="3657600" cy="1371600"/>
          </a:xfrm>
          <a:prstGeom prst="roundRect">
            <a:avLst>
              <a:gd name="adj" fmla="val 8000"/>
            </a:avLst>
          </a:prstGeom>
          <a:solidFill>
            <a:srgbClr val="F1F5F9"/>
          </a:solidFill>
          <a:ln/>
        </p:spPr>
      </p:sp>
      <p:sp>
        <p:nvSpPr>
          <p:cNvPr id="19" name="Text 17"/>
          <p:cNvSpPr/>
          <p:nvPr/>
        </p:nvSpPr>
        <p:spPr>
          <a:xfrm>
            <a:off x="3840480" y="4937760"/>
            <a:ext cx="3291840" cy="457200"/>
          </a:xfrm>
          <a:prstGeom prst="rect">
            <a:avLst/>
          </a:prstGeom>
          <a:noFill/>
          <a:ln/>
        </p:spPr>
        <p:txBody>
          <a:bodyPr wrap="square" lIns="0" tIns="0" rIns="0" bIns="0" rtlCol="0" anchor="ctr"/>
          <a:lstStyle/>
          <a:p>
            <a:pPr algn="ctr" indent="0" marL="0">
              <a:buNone/>
            </a:pPr>
            <a:r>
              <a:rPr lang="en-US" sz="1600" dirty="0">
                <a:solidFill>
                  <a:srgbClr val="0F172A"/>
                </a:solidFill>
                <a:latin typeface="Arial" pitchFamily="34" charset="0"/>
                <a:ea typeface="Arial" pitchFamily="34" charset="-122"/>
                <a:cs typeface="Arial" pitchFamily="34" charset="-120"/>
              </a:rPr>
              <a:t>Ready-made instruction</a:t>
            </a:r>
            <a:endParaRPr lang="en-US" sz="1600" dirty="0"/>
          </a:p>
        </p:txBody>
      </p:sp>
      <p:sp>
        <p:nvSpPr>
          <p:cNvPr id="20" name="Shape 18"/>
          <p:cNvSpPr/>
          <p:nvPr/>
        </p:nvSpPr>
        <p:spPr>
          <a:xfrm>
            <a:off x="7498080" y="4480560"/>
            <a:ext cx="4206240" cy="1371600"/>
          </a:xfrm>
          <a:prstGeom prst="roundRect">
            <a:avLst>
              <a:gd name="adj" fmla="val 8000"/>
            </a:avLst>
          </a:prstGeom>
          <a:solidFill>
            <a:srgbClr val="F1F5F9"/>
          </a:solidFill>
          <a:ln/>
        </p:spPr>
      </p:sp>
      <p:sp>
        <p:nvSpPr>
          <p:cNvPr id="21" name="Text 19"/>
          <p:cNvSpPr/>
          <p:nvPr/>
        </p:nvSpPr>
        <p:spPr>
          <a:xfrm>
            <a:off x="7680960" y="4937760"/>
            <a:ext cx="3840480" cy="457200"/>
          </a:xfrm>
          <a:prstGeom prst="rect">
            <a:avLst/>
          </a:prstGeom>
          <a:noFill/>
          <a:ln/>
        </p:spPr>
        <p:txBody>
          <a:bodyPr wrap="square" lIns="0" tIns="0" rIns="0" bIns="0" rtlCol="0" anchor="ctr"/>
          <a:lstStyle/>
          <a:p>
            <a:pPr algn="ctr" indent="0" marL="0">
              <a:buNone/>
            </a:pPr>
            <a:r>
              <a:rPr lang="en-US" sz="1400" dirty="0">
                <a:solidFill>
                  <a:srgbClr val="1E293B"/>
                </a:solidFill>
                <a:latin typeface="Arial" pitchFamily="34" charset="0"/>
                <a:ea typeface="Arial" pitchFamily="34" charset="-122"/>
                <a:cs typeface="Arial" pitchFamily="34" charset="-120"/>
              </a:rPr>
              <a:t>“Summarize this ticket”</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indent="0" marL="0">
              <a:buNone/>
            </a:pPr>
            <a:r>
              <a:rPr lang="en-US" sz="2600" b="1" dirty="0">
                <a:solidFill>
                  <a:srgbClr val="0F172A"/>
                </a:solidFill>
                <a:latin typeface="Arial" pitchFamily="34" charset="0"/>
                <a:ea typeface="Arial" pitchFamily="34" charset="-122"/>
                <a:cs typeface="Arial" pitchFamily="34" charset="-120"/>
              </a:rPr>
              <a:t>24. MCP vs RAG — Easy Comparison</a:t>
            </a:r>
            <a:endParaRPr lang="en-US" sz="2600" dirty="0"/>
          </a:p>
        </p:txBody>
      </p:sp>
      <p:sp>
        <p:nvSpPr>
          <p:cNvPr id="3" name="Shape 1"/>
          <p:cNvSpPr/>
          <p:nvPr/>
        </p:nvSpPr>
        <p:spPr>
          <a:xfrm>
            <a:off x="457200" y="868680"/>
            <a:ext cx="1463040" cy="64008"/>
          </a:xfrm>
          <a:prstGeom prst="rect">
            <a:avLst/>
          </a:prstGeom>
          <a:solidFill>
            <a:srgbClr val="2563EB"/>
          </a:solidFill>
          <a:ln/>
        </p:spPr>
      </p:sp>
      <p:sp>
        <p:nvSpPr>
          <p:cNvPr id="4" name="Shape 2"/>
          <p:cNvSpPr/>
          <p:nvPr/>
        </p:nvSpPr>
        <p:spPr>
          <a:xfrm>
            <a:off x="457200" y="1280160"/>
            <a:ext cx="3657600" cy="731520"/>
          </a:xfrm>
          <a:prstGeom prst="roundRect">
            <a:avLst>
              <a:gd name="adj" fmla="val 15000"/>
            </a:avLst>
          </a:prstGeom>
          <a:solidFill>
            <a:srgbClr val="F1F5F9"/>
          </a:solidFill>
          <a:ln/>
        </p:spPr>
      </p:sp>
      <p:sp>
        <p:nvSpPr>
          <p:cNvPr id="5" name="Text 3"/>
          <p:cNvSpPr/>
          <p:nvPr/>
        </p:nvSpPr>
        <p:spPr>
          <a:xfrm>
            <a:off x="457200" y="1417320"/>
            <a:ext cx="3657600" cy="457200"/>
          </a:xfrm>
          <a:prstGeom prst="rect">
            <a:avLst/>
          </a:prstGeom>
          <a:noFill/>
          <a:ln/>
        </p:spPr>
        <p:txBody>
          <a:bodyPr wrap="square" lIns="0" tIns="0" rIns="0" bIns="0" rtlCol="0" anchor="ctr"/>
          <a:lstStyle/>
          <a:p>
            <a:pPr algn="ctr" indent="0" marL="0">
              <a:buNone/>
            </a:pPr>
            <a:r>
              <a:rPr lang="en-US" sz="1600" b="1" dirty="0">
                <a:solidFill>
                  <a:srgbClr val="0F172A"/>
                </a:solidFill>
                <a:latin typeface="Arial" pitchFamily="34" charset="0"/>
                <a:ea typeface="Arial" pitchFamily="34" charset="-122"/>
                <a:cs typeface="Arial" pitchFamily="34" charset="-120"/>
              </a:rPr>
              <a:t>Point</a:t>
            </a:r>
            <a:endParaRPr lang="en-US" sz="1600" dirty="0"/>
          </a:p>
        </p:txBody>
      </p:sp>
      <p:sp>
        <p:nvSpPr>
          <p:cNvPr id="6" name="Shape 4"/>
          <p:cNvSpPr/>
          <p:nvPr/>
        </p:nvSpPr>
        <p:spPr>
          <a:xfrm>
            <a:off x="4114800" y="1280160"/>
            <a:ext cx="3840480" cy="731520"/>
          </a:xfrm>
          <a:prstGeom prst="roundRect">
            <a:avLst>
              <a:gd name="adj" fmla="val 15000"/>
            </a:avLst>
          </a:prstGeom>
          <a:solidFill>
            <a:srgbClr val="0D9488"/>
          </a:solidFill>
          <a:ln/>
        </p:spPr>
      </p:sp>
      <p:sp>
        <p:nvSpPr>
          <p:cNvPr id="7" name="Text 5"/>
          <p:cNvSpPr/>
          <p:nvPr/>
        </p:nvSpPr>
        <p:spPr>
          <a:xfrm>
            <a:off x="4114800" y="1417320"/>
            <a:ext cx="384048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RAG</a:t>
            </a:r>
            <a:endParaRPr lang="en-US" sz="1600" dirty="0"/>
          </a:p>
        </p:txBody>
      </p:sp>
      <p:sp>
        <p:nvSpPr>
          <p:cNvPr id="8" name="Shape 6"/>
          <p:cNvSpPr/>
          <p:nvPr/>
        </p:nvSpPr>
        <p:spPr>
          <a:xfrm>
            <a:off x="7955280" y="1280160"/>
            <a:ext cx="3749040" cy="731520"/>
          </a:xfrm>
          <a:prstGeom prst="roundRect">
            <a:avLst>
              <a:gd name="adj" fmla="val 15000"/>
            </a:avLst>
          </a:prstGeom>
          <a:solidFill>
            <a:srgbClr val="7C3AED"/>
          </a:solidFill>
          <a:ln/>
        </p:spPr>
      </p:sp>
      <p:sp>
        <p:nvSpPr>
          <p:cNvPr id="9" name="Text 7"/>
          <p:cNvSpPr/>
          <p:nvPr/>
        </p:nvSpPr>
        <p:spPr>
          <a:xfrm>
            <a:off x="7955280" y="1417320"/>
            <a:ext cx="374904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MCP</a:t>
            </a:r>
            <a:endParaRPr lang="en-US" sz="1600" dirty="0"/>
          </a:p>
        </p:txBody>
      </p:sp>
      <p:sp>
        <p:nvSpPr>
          <p:cNvPr id="10" name="Shape 8"/>
          <p:cNvSpPr/>
          <p:nvPr/>
        </p:nvSpPr>
        <p:spPr>
          <a:xfrm>
            <a:off x="457200" y="2194560"/>
            <a:ext cx="3657600" cy="914400"/>
          </a:xfrm>
          <a:prstGeom prst="roundRect">
            <a:avLst>
              <a:gd name="adj" fmla="val 12000"/>
            </a:avLst>
          </a:prstGeom>
          <a:solidFill>
            <a:srgbClr val="F1F5F9"/>
          </a:solidFill>
          <a:ln/>
        </p:spPr>
      </p:sp>
      <p:sp>
        <p:nvSpPr>
          <p:cNvPr id="11" name="Text 9"/>
          <p:cNvSpPr/>
          <p:nvPr/>
        </p:nvSpPr>
        <p:spPr>
          <a:xfrm>
            <a:off x="640080" y="2468880"/>
            <a:ext cx="3291840" cy="365760"/>
          </a:xfrm>
          <a:prstGeom prst="rect">
            <a:avLst/>
          </a:prstGeom>
          <a:noFill/>
          <a:ln/>
        </p:spPr>
        <p:txBody>
          <a:bodyPr wrap="square" lIns="0" tIns="0" rIns="0" bIns="0" rtlCol="0" anchor="ctr"/>
          <a:lstStyle/>
          <a:p>
            <a:pPr indent="0" marL="0">
              <a:buNone/>
            </a:pPr>
            <a:r>
              <a:rPr lang="en-US" sz="1400" b="1" dirty="0">
                <a:solidFill>
                  <a:srgbClr val="0F172A"/>
                </a:solidFill>
                <a:latin typeface="Arial" pitchFamily="34" charset="0"/>
                <a:ea typeface="Arial" pitchFamily="34" charset="-122"/>
                <a:cs typeface="Arial" pitchFamily="34" charset="-120"/>
              </a:rPr>
              <a:t>Main job</a:t>
            </a:r>
            <a:endParaRPr lang="en-US" sz="1400" dirty="0"/>
          </a:p>
        </p:txBody>
      </p:sp>
      <p:sp>
        <p:nvSpPr>
          <p:cNvPr id="12" name="Shape 10"/>
          <p:cNvSpPr/>
          <p:nvPr/>
        </p:nvSpPr>
        <p:spPr>
          <a:xfrm>
            <a:off x="4114800" y="2194560"/>
            <a:ext cx="3840480" cy="914400"/>
          </a:xfrm>
          <a:prstGeom prst="roundRect">
            <a:avLst>
              <a:gd name="adj" fmla="val 12000"/>
            </a:avLst>
          </a:prstGeom>
          <a:solidFill>
            <a:srgbClr val="F1F5F9"/>
          </a:solidFill>
          <a:ln/>
        </p:spPr>
      </p:sp>
      <p:sp>
        <p:nvSpPr>
          <p:cNvPr id="13" name="Text 11"/>
          <p:cNvSpPr/>
          <p:nvPr/>
        </p:nvSpPr>
        <p:spPr>
          <a:xfrm>
            <a:off x="4297680" y="2468880"/>
            <a:ext cx="3474720" cy="365760"/>
          </a:xfrm>
          <a:prstGeom prst="rect">
            <a:avLst/>
          </a:prstGeom>
          <a:noFill/>
          <a:ln/>
        </p:spPr>
        <p:txBody>
          <a:bodyPr wrap="square" lIns="0" tIns="0" rIns="0" bIns="0" rtlCol="0" anchor="ctr"/>
          <a:lstStyle/>
          <a:p>
            <a:pPr indent="0" marL="0">
              <a:buNone/>
            </a:pPr>
            <a:r>
              <a:rPr lang="en-US" sz="1400" dirty="0">
                <a:solidFill>
                  <a:srgbClr val="1E293B"/>
                </a:solidFill>
                <a:latin typeface="Arial" pitchFamily="34" charset="0"/>
                <a:ea typeface="Arial" pitchFamily="34" charset="-122"/>
                <a:cs typeface="Arial" pitchFamily="34" charset="-120"/>
              </a:rPr>
              <a:t>Find information</a:t>
            </a:r>
            <a:endParaRPr lang="en-US" sz="1400" dirty="0"/>
          </a:p>
        </p:txBody>
      </p:sp>
      <p:sp>
        <p:nvSpPr>
          <p:cNvPr id="14" name="Shape 12"/>
          <p:cNvSpPr/>
          <p:nvPr/>
        </p:nvSpPr>
        <p:spPr>
          <a:xfrm>
            <a:off x="7955280" y="2194560"/>
            <a:ext cx="3749040" cy="914400"/>
          </a:xfrm>
          <a:prstGeom prst="roundRect">
            <a:avLst>
              <a:gd name="adj" fmla="val 12000"/>
            </a:avLst>
          </a:prstGeom>
          <a:solidFill>
            <a:srgbClr val="F1F5F9"/>
          </a:solidFill>
          <a:ln/>
        </p:spPr>
      </p:sp>
      <p:sp>
        <p:nvSpPr>
          <p:cNvPr id="15" name="Text 13"/>
          <p:cNvSpPr/>
          <p:nvPr/>
        </p:nvSpPr>
        <p:spPr>
          <a:xfrm>
            <a:off x="8138160" y="2468880"/>
            <a:ext cx="3383280" cy="365760"/>
          </a:xfrm>
          <a:prstGeom prst="rect">
            <a:avLst/>
          </a:prstGeom>
          <a:noFill/>
          <a:ln/>
        </p:spPr>
        <p:txBody>
          <a:bodyPr wrap="square" lIns="0" tIns="0" rIns="0" bIns="0" rtlCol="0" anchor="ctr"/>
          <a:lstStyle/>
          <a:p>
            <a:pPr indent="0" marL="0">
              <a:buNone/>
            </a:pPr>
            <a:r>
              <a:rPr lang="en-US" sz="1400" dirty="0">
                <a:solidFill>
                  <a:srgbClr val="1E293B"/>
                </a:solidFill>
                <a:latin typeface="Arial" pitchFamily="34" charset="0"/>
                <a:ea typeface="Arial" pitchFamily="34" charset="-122"/>
                <a:cs typeface="Arial" pitchFamily="34" charset="-120"/>
              </a:rPr>
              <a:t>Connect to tools</a:t>
            </a:r>
            <a:endParaRPr lang="en-US" sz="1400" dirty="0"/>
          </a:p>
        </p:txBody>
      </p:sp>
      <p:sp>
        <p:nvSpPr>
          <p:cNvPr id="16" name="Shape 14"/>
          <p:cNvSpPr/>
          <p:nvPr/>
        </p:nvSpPr>
        <p:spPr>
          <a:xfrm>
            <a:off x="457200" y="3200400"/>
            <a:ext cx="3657600" cy="914400"/>
          </a:xfrm>
          <a:prstGeom prst="roundRect">
            <a:avLst>
              <a:gd name="adj" fmla="val 12000"/>
            </a:avLst>
          </a:prstGeom>
          <a:solidFill>
            <a:srgbClr val="FFFFFF"/>
          </a:solidFill>
          <a:ln/>
        </p:spPr>
      </p:sp>
      <p:sp>
        <p:nvSpPr>
          <p:cNvPr id="17" name="Text 15"/>
          <p:cNvSpPr/>
          <p:nvPr/>
        </p:nvSpPr>
        <p:spPr>
          <a:xfrm>
            <a:off x="640080" y="3474720"/>
            <a:ext cx="3291840" cy="365760"/>
          </a:xfrm>
          <a:prstGeom prst="rect">
            <a:avLst/>
          </a:prstGeom>
          <a:noFill/>
          <a:ln/>
        </p:spPr>
        <p:txBody>
          <a:bodyPr wrap="square" lIns="0" tIns="0" rIns="0" bIns="0" rtlCol="0" anchor="ctr"/>
          <a:lstStyle/>
          <a:p>
            <a:pPr indent="0" marL="0">
              <a:buNone/>
            </a:pPr>
            <a:r>
              <a:rPr lang="en-US" sz="1400" b="1" dirty="0">
                <a:solidFill>
                  <a:srgbClr val="0F172A"/>
                </a:solidFill>
                <a:latin typeface="Arial" pitchFamily="34" charset="0"/>
                <a:ea typeface="Arial" pitchFamily="34" charset="-122"/>
                <a:cs typeface="Arial" pitchFamily="34" charset="-120"/>
              </a:rPr>
              <a:t>Uses</a:t>
            </a:r>
            <a:endParaRPr lang="en-US" sz="1400" dirty="0"/>
          </a:p>
        </p:txBody>
      </p:sp>
      <p:sp>
        <p:nvSpPr>
          <p:cNvPr id="18" name="Shape 16"/>
          <p:cNvSpPr/>
          <p:nvPr/>
        </p:nvSpPr>
        <p:spPr>
          <a:xfrm>
            <a:off x="4114800" y="3200400"/>
            <a:ext cx="3840480" cy="914400"/>
          </a:xfrm>
          <a:prstGeom prst="roundRect">
            <a:avLst>
              <a:gd name="adj" fmla="val 12000"/>
            </a:avLst>
          </a:prstGeom>
          <a:solidFill>
            <a:srgbClr val="FFFFFF"/>
          </a:solidFill>
          <a:ln/>
        </p:spPr>
      </p:sp>
      <p:sp>
        <p:nvSpPr>
          <p:cNvPr id="19" name="Text 17"/>
          <p:cNvSpPr/>
          <p:nvPr/>
        </p:nvSpPr>
        <p:spPr>
          <a:xfrm>
            <a:off x="4297680" y="3474720"/>
            <a:ext cx="3474720" cy="365760"/>
          </a:xfrm>
          <a:prstGeom prst="rect">
            <a:avLst/>
          </a:prstGeom>
          <a:noFill/>
          <a:ln/>
        </p:spPr>
        <p:txBody>
          <a:bodyPr wrap="square" lIns="0" tIns="0" rIns="0" bIns="0" rtlCol="0" anchor="ctr"/>
          <a:lstStyle/>
          <a:p>
            <a:pPr indent="0" marL="0">
              <a:buNone/>
            </a:pPr>
            <a:r>
              <a:rPr lang="en-US" sz="1400" dirty="0">
                <a:solidFill>
                  <a:srgbClr val="1E293B"/>
                </a:solidFill>
                <a:latin typeface="Arial" pitchFamily="34" charset="0"/>
                <a:ea typeface="Arial" pitchFamily="34" charset="-122"/>
                <a:cs typeface="Arial" pitchFamily="34" charset="-120"/>
              </a:rPr>
              <a:t>Documents &amp; data</a:t>
            </a:r>
            <a:endParaRPr lang="en-US" sz="1400" dirty="0"/>
          </a:p>
        </p:txBody>
      </p:sp>
      <p:sp>
        <p:nvSpPr>
          <p:cNvPr id="20" name="Shape 18"/>
          <p:cNvSpPr/>
          <p:nvPr/>
        </p:nvSpPr>
        <p:spPr>
          <a:xfrm>
            <a:off x="7955280" y="3200400"/>
            <a:ext cx="3749040" cy="914400"/>
          </a:xfrm>
          <a:prstGeom prst="roundRect">
            <a:avLst>
              <a:gd name="adj" fmla="val 12000"/>
            </a:avLst>
          </a:prstGeom>
          <a:solidFill>
            <a:srgbClr val="FFFFFF"/>
          </a:solidFill>
          <a:ln/>
        </p:spPr>
      </p:sp>
      <p:sp>
        <p:nvSpPr>
          <p:cNvPr id="21" name="Text 19"/>
          <p:cNvSpPr/>
          <p:nvPr/>
        </p:nvSpPr>
        <p:spPr>
          <a:xfrm>
            <a:off x="8138160" y="3474720"/>
            <a:ext cx="3383280" cy="365760"/>
          </a:xfrm>
          <a:prstGeom prst="rect">
            <a:avLst/>
          </a:prstGeom>
          <a:noFill/>
          <a:ln/>
        </p:spPr>
        <p:txBody>
          <a:bodyPr wrap="square" lIns="0" tIns="0" rIns="0" bIns="0" rtlCol="0" anchor="ctr"/>
          <a:lstStyle/>
          <a:p>
            <a:pPr indent="0" marL="0">
              <a:buNone/>
            </a:pPr>
            <a:r>
              <a:rPr lang="en-US" sz="1400" dirty="0">
                <a:solidFill>
                  <a:srgbClr val="1E293B"/>
                </a:solidFill>
                <a:latin typeface="Arial" pitchFamily="34" charset="0"/>
                <a:ea typeface="Arial" pitchFamily="34" charset="-122"/>
                <a:cs typeface="Arial" pitchFamily="34" charset="-120"/>
              </a:rPr>
              <a:t>Actions &amp; systems</a:t>
            </a:r>
            <a:endParaRPr lang="en-US" sz="1400" dirty="0"/>
          </a:p>
        </p:txBody>
      </p:sp>
      <p:sp>
        <p:nvSpPr>
          <p:cNvPr id="22" name="Shape 20"/>
          <p:cNvSpPr/>
          <p:nvPr/>
        </p:nvSpPr>
        <p:spPr>
          <a:xfrm>
            <a:off x="457200" y="4206240"/>
            <a:ext cx="3657600" cy="914400"/>
          </a:xfrm>
          <a:prstGeom prst="roundRect">
            <a:avLst>
              <a:gd name="adj" fmla="val 12000"/>
            </a:avLst>
          </a:prstGeom>
          <a:solidFill>
            <a:srgbClr val="F1F5F9"/>
          </a:solidFill>
          <a:ln/>
        </p:spPr>
      </p:sp>
      <p:sp>
        <p:nvSpPr>
          <p:cNvPr id="23" name="Text 21"/>
          <p:cNvSpPr/>
          <p:nvPr/>
        </p:nvSpPr>
        <p:spPr>
          <a:xfrm>
            <a:off x="640080" y="4480560"/>
            <a:ext cx="3291840" cy="365760"/>
          </a:xfrm>
          <a:prstGeom prst="rect">
            <a:avLst/>
          </a:prstGeom>
          <a:noFill/>
          <a:ln/>
        </p:spPr>
        <p:txBody>
          <a:bodyPr wrap="square" lIns="0" tIns="0" rIns="0" bIns="0" rtlCol="0" anchor="ctr"/>
          <a:lstStyle/>
          <a:p>
            <a:pPr indent="0" marL="0">
              <a:buNone/>
            </a:pPr>
            <a:r>
              <a:rPr lang="en-US" sz="1400" b="1" dirty="0">
                <a:solidFill>
                  <a:srgbClr val="0F172A"/>
                </a:solidFill>
                <a:latin typeface="Arial" pitchFamily="34" charset="0"/>
                <a:ea typeface="Arial" pitchFamily="34" charset="-122"/>
                <a:cs typeface="Arial" pitchFamily="34" charset="-120"/>
              </a:rPr>
              <a:t>Think of it as</a:t>
            </a:r>
            <a:endParaRPr lang="en-US" sz="1400" dirty="0"/>
          </a:p>
        </p:txBody>
      </p:sp>
      <p:sp>
        <p:nvSpPr>
          <p:cNvPr id="24" name="Shape 22"/>
          <p:cNvSpPr/>
          <p:nvPr/>
        </p:nvSpPr>
        <p:spPr>
          <a:xfrm>
            <a:off x="4114800" y="4206240"/>
            <a:ext cx="3840480" cy="914400"/>
          </a:xfrm>
          <a:prstGeom prst="roundRect">
            <a:avLst>
              <a:gd name="adj" fmla="val 12000"/>
            </a:avLst>
          </a:prstGeom>
          <a:solidFill>
            <a:srgbClr val="F1F5F9"/>
          </a:solidFill>
          <a:ln/>
        </p:spPr>
      </p:sp>
      <p:sp>
        <p:nvSpPr>
          <p:cNvPr id="25" name="Text 23"/>
          <p:cNvSpPr/>
          <p:nvPr/>
        </p:nvSpPr>
        <p:spPr>
          <a:xfrm>
            <a:off x="4297680" y="4480560"/>
            <a:ext cx="3474720" cy="365760"/>
          </a:xfrm>
          <a:prstGeom prst="rect">
            <a:avLst/>
          </a:prstGeom>
          <a:noFill/>
          <a:ln/>
        </p:spPr>
        <p:txBody>
          <a:bodyPr wrap="square" lIns="0" tIns="0" rIns="0" bIns="0" rtlCol="0" anchor="ctr"/>
          <a:lstStyle/>
          <a:p>
            <a:pPr indent="0" marL="0">
              <a:buNone/>
            </a:pPr>
            <a:r>
              <a:rPr lang="en-US" sz="1400" dirty="0">
                <a:solidFill>
                  <a:srgbClr val="1E293B"/>
                </a:solidFill>
                <a:latin typeface="Arial" pitchFamily="34" charset="0"/>
                <a:ea typeface="Arial" pitchFamily="34" charset="-122"/>
                <a:cs typeface="Arial" pitchFamily="34" charset="-120"/>
              </a:rPr>
              <a:t>“Find the answer”</a:t>
            </a:r>
            <a:endParaRPr lang="en-US" sz="1400" dirty="0"/>
          </a:p>
        </p:txBody>
      </p:sp>
      <p:sp>
        <p:nvSpPr>
          <p:cNvPr id="26" name="Shape 24"/>
          <p:cNvSpPr/>
          <p:nvPr/>
        </p:nvSpPr>
        <p:spPr>
          <a:xfrm>
            <a:off x="7955280" y="4206240"/>
            <a:ext cx="3749040" cy="914400"/>
          </a:xfrm>
          <a:prstGeom prst="roundRect">
            <a:avLst>
              <a:gd name="adj" fmla="val 12000"/>
            </a:avLst>
          </a:prstGeom>
          <a:solidFill>
            <a:srgbClr val="F1F5F9"/>
          </a:solidFill>
          <a:ln/>
        </p:spPr>
      </p:sp>
      <p:sp>
        <p:nvSpPr>
          <p:cNvPr id="27" name="Text 25"/>
          <p:cNvSpPr/>
          <p:nvPr/>
        </p:nvSpPr>
        <p:spPr>
          <a:xfrm>
            <a:off x="8138160" y="4480560"/>
            <a:ext cx="3383280" cy="365760"/>
          </a:xfrm>
          <a:prstGeom prst="rect">
            <a:avLst/>
          </a:prstGeom>
          <a:noFill/>
          <a:ln/>
        </p:spPr>
        <p:txBody>
          <a:bodyPr wrap="square" lIns="0" tIns="0" rIns="0" bIns="0" rtlCol="0" anchor="ctr"/>
          <a:lstStyle/>
          <a:p>
            <a:pPr indent="0" marL="0">
              <a:buNone/>
            </a:pPr>
            <a:r>
              <a:rPr lang="en-US" sz="1400" dirty="0">
                <a:solidFill>
                  <a:srgbClr val="1E293B"/>
                </a:solidFill>
                <a:latin typeface="Arial" pitchFamily="34" charset="0"/>
                <a:ea typeface="Arial" pitchFamily="34" charset="-122"/>
                <a:cs typeface="Arial" pitchFamily="34" charset="-120"/>
              </a:rPr>
              <a:t>“Do the action”</a:t>
            </a:r>
            <a:endParaRPr lang="en-US" sz="1400" dirty="0"/>
          </a:p>
        </p:txBody>
      </p:sp>
      <p:sp>
        <p:nvSpPr>
          <p:cNvPr id="28" name="Shape 26"/>
          <p:cNvSpPr/>
          <p:nvPr/>
        </p:nvSpPr>
        <p:spPr>
          <a:xfrm>
            <a:off x="457200" y="5212080"/>
            <a:ext cx="3657600" cy="914400"/>
          </a:xfrm>
          <a:prstGeom prst="roundRect">
            <a:avLst>
              <a:gd name="adj" fmla="val 12000"/>
            </a:avLst>
          </a:prstGeom>
          <a:solidFill>
            <a:srgbClr val="FFFFFF"/>
          </a:solidFill>
          <a:ln/>
        </p:spPr>
      </p:sp>
      <p:sp>
        <p:nvSpPr>
          <p:cNvPr id="29" name="Text 27"/>
          <p:cNvSpPr/>
          <p:nvPr/>
        </p:nvSpPr>
        <p:spPr>
          <a:xfrm>
            <a:off x="640080" y="5486400"/>
            <a:ext cx="3291840" cy="365760"/>
          </a:xfrm>
          <a:prstGeom prst="rect">
            <a:avLst/>
          </a:prstGeom>
          <a:noFill/>
          <a:ln/>
        </p:spPr>
        <p:txBody>
          <a:bodyPr wrap="square" lIns="0" tIns="0" rIns="0" bIns="0" rtlCol="0" anchor="ctr"/>
          <a:lstStyle/>
          <a:p>
            <a:pPr indent="0" marL="0">
              <a:buNone/>
            </a:pPr>
            <a:r>
              <a:rPr lang="en-US" sz="1400" b="1" dirty="0">
                <a:solidFill>
                  <a:srgbClr val="0F172A"/>
                </a:solidFill>
                <a:latin typeface="Arial" pitchFamily="34" charset="0"/>
                <a:ea typeface="Arial" pitchFamily="34" charset="-122"/>
                <a:cs typeface="Arial" pitchFamily="34" charset="-120"/>
              </a:rPr>
              <a:t>Example</a:t>
            </a:r>
            <a:endParaRPr lang="en-US" sz="1400" dirty="0"/>
          </a:p>
        </p:txBody>
      </p:sp>
      <p:sp>
        <p:nvSpPr>
          <p:cNvPr id="30" name="Shape 28"/>
          <p:cNvSpPr/>
          <p:nvPr/>
        </p:nvSpPr>
        <p:spPr>
          <a:xfrm>
            <a:off x="4114800" y="5212080"/>
            <a:ext cx="3840480" cy="914400"/>
          </a:xfrm>
          <a:prstGeom prst="roundRect">
            <a:avLst>
              <a:gd name="adj" fmla="val 12000"/>
            </a:avLst>
          </a:prstGeom>
          <a:solidFill>
            <a:srgbClr val="FFFFFF"/>
          </a:solidFill>
          <a:ln/>
        </p:spPr>
      </p:sp>
      <p:sp>
        <p:nvSpPr>
          <p:cNvPr id="31" name="Text 29"/>
          <p:cNvSpPr/>
          <p:nvPr/>
        </p:nvSpPr>
        <p:spPr>
          <a:xfrm>
            <a:off x="4297680" y="5486400"/>
            <a:ext cx="3474720" cy="365760"/>
          </a:xfrm>
          <a:prstGeom prst="rect">
            <a:avLst/>
          </a:prstGeom>
          <a:noFill/>
          <a:ln/>
        </p:spPr>
        <p:txBody>
          <a:bodyPr wrap="square" lIns="0" tIns="0" rIns="0" bIns="0" rtlCol="0" anchor="ctr"/>
          <a:lstStyle/>
          <a:p>
            <a:pPr indent="0" marL="0">
              <a:buNone/>
            </a:pPr>
            <a:r>
              <a:rPr lang="en-US" sz="1400" dirty="0">
                <a:solidFill>
                  <a:srgbClr val="1E293B"/>
                </a:solidFill>
                <a:latin typeface="Arial" pitchFamily="34" charset="0"/>
                <a:ea typeface="Arial" pitchFamily="34" charset="-122"/>
                <a:cs typeface="Arial" pitchFamily="34" charset="-120"/>
              </a:rPr>
              <a:t>Search leave policy</a:t>
            </a:r>
            <a:endParaRPr lang="en-US" sz="1400" dirty="0"/>
          </a:p>
        </p:txBody>
      </p:sp>
      <p:sp>
        <p:nvSpPr>
          <p:cNvPr id="32" name="Shape 30"/>
          <p:cNvSpPr/>
          <p:nvPr/>
        </p:nvSpPr>
        <p:spPr>
          <a:xfrm>
            <a:off x="7955280" y="5212080"/>
            <a:ext cx="3749040" cy="914400"/>
          </a:xfrm>
          <a:prstGeom prst="roundRect">
            <a:avLst>
              <a:gd name="adj" fmla="val 12000"/>
            </a:avLst>
          </a:prstGeom>
          <a:solidFill>
            <a:srgbClr val="FFFFFF"/>
          </a:solidFill>
          <a:ln/>
        </p:spPr>
      </p:sp>
      <p:sp>
        <p:nvSpPr>
          <p:cNvPr id="33" name="Text 31"/>
          <p:cNvSpPr/>
          <p:nvPr/>
        </p:nvSpPr>
        <p:spPr>
          <a:xfrm>
            <a:off x="8138160" y="5486400"/>
            <a:ext cx="3383280" cy="365760"/>
          </a:xfrm>
          <a:prstGeom prst="rect">
            <a:avLst/>
          </a:prstGeom>
          <a:noFill/>
          <a:ln/>
        </p:spPr>
        <p:txBody>
          <a:bodyPr wrap="square" lIns="0" tIns="0" rIns="0" bIns="0" rtlCol="0" anchor="ctr"/>
          <a:lstStyle/>
          <a:p>
            <a:pPr indent="0" marL="0">
              <a:buNone/>
            </a:pPr>
            <a:r>
              <a:rPr lang="en-US" sz="1400" dirty="0">
                <a:solidFill>
                  <a:srgbClr val="1E293B"/>
                </a:solidFill>
                <a:latin typeface="Arial" pitchFamily="34" charset="0"/>
                <a:ea typeface="Arial" pitchFamily="34" charset="-122"/>
                <a:cs typeface="Arial" pitchFamily="34" charset="-120"/>
              </a:rPr>
              <a:t>Check leave balance</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indent="0" marL="0">
              <a:buNone/>
            </a:pPr>
            <a:r>
              <a:rPr lang="en-US" sz="2600" b="1" dirty="0">
                <a:solidFill>
                  <a:srgbClr val="0F172A"/>
                </a:solidFill>
                <a:latin typeface="Arial" pitchFamily="34" charset="0"/>
                <a:ea typeface="Arial" pitchFamily="34" charset="-122"/>
                <a:cs typeface="Arial" pitchFamily="34" charset="-120"/>
              </a:rPr>
              <a:t>25. Everything Together</a:t>
            </a:r>
            <a:endParaRPr lang="en-US" sz="2600" dirty="0"/>
          </a:p>
        </p:txBody>
      </p:sp>
      <p:sp>
        <p:nvSpPr>
          <p:cNvPr id="3" name="Shape 1"/>
          <p:cNvSpPr/>
          <p:nvPr/>
        </p:nvSpPr>
        <p:spPr>
          <a:xfrm>
            <a:off x="457200" y="868680"/>
            <a:ext cx="1463040" cy="64008"/>
          </a:xfrm>
          <a:prstGeom prst="rect">
            <a:avLst/>
          </a:prstGeom>
          <a:solidFill>
            <a:srgbClr val="2563EB"/>
          </a:solidFill>
          <a:ln/>
        </p:spPr>
      </p:sp>
      <p:sp>
        <p:nvSpPr>
          <p:cNvPr id="4" name="Shape 2"/>
          <p:cNvSpPr/>
          <p:nvPr/>
        </p:nvSpPr>
        <p:spPr>
          <a:xfrm>
            <a:off x="4572000" y="1188720"/>
            <a:ext cx="3017520" cy="731520"/>
          </a:xfrm>
          <a:prstGeom prst="roundRect">
            <a:avLst>
              <a:gd name="adj" fmla="val 15000"/>
            </a:avLst>
          </a:prstGeom>
          <a:solidFill>
            <a:srgbClr val="2563EB"/>
          </a:solidFill>
          <a:ln/>
        </p:spPr>
      </p:sp>
      <p:sp>
        <p:nvSpPr>
          <p:cNvPr id="5" name="Text 3"/>
          <p:cNvSpPr/>
          <p:nvPr/>
        </p:nvSpPr>
        <p:spPr>
          <a:xfrm>
            <a:off x="4572000" y="1371600"/>
            <a:ext cx="301752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YOU</a:t>
            </a:r>
            <a:endParaRPr lang="en-US" sz="1600" dirty="0"/>
          </a:p>
        </p:txBody>
      </p:sp>
      <p:sp>
        <p:nvSpPr>
          <p:cNvPr id="6" name="Text 4"/>
          <p:cNvSpPr/>
          <p:nvPr/>
        </p:nvSpPr>
        <p:spPr>
          <a:xfrm>
            <a:off x="4572000" y="1965960"/>
            <a:ext cx="3017520" cy="320040"/>
          </a:xfrm>
          <a:prstGeom prst="rect">
            <a:avLst/>
          </a:prstGeom>
          <a:noFill/>
          <a:ln/>
        </p:spPr>
        <p:txBody>
          <a:bodyPr wrap="square" lIns="0" tIns="0" rIns="0" bIns="0" rtlCol="0" anchor="ctr"/>
          <a:lstStyle/>
          <a:p>
            <a:pPr algn="ctr" indent="0" marL="0">
              <a:buNone/>
            </a:pPr>
            <a:r>
              <a:rPr lang="en-US" sz="1800" dirty="0">
                <a:solidFill>
                  <a:srgbClr val="64748B"/>
                </a:solidFill>
                <a:latin typeface="Arial" pitchFamily="34" charset="0"/>
                <a:ea typeface="Arial" pitchFamily="34" charset="-122"/>
                <a:cs typeface="Arial" pitchFamily="34" charset="-120"/>
              </a:rPr>
              <a:t>↓</a:t>
            </a:r>
            <a:endParaRPr lang="en-US" sz="1800" dirty="0"/>
          </a:p>
        </p:txBody>
      </p:sp>
      <p:sp>
        <p:nvSpPr>
          <p:cNvPr id="7" name="Shape 5"/>
          <p:cNvSpPr/>
          <p:nvPr/>
        </p:nvSpPr>
        <p:spPr>
          <a:xfrm>
            <a:off x="4572000" y="2286000"/>
            <a:ext cx="3017520" cy="731520"/>
          </a:xfrm>
          <a:prstGeom prst="roundRect">
            <a:avLst>
              <a:gd name="adj" fmla="val 15000"/>
            </a:avLst>
          </a:prstGeom>
          <a:solidFill>
            <a:srgbClr val="7C3AED"/>
          </a:solidFill>
          <a:ln/>
        </p:spPr>
      </p:sp>
      <p:sp>
        <p:nvSpPr>
          <p:cNvPr id="8" name="Text 6"/>
          <p:cNvSpPr/>
          <p:nvPr/>
        </p:nvSpPr>
        <p:spPr>
          <a:xfrm>
            <a:off x="4572000" y="2468880"/>
            <a:ext cx="301752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LLM (Brain)</a:t>
            </a:r>
            <a:endParaRPr lang="en-US" sz="1600" dirty="0"/>
          </a:p>
        </p:txBody>
      </p:sp>
      <p:sp>
        <p:nvSpPr>
          <p:cNvPr id="9" name="Text 7"/>
          <p:cNvSpPr/>
          <p:nvPr/>
        </p:nvSpPr>
        <p:spPr>
          <a:xfrm>
            <a:off x="1371600" y="3154680"/>
            <a:ext cx="9418320" cy="365760"/>
          </a:xfrm>
          <a:prstGeom prst="rect">
            <a:avLst/>
          </a:prstGeom>
          <a:noFill/>
          <a:ln/>
        </p:spPr>
        <p:txBody>
          <a:bodyPr wrap="square" lIns="0" tIns="0" rIns="0" bIns="0" rtlCol="0" anchor="ctr"/>
          <a:lstStyle/>
          <a:p>
            <a:pPr algn="ctr" indent="0" marL="0">
              <a:buNone/>
            </a:pPr>
            <a:r>
              <a:rPr lang="en-US" sz="1800" dirty="0">
                <a:solidFill>
                  <a:srgbClr val="64748B"/>
                </a:solidFill>
                <a:latin typeface="Arial" pitchFamily="34" charset="0"/>
                <a:ea typeface="Arial" pitchFamily="34" charset="-122"/>
                <a:cs typeface="Arial" pitchFamily="34" charset="-120"/>
              </a:rPr>
              <a:t>↙                                      ↘</a:t>
            </a:r>
            <a:endParaRPr lang="en-US" sz="1800" dirty="0"/>
          </a:p>
        </p:txBody>
      </p:sp>
      <p:sp>
        <p:nvSpPr>
          <p:cNvPr id="10" name="Shape 8"/>
          <p:cNvSpPr/>
          <p:nvPr/>
        </p:nvSpPr>
        <p:spPr>
          <a:xfrm>
            <a:off x="731520" y="3611880"/>
            <a:ext cx="4846320" cy="2560320"/>
          </a:xfrm>
          <a:prstGeom prst="roundRect">
            <a:avLst>
              <a:gd name="adj" fmla="val 4286"/>
            </a:avLst>
          </a:prstGeom>
          <a:solidFill>
            <a:srgbClr val="CCFBF1"/>
          </a:solidFill>
          <a:ln/>
        </p:spPr>
      </p:sp>
      <p:sp>
        <p:nvSpPr>
          <p:cNvPr id="11" name="Text 9"/>
          <p:cNvSpPr/>
          <p:nvPr/>
        </p:nvSpPr>
        <p:spPr>
          <a:xfrm>
            <a:off x="731520" y="3794760"/>
            <a:ext cx="4846320" cy="365760"/>
          </a:xfrm>
          <a:prstGeom prst="rect">
            <a:avLst/>
          </a:prstGeom>
          <a:noFill/>
          <a:ln/>
        </p:spPr>
        <p:txBody>
          <a:bodyPr wrap="square" lIns="0" tIns="0" rIns="0" bIns="0" rtlCol="0" anchor="ctr"/>
          <a:lstStyle/>
          <a:p>
            <a:pPr algn="ctr" indent="0" marL="0">
              <a:buNone/>
            </a:pPr>
            <a:r>
              <a:rPr lang="en-US" sz="1800" b="1" dirty="0">
                <a:solidFill>
                  <a:srgbClr val="0D9488"/>
                </a:solidFill>
                <a:latin typeface="Arial" pitchFamily="34" charset="0"/>
                <a:ea typeface="Arial" pitchFamily="34" charset="-122"/>
                <a:cs typeface="Arial" pitchFamily="34" charset="-120"/>
              </a:rPr>
              <a:t>RAG</a:t>
            </a:r>
            <a:endParaRPr lang="en-US" sz="1800" dirty="0"/>
          </a:p>
        </p:txBody>
      </p:sp>
      <p:sp>
        <p:nvSpPr>
          <p:cNvPr id="12" name="Text 10"/>
          <p:cNvSpPr/>
          <p:nvPr/>
        </p:nvSpPr>
        <p:spPr>
          <a:xfrm>
            <a:off x="1005840" y="4389120"/>
            <a:ext cx="4297680" cy="1280160"/>
          </a:xfrm>
          <a:prstGeom prst="rect">
            <a:avLst/>
          </a:prstGeom>
          <a:noFill/>
          <a:ln/>
        </p:spPr>
        <p:txBody>
          <a:bodyPr wrap="square" lIns="0" tIns="0" rIns="0" bIns="0" rtlCol="0" anchor="ctr"/>
          <a:lstStyle/>
          <a:p>
            <a:pPr algn="ctr" indent="0" marL="0">
              <a:buNone/>
            </a:pPr>
            <a:r>
              <a:rPr lang="en-US" sz="1500" dirty="0">
                <a:solidFill>
                  <a:srgbClr val="1E293B"/>
                </a:solidFill>
                <a:latin typeface="Arial" pitchFamily="34" charset="0"/>
                <a:ea typeface="Arial" pitchFamily="34" charset="-122"/>
                <a:cs typeface="Arial" pitchFamily="34" charset="-120"/>
              </a:rPr>
              <a:t>Finds the right</a:t>
            </a:r>
            <a:endParaRPr lang="en-US" sz="1500" dirty="0"/>
          </a:p>
          <a:p>
            <a:pPr algn="ctr" indent="0" marL="0">
              <a:buNone/>
            </a:pPr>
            <a:r>
              <a:rPr lang="en-US" sz="1500" dirty="0">
                <a:solidFill>
                  <a:srgbClr val="1E293B"/>
                </a:solidFill>
                <a:latin typeface="Arial" pitchFamily="34" charset="0"/>
                <a:ea typeface="Arial" pitchFamily="34" charset="-122"/>
                <a:cs typeface="Arial" pitchFamily="34" charset="-120"/>
              </a:rPr>
              <a:t>documents and knowledge</a:t>
            </a:r>
            <a:endParaRPr lang="en-US" sz="1500" dirty="0"/>
          </a:p>
        </p:txBody>
      </p:sp>
      <p:sp>
        <p:nvSpPr>
          <p:cNvPr id="13" name="Shape 11"/>
          <p:cNvSpPr/>
          <p:nvPr/>
        </p:nvSpPr>
        <p:spPr>
          <a:xfrm>
            <a:off x="6583680" y="3611880"/>
            <a:ext cx="4846320" cy="2560320"/>
          </a:xfrm>
          <a:prstGeom prst="roundRect">
            <a:avLst>
              <a:gd name="adj" fmla="val 4286"/>
            </a:avLst>
          </a:prstGeom>
          <a:solidFill>
            <a:srgbClr val="FFEDD5"/>
          </a:solidFill>
          <a:ln/>
        </p:spPr>
      </p:sp>
      <p:sp>
        <p:nvSpPr>
          <p:cNvPr id="14" name="Text 12"/>
          <p:cNvSpPr/>
          <p:nvPr/>
        </p:nvSpPr>
        <p:spPr>
          <a:xfrm>
            <a:off x="6583680" y="3794760"/>
            <a:ext cx="4846320" cy="365760"/>
          </a:xfrm>
          <a:prstGeom prst="rect">
            <a:avLst/>
          </a:prstGeom>
          <a:noFill/>
          <a:ln/>
        </p:spPr>
        <p:txBody>
          <a:bodyPr wrap="square" lIns="0" tIns="0" rIns="0" bIns="0" rtlCol="0" anchor="ctr"/>
          <a:lstStyle/>
          <a:p>
            <a:pPr algn="ctr" indent="0" marL="0">
              <a:buNone/>
            </a:pPr>
            <a:r>
              <a:rPr lang="en-US" sz="1800" b="1" dirty="0">
                <a:solidFill>
                  <a:srgbClr val="EA580C"/>
                </a:solidFill>
                <a:latin typeface="Arial" pitchFamily="34" charset="0"/>
                <a:ea typeface="Arial" pitchFamily="34" charset="-122"/>
                <a:cs typeface="Arial" pitchFamily="34" charset="-120"/>
              </a:rPr>
              <a:t>MCP</a:t>
            </a:r>
            <a:endParaRPr lang="en-US" sz="1800" dirty="0"/>
          </a:p>
        </p:txBody>
      </p:sp>
      <p:sp>
        <p:nvSpPr>
          <p:cNvPr id="15" name="Text 13"/>
          <p:cNvSpPr/>
          <p:nvPr/>
        </p:nvSpPr>
        <p:spPr>
          <a:xfrm>
            <a:off x="6858000" y="4389120"/>
            <a:ext cx="4297680" cy="1280160"/>
          </a:xfrm>
          <a:prstGeom prst="rect">
            <a:avLst/>
          </a:prstGeom>
          <a:noFill/>
          <a:ln/>
        </p:spPr>
        <p:txBody>
          <a:bodyPr wrap="square" lIns="0" tIns="0" rIns="0" bIns="0" rtlCol="0" anchor="ctr"/>
          <a:lstStyle/>
          <a:p>
            <a:pPr algn="ctr" indent="0" marL="0">
              <a:buNone/>
            </a:pPr>
            <a:r>
              <a:rPr lang="en-US" sz="1500" dirty="0">
                <a:solidFill>
                  <a:srgbClr val="1E293B"/>
                </a:solidFill>
                <a:latin typeface="Arial" pitchFamily="34" charset="0"/>
                <a:ea typeface="Arial" pitchFamily="34" charset="-122"/>
                <a:cs typeface="Arial" pitchFamily="34" charset="-120"/>
              </a:rPr>
              <a:t>Connects to tools</a:t>
            </a:r>
            <a:endParaRPr lang="en-US" sz="1500" dirty="0"/>
          </a:p>
          <a:p>
            <a:pPr algn="ctr" indent="0" marL="0">
              <a:buNone/>
            </a:pPr>
            <a:r>
              <a:rPr lang="en-US" sz="1500" dirty="0">
                <a:solidFill>
                  <a:srgbClr val="1E293B"/>
                </a:solidFill>
                <a:latin typeface="Arial" pitchFamily="34" charset="0"/>
                <a:ea typeface="Arial" pitchFamily="34" charset="-122"/>
                <a:cs typeface="Arial" pitchFamily="34" charset="-120"/>
              </a:rPr>
              <a:t>and real systems</a:t>
            </a:r>
            <a:endParaRPr lang="en-US" sz="15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indent="0" marL="0">
              <a:buNone/>
            </a:pPr>
            <a:r>
              <a:rPr lang="en-US" sz="2600" b="1" dirty="0">
                <a:solidFill>
                  <a:srgbClr val="0F172A"/>
                </a:solidFill>
                <a:latin typeface="Arial" pitchFamily="34" charset="0"/>
                <a:ea typeface="Arial" pitchFamily="34" charset="-122"/>
                <a:cs typeface="Arial" pitchFamily="34" charset="-120"/>
              </a:rPr>
              <a:t>Remember This One Sentence</a:t>
            </a:r>
            <a:endParaRPr lang="en-US" sz="2600" dirty="0"/>
          </a:p>
        </p:txBody>
      </p:sp>
      <p:sp>
        <p:nvSpPr>
          <p:cNvPr id="3" name="Shape 1"/>
          <p:cNvSpPr/>
          <p:nvPr/>
        </p:nvSpPr>
        <p:spPr>
          <a:xfrm>
            <a:off x="457200" y="868680"/>
            <a:ext cx="1463040" cy="64008"/>
          </a:xfrm>
          <a:prstGeom prst="rect">
            <a:avLst/>
          </a:prstGeom>
          <a:solidFill>
            <a:srgbClr val="2563EB"/>
          </a:solidFill>
          <a:ln/>
        </p:spPr>
      </p:sp>
      <p:sp>
        <p:nvSpPr>
          <p:cNvPr id="4" name="Shape 2"/>
          <p:cNvSpPr/>
          <p:nvPr/>
        </p:nvSpPr>
        <p:spPr>
          <a:xfrm>
            <a:off x="914400" y="2103120"/>
            <a:ext cx="10332720" cy="2926080"/>
          </a:xfrm>
          <a:prstGeom prst="roundRect">
            <a:avLst>
              <a:gd name="adj" fmla="val 3750"/>
            </a:avLst>
          </a:prstGeom>
          <a:solidFill>
            <a:srgbClr val="DBEAFE"/>
          </a:solidFill>
          <a:ln/>
        </p:spPr>
      </p:sp>
      <p:sp>
        <p:nvSpPr>
          <p:cNvPr id="5" name="Text 3"/>
          <p:cNvSpPr/>
          <p:nvPr/>
        </p:nvSpPr>
        <p:spPr>
          <a:xfrm>
            <a:off x="1371600" y="2743200"/>
            <a:ext cx="9418320" cy="1645920"/>
          </a:xfrm>
          <a:prstGeom prst="rect">
            <a:avLst/>
          </a:prstGeom>
          <a:noFill/>
          <a:ln/>
        </p:spPr>
        <p:txBody>
          <a:bodyPr wrap="square" lIns="0" tIns="0" rIns="0" bIns="0" rtlCol="0" anchor="ctr"/>
          <a:lstStyle/>
          <a:p>
            <a:pPr algn="ctr" indent="0" marL="0">
              <a:buNone/>
            </a:pPr>
            <a:r>
              <a:rPr lang="en-US" sz="2800" dirty="0">
                <a:solidFill>
                  <a:srgbClr val="0F172A"/>
                </a:solidFill>
                <a:latin typeface="Arial" pitchFamily="34" charset="0"/>
                <a:ea typeface="Arial" pitchFamily="34" charset="-122"/>
                <a:cs typeface="Arial" pitchFamily="34" charset="-120"/>
              </a:rPr>
              <a:t>LLM is the brain.</a:t>
            </a:r>
            <a:endParaRPr lang="en-US" sz="2800" dirty="0"/>
          </a:p>
          <a:p>
            <a:pPr algn="ctr" indent="0" marL="0">
              <a:buNone/>
            </a:pPr>
            <a:r>
              <a:rPr lang="en-US" sz="2800" dirty="0">
                <a:solidFill>
                  <a:srgbClr val="0F172A"/>
                </a:solidFill>
                <a:latin typeface="Arial" pitchFamily="34" charset="0"/>
                <a:ea typeface="Arial" pitchFamily="34" charset="-122"/>
                <a:cs typeface="Arial" pitchFamily="34" charset="-120"/>
              </a:rPr>
              <a:t>RAG gives it knowledge.</a:t>
            </a:r>
            <a:endParaRPr lang="en-US" sz="2800" dirty="0"/>
          </a:p>
          <a:p>
            <a:pPr algn="ctr" indent="0" marL="0">
              <a:buNone/>
            </a:pPr>
            <a:r>
              <a:rPr lang="en-US" sz="2800" dirty="0">
                <a:solidFill>
                  <a:srgbClr val="0F172A"/>
                </a:solidFill>
                <a:latin typeface="Arial" pitchFamily="34" charset="0"/>
                <a:ea typeface="Arial" pitchFamily="34" charset="-122"/>
                <a:cs typeface="Arial" pitchFamily="34" charset="-120"/>
              </a:rPr>
              <a:t>MCP gives it hands.</a:t>
            </a:r>
            <a:endParaRPr lang="en-US" sz="2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indent="0" marL="0">
              <a:buNone/>
            </a:pPr>
            <a:r>
              <a:rPr lang="en-US" sz="2600" b="1" dirty="0">
                <a:solidFill>
                  <a:srgbClr val="0F172A"/>
                </a:solidFill>
                <a:latin typeface="Arial" pitchFamily="34" charset="0"/>
                <a:ea typeface="Arial" pitchFamily="34" charset="-122"/>
                <a:cs typeface="Arial" pitchFamily="34" charset="-120"/>
              </a:rPr>
              <a:t>26. Real Example: HR Assistant</a:t>
            </a:r>
            <a:endParaRPr lang="en-US" sz="2600" dirty="0"/>
          </a:p>
        </p:txBody>
      </p:sp>
      <p:sp>
        <p:nvSpPr>
          <p:cNvPr id="3" name="Shape 1"/>
          <p:cNvSpPr/>
          <p:nvPr/>
        </p:nvSpPr>
        <p:spPr>
          <a:xfrm>
            <a:off x="457200" y="868680"/>
            <a:ext cx="1463040" cy="64008"/>
          </a:xfrm>
          <a:prstGeom prst="rect">
            <a:avLst/>
          </a:prstGeom>
          <a:solidFill>
            <a:srgbClr val="2563EB"/>
          </a:solidFill>
          <a:ln/>
        </p:spPr>
      </p:sp>
      <p:sp>
        <p:nvSpPr>
          <p:cNvPr id="4" name="Shape 2"/>
          <p:cNvSpPr/>
          <p:nvPr/>
        </p:nvSpPr>
        <p:spPr>
          <a:xfrm>
            <a:off x="457200" y="1188720"/>
            <a:ext cx="11247120" cy="1097280"/>
          </a:xfrm>
          <a:prstGeom prst="roundRect">
            <a:avLst>
              <a:gd name="adj" fmla="val 10000"/>
            </a:avLst>
          </a:prstGeom>
          <a:solidFill>
            <a:srgbClr val="F1F5F9"/>
          </a:solidFill>
          <a:ln/>
        </p:spPr>
      </p:sp>
      <p:sp>
        <p:nvSpPr>
          <p:cNvPr id="5" name="Text 3"/>
          <p:cNvSpPr/>
          <p:nvPr/>
        </p:nvSpPr>
        <p:spPr>
          <a:xfrm>
            <a:off x="822960" y="1463040"/>
            <a:ext cx="10515600" cy="548640"/>
          </a:xfrm>
          <a:prstGeom prst="rect">
            <a:avLst/>
          </a:prstGeom>
          <a:noFill/>
          <a:ln/>
        </p:spPr>
        <p:txBody>
          <a:bodyPr wrap="square" lIns="0" tIns="0" rIns="0" bIns="0" rtlCol="0" anchor="ctr"/>
          <a:lstStyle/>
          <a:p>
            <a:pPr indent="0" marL="0">
              <a:buNone/>
            </a:pPr>
            <a:r>
              <a:rPr lang="en-US" sz="1600" dirty="0">
                <a:solidFill>
                  <a:srgbClr val="0F172A"/>
                </a:solidFill>
                <a:latin typeface="Arial" pitchFamily="34" charset="0"/>
                <a:ea typeface="Arial" pitchFamily="34" charset="-122"/>
                <a:cs typeface="Arial" pitchFamily="34" charset="-120"/>
              </a:rPr>
              <a:t>You ask: “How many casual leaves do I have left, and can I apply for tomorrow?”</a:t>
            </a:r>
            <a:endParaRPr lang="en-US" sz="1600" dirty="0"/>
          </a:p>
        </p:txBody>
      </p:sp>
      <p:sp>
        <p:nvSpPr>
          <p:cNvPr id="6" name="Shape 4"/>
          <p:cNvSpPr/>
          <p:nvPr/>
        </p:nvSpPr>
        <p:spPr>
          <a:xfrm>
            <a:off x="457200" y="2560320"/>
            <a:ext cx="5486400" cy="3657600"/>
          </a:xfrm>
          <a:prstGeom prst="roundRect">
            <a:avLst>
              <a:gd name="adj" fmla="val 3000"/>
            </a:avLst>
          </a:prstGeom>
          <a:solidFill>
            <a:srgbClr val="CCFBF1"/>
          </a:solidFill>
          <a:ln/>
        </p:spPr>
      </p:sp>
      <p:sp>
        <p:nvSpPr>
          <p:cNvPr id="7" name="Text 5"/>
          <p:cNvSpPr/>
          <p:nvPr/>
        </p:nvSpPr>
        <p:spPr>
          <a:xfrm>
            <a:off x="731520" y="2788920"/>
            <a:ext cx="4937760" cy="365760"/>
          </a:xfrm>
          <a:prstGeom prst="rect">
            <a:avLst/>
          </a:prstGeom>
          <a:noFill/>
          <a:ln/>
        </p:spPr>
        <p:txBody>
          <a:bodyPr wrap="square" lIns="0" tIns="0" rIns="0" bIns="0" rtlCol="0" anchor="ctr"/>
          <a:lstStyle/>
          <a:p>
            <a:pPr indent="0" marL="0">
              <a:buNone/>
            </a:pPr>
            <a:r>
              <a:rPr lang="en-US" sz="1800" b="1" dirty="0">
                <a:solidFill>
                  <a:srgbClr val="0D9488"/>
                </a:solidFill>
                <a:latin typeface="Arial" pitchFamily="34" charset="0"/>
                <a:ea typeface="Arial" pitchFamily="34" charset="-122"/>
                <a:cs typeface="Arial" pitchFamily="34" charset="-120"/>
              </a:rPr>
              <a:t>RAG part</a:t>
            </a:r>
            <a:endParaRPr lang="en-US" sz="1800" dirty="0"/>
          </a:p>
        </p:txBody>
      </p:sp>
      <p:sp>
        <p:nvSpPr>
          <p:cNvPr id="8" name="Text 6"/>
          <p:cNvSpPr/>
          <p:nvPr/>
        </p:nvSpPr>
        <p:spPr>
          <a:xfrm>
            <a:off x="731520" y="3291840"/>
            <a:ext cx="4937760" cy="2560320"/>
          </a:xfrm>
          <a:prstGeom prst="rect">
            <a:avLst/>
          </a:prstGeom>
          <a:noFill/>
          <a:ln/>
        </p:spPr>
        <p:txBody>
          <a:bodyPr wrap="square" lIns="0" tIns="0" rIns="0" bIns="0" rtlCol="0" anchor="ctr"/>
          <a:lstStyle/>
          <a:p>
            <a:pPr indent="0" marL="0">
              <a:buNone/>
            </a:pPr>
            <a:r>
              <a:rPr lang="en-US" sz="1500" dirty="0">
                <a:solidFill>
                  <a:srgbClr val="1E293B"/>
                </a:solidFill>
                <a:latin typeface="Arial" pitchFamily="34" charset="0"/>
                <a:ea typeface="Arial" pitchFamily="34" charset="-122"/>
                <a:cs typeface="Arial" pitchFamily="34" charset="-120"/>
              </a:rPr>
              <a:t>Searches company HR documents.</a:t>
            </a:r>
            <a:endParaRPr lang="en-US" sz="1500" dirty="0"/>
          </a:p>
          <a:p>
            <a:pPr indent="0" marL="0">
              <a:buNone/>
            </a:pPr>
            <a:r>
              <a:rPr lang="en-US" sz="1500" dirty="0">
                <a:solidFill>
                  <a:srgbClr val="1E293B"/>
                </a:solidFill>
                <a:latin typeface="Arial" pitchFamily="34" charset="0"/>
                <a:ea typeface="Arial" pitchFamily="34" charset="-122"/>
                <a:cs typeface="Arial" pitchFamily="34" charset="-120"/>
              </a:rPr>
              <a:t>Finds the leave policy.</a:t>
            </a:r>
            <a:endParaRPr lang="en-US" sz="1500" dirty="0"/>
          </a:p>
          <a:p>
            <a:pPr indent="0" marL="0">
              <a:buNone/>
            </a:pPr>
            <a:endParaRPr lang="en-US" sz="1500" dirty="0"/>
          </a:p>
          <a:p>
            <a:pPr indent="0" marL="0">
              <a:buNone/>
            </a:pPr>
            <a:r>
              <a:rPr lang="en-US" sz="1500" dirty="0">
                <a:solidFill>
                  <a:srgbClr val="1E293B"/>
                </a:solidFill>
                <a:latin typeface="Arial" pitchFamily="34" charset="0"/>
                <a:ea typeface="Arial" pitchFamily="34" charset="-122"/>
                <a:cs typeface="Arial" pitchFamily="34" charset="-120"/>
              </a:rPr>
              <a:t>Tells the AI:</a:t>
            </a:r>
            <a:endParaRPr lang="en-US" sz="1500" dirty="0"/>
          </a:p>
          <a:p>
            <a:pPr indent="0" marL="0">
              <a:buNone/>
            </a:pPr>
            <a:r>
              <a:rPr lang="en-US" sz="1500" dirty="0">
                <a:solidFill>
                  <a:srgbClr val="1E293B"/>
                </a:solidFill>
                <a:latin typeface="Arial" pitchFamily="34" charset="0"/>
                <a:ea typeface="Arial" pitchFamily="34" charset="-122"/>
                <a:cs typeface="Arial" pitchFamily="34" charset="-120"/>
              </a:rPr>
              <a:t>“Employees get X casual leaves...”</a:t>
            </a:r>
            <a:endParaRPr lang="en-US" sz="1500" dirty="0"/>
          </a:p>
        </p:txBody>
      </p:sp>
      <p:sp>
        <p:nvSpPr>
          <p:cNvPr id="9" name="Shape 7"/>
          <p:cNvSpPr/>
          <p:nvPr/>
        </p:nvSpPr>
        <p:spPr>
          <a:xfrm>
            <a:off x="6217920" y="2560320"/>
            <a:ext cx="5486400" cy="3657600"/>
          </a:xfrm>
          <a:prstGeom prst="roundRect">
            <a:avLst>
              <a:gd name="adj" fmla="val 3000"/>
            </a:avLst>
          </a:prstGeom>
          <a:solidFill>
            <a:srgbClr val="FFEDD5"/>
          </a:solidFill>
          <a:ln/>
        </p:spPr>
      </p:sp>
      <p:sp>
        <p:nvSpPr>
          <p:cNvPr id="10" name="Text 8"/>
          <p:cNvSpPr/>
          <p:nvPr/>
        </p:nvSpPr>
        <p:spPr>
          <a:xfrm>
            <a:off x="6492240" y="2788920"/>
            <a:ext cx="4937760" cy="365760"/>
          </a:xfrm>
          <a:prstGeom prst="rect">
            <a:avLst/>
          </a:prstGeom>
          <a:noFill/>
          <a:ln/>
        </p:spPr>
        <p:txBody>
          <a:bodyPr wrap="square" lIns="0" tIns="0" rIns="0" bIns="0" rtlCol="0" anchor="ctr"/>
          <a:lstStyle/>
          <a:p>
            <a:pPr indent="0" marL="0">
              <a:buNone/>
            </a:pPr>
            <a:r>
              <a:rPr lang="en-US" sz="1800" b="1" dirty="0">
                <a:solidFill>
                  <a:srgbClr val="EA580C"/>
                </a:solidFill>
                <a:latin typeface="Arial" pitchFamily="34" charset="0"/>
                <a:ea typeface="Arial" pitchFamily="34" charset="-122"/>
                <a:cs typeface="Arial" pitchFamily="34" charset="-120"/>
              </a:rPr>
              <a:t>MCP part</a:t>
            </a:r>
            <a:endParaRPr lang="en-US" sz="1800" dirty="0"/>
          </a:p>
        </p:txBody>
      </p:sp>
      <p:sp>
        <p:nvSpPr>
          <p:cNvPr id="11" name="Text 9"/>
          <p:cNvSpPr/>
          <p:nvPr/>
        </p:nvSpPr>
        <p:spPr>
          <a:xfrm>
            <a:off x="6492240" y="3291840"/>
            <a:ext cx="4937760" cy="2560320"/>
          </a:xfrm>
          <a:prstGeom prst="rect">
            <a:avLst/>
          </a:prstGeom>
          <a:noFill/>
          <a:ln/>
        </p:spPr>
        <p:txBody>
          <a:bodyPr wrap="square" lIns="0" tIns="0" rIns="0" bIns="0" rtlCol="0" anchor="ctr"/>
          <a:lstStyle/>
          <a:p>
            <a:pPr indent="0" marL="0">
              <a:buNone/>
            </a:pPr>
            <a:r>
              <a:rPr lang="en-US" sz="1500" dirty="0">
                <a:solidFill>
                  <a:srgbClr val="1E293B"/>
                </a:solidFill>
                <a:latin typeface="Arial" pitchFamily="34" charset="0"/>
                <a:ea typeface="Arial" pitchFamily="34" charset="-122"/>
                <a:cs typeface="Arial" pitchFamily="34" charset="-120"/>
              </a:rPr>
              <a:t>Calls the HR system tool.</a:t>
            </a:r>
            <a:endParaRPr lang="en-US" sz="1500" dirty="0"/>
          </a:p>
          <a:p>
            <a:pPr indent="0" marL="0">
              <a:buNone/>
            </a:pPr>
            <a:r>
              <a:rPr lang="en-US" sz="1500" dirty="0">
                <a:solidFill>
                  <a:srgbClr val="1E293B"/>
                </a:solidFill>
                <a:latin typeface="Arial" pitchFamily="34" charset="0"/>
                <a:ea typeface="Arial" pitchFamily="34" charset="-122"/>
                <a:cs typeface="Arial" pitchFamily="34" charset="-120"/>
              </a:rPr>
              <a:t>Gets your real leave balance.</a:t>
            </a:r>
            <a:endParaRPr lang="en-US" sz="1500" dirty="0"/>
          </a:p>
          <a:p>
            <a:pPr indent="0" marL="0">
              <a:buNone/>
            </a:pPr>
            <a:endParaRPr lang="en-US" sz="1500" dirty="0"/>
          </a:p>
          <a:p>
            <a:pPr indent="0" marL="0">
              <a:buNone/>
            </a:pPr>
            <a:r>
              <a:rPr lang="en-US" sz="1500" dirty="0">
                <a:solidFill>
                  <a:srgbClr val="1E293B"/>
                </a:solidFill>
                <a:latin typeface="Arial" pitchFamily="34" charset="0"/>
                <a:ea typeface="Arial" pitchFamily="34" charset="-122"/>
                <a:cs typeface="Arial" pitchFamily="34" charset="-120"/>
              </a:rPr>
              <a:t>Tells the AI:</a:t>
            </a:r>
            <a:endParaRPr lang="en-US" sz="1500" dirty="0"/>
          </a:p>
          <a:p>
            <a:pPr indent="0" marL="0">
              <a:buNone/>
            </a:pPr>
            <a:r>
              <a:rPr lang="en-US" sz="1500" dirty="0">
                <a:solidFill>
                  <a:srgbClr val="1E293B"/>
                </a:solidFill>
                <a:latin typeface="Arial" pitchFamily="34" charset="0"/>
                <a:ea typeface="Arial" pitchFamily="34" charset="-122"/>
                <a:cs typeface="Arial" pitchFamily="34" charset="-120"/>
              </a:rPr>
              <a:t>“You have 4 leaves left.”</a:t>
            </a:r>
            <a:endParaRPr lang="en-US" sz="15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indent="0" marL="0">
              <a:buNone/>
            </a:pPr>
            <a:r>
              <a:rPr lang="en-US" sz="2600" b="1" dirty="0">
                <a:solidFill>
                  <a:srgbClr val="0F172A"/>
                </a:solidFill>
                <a:latin typeface="Arial" pitchFamily="34" charset="0"/>
                <a:ea typeface="Arial" pitchFamily="34" charset="-122"/>
                <a:cs typeface="Arial" pitchFamily="34" charset="-120"/>
              </a:rPr>
              <a:t>The Final Combined Answer</a:t>
            </a:r>
            <a:endParaRPr lang="en-US" sz="2600" dirty="0"/>
          </a:p>
        </p:txBody>
      </p:sp>
      <p:sp>
        <p:nvSpPr>
          <p:cNvPr id="3" name="Shape 1"/>
          <p:cNvSpPr/>
          <p:nvPr/>
        </p:nvSpPr>
        <p:spPr>
          <a:xfrm>
            <a:off x="457200" y="868680"/>
            <a:ext cx="1463040" cy="64008"/>
          </a:xfrm>
          <a:prstGeom prst="rect">
            <a:avLst/>
          </a:prstGeom>
          <a:solidFill>
            <a:srgbClr val="2563EB"/>
          </a:solidFill>
          <a:ln/>
        </p:spPr>
      </p:sp>
      <p:sp>
        <p:nvSpPr>
          <p:cNvPr id="4" name="Text 2"/>
          <p:cNvSpPr/>
          <p:nvPr/>
        </p:nvSpPr>
        <p:spPr>
          <a:xfrm>
            <a:off x="457200" y="1188720"/>
            <a:ext cx="10972800" cy="365760"/>
          </a:xfrm>
          <a:prstGeom prst="rect">
            <a:avLst/>
          </a:prstGeom>
          <a:noFill/>
          <a:ln/>
        </p:spPr>
        <p:txBody>
          <a:bodyPr wrap="square" lIns="0" tIns="0" rIns="0" bIns="0" rtlCol="0" anchor="ctr"/>
          <a:lstStyle/>
          <a:p>
            <a:pPr indent="0" marL="0">
              <a:buNone/>
            </a:pPr>
            <a:r>
              <a:rPr lang="en-US" sz="1500" dirty="0">
                <a:solidFill>
                  <a:srgbClr val="64748B"/>
                </a:solidFill>
                <a:latin typeface="Arial" pitchFamily="34" charset="0"/>
                <a:ea typeface="Arial" pitchFamily="34" charset="-122"/>
                <a:cs typeface="Arial" pitchFamily="34" charset="-120"/>
              </a:rPr>
              <a:t>The AI receives both pieces of information and replies naturally:</a:t>
            </a:r>
            <a:endParaRPr lang="en-US" sz="1500" dirty="0"/>
          </a:p>
        </p:txBody>
      </p:sp>
      <p:sp>
        <p:nvSpPr>
          <p:cNvPr id="5" name="Shape 3"/>
          <p:cNvSpPr/>
          <p:nvPr/>
        </p:nvSpPr>
        <p:spPr>
          <a:xfrm>
            <a:off x="1097280" y="1828800"/>
            <a:ext cx="9966960" cy="3200400"/>
          </a:xfrm>
          <a:prstGeom prst="roundRect">
            <a:avLst>
              <a:gd name="adj" fmla="val 3429"/>
            </a:avLst>
          </a:prstGeom>
          <a:solidFill>
            <a:srgbClr val="D1FAE5"/>
          </a:solidFill>
          <a:ln/>
        </p:spPr>
      </p:sp>
      <p:sp>
        <p:nvSpPr>
          <p:cNvPr id="6" name="Text 4"/>
          <p:cNvSpPr/>
          <p:nvPr/>
        </p:nvSpPr>
        <p:spPr>
          <a:xfrm>
            <a:off x="1554480" y="2377440"/>
            <a:ext cx="9052560" cy="2194560"/>
          </a:xfrm>
          <a:prstGeom prst="rect">
            <a:avLst/>
          </a:prstGeom>
          <a:noFill/>
          <a:ln/>
        </p:spPr>
        <p:txBody>
          <a:bodyPr wrap="square" lIns="0" tIns="0" rIns="0" bIns="0" rtlCol="0" anchor="ctr"/>
          <a:lstStyle/>
          <a:p>
            <a:pPr indent="0" marL="0">
              <a:buNone/>
            </a:pPr>
            <a:r>
              <a:rPr lang="en-US" sz="1800" dirty="0">
                <a:solidFill>
                  <a:srgbClr val="0F172A"/>
                </a:solidFill>
                <a:latin typeface="Arial" pitchFamily="34" charset="0"/>
                <a:ea typeface="Arial" pitchFamily="34" charset="-122"/>
                <a:cs typeface="Arial" pitchFamily="34" charset="-120"/>
              </a:rPr>
              <a:t>“You currently have 4 casual leave days remaining. According to the company policy, you can apply for leave with one day notice. Yes, you can apply for tomorrow. Would you like me to help you submit the request?”</a:t>
            </a:r>
            <a:endParaRPr lang="en-US" sz="1800" dirty="0"/>
          </a:p>
        </p:txBody>
      </p:sp>
      <p:sp>
        <p:nvSpPr>
          <p:cNvPr id="7" name="Text 5"/>
          <p:cNvSpPr/>
          <p:nvPr/>
        </p:nvSpPr>
        <p:spPr>
          <a:xfrm>
            <a:off x="457200" y="5394960"/>
            <a:ext cx="11247120" cy="457200"/>
          </a:xfrm>
          <a:prstGeom prst="rect">
            <a:avLst/>
          </a:prstGeom>
          <a:noFill/>
          <a:ln/>
        </p:spPr>
        <p:txBody>
          <a:bodyPr wrap="square" lIns="0" tIns="0" rIns="0" bIns="0" rtlCol="0" anchor="ctr"/>
          <a:lstStyle/>
          <a:p>
            <a:pPr algn="ctr" indent="0" marL="0">
              <a:buNone/>
            </a:pPr>
            <a:r>
              <a:rPr lang="en-US" sz="1600" b="1" dirty="0">
                <a:solidFill>
                  <a:srgbClr val="0F172A"/>
                </a:solidFill>
                <a:latin typeface="Arial" pitchFamily="34" charset="0"/>
                <a:ea typeface="Arial" pitchFamily="34" charset="-122"/>
                <a:cs typeface="Arial" pitchFamily="34" charset="-120"/>
              </a:rPr>
              <a:t>This is the power of LLM + RAG + MCP together.</a:t>
            </a:r>
            <a:endParaRPr lang="en-US" sz="16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indent="0" marL="0">
              <a:buNone/>
            </a:pPr>
            <a:r>
              <a:rPr lang="en-US" sz="2600" b="1" dirty="0">
                <a:solidFill>
                  <a:srgbClr val="0F172A"/>
                </a:solidFill>
                <a:latin typeface="Arial" pitchFamily="34" charset="0"/>
                <a:ea typeface="Arial" pitchFamily="34" charset="-122"/>
                <a:cs typeface="Arial" pitchFamily="34" charset="-120"/>
              </a:rPr>
              <a:t>The Full Story One More Time</a:t>
            </a:r>
            <a:endParaRPr lang="en-US" sz="2600" dirty="0"/>
          </a:p>
        </p:txBody>
      </p:sp>
      <p:sp>
        <p:nvSpPr>
          <p:cNvPr id="3" name="Shape 1"/>
          <p:cNvSpPr/>
          <p:nvPr/>
        </p:nvSpPr>
        <p:spPr>
          <a:xfrm>
            <a:off x="457200" y="868680"/>
            <a:ext cx="1463040" cy="64008"/>
          </a:xfrm>
          <a:prstGeom prst="rect">
            <a:avLst/>
          </a:prstGeom>
          <a:solidFill>
            <a:srgbClr val="2563EB"/>
          </a:solidFill>
          <a:ln/>
        </p:spPr>
      </p:sp>
      <p:sp>
        <p:nvSpPr>
          <p:cNvPr id="4" name="Shape 2"/>
          <p:cNvSpPr/>
          <p:nvPr/>
        </p:nvSpPr>
        <p:spPr>
          <a:xfrm>
            <a:off x="457200" y="1280160"/>
            <a:ext cx="2560320" cy="1097280"/>
          </a:xfrm>
          <a:prstGeom prst="roundRect">
            <a:avLst>
              <a:gd name="adj" fmla="val 10000"/>
            </a:avLst>
          </a:prstGeom>
          <a:solidFill>
            <a:srgbClr val="2563EB"/>
          </a:solidFill>
          <a:ln/>
        </p:spPr>
      </p:sp>
      <p:sp>
        <p:nvSpPr>
          <p:cNvPr id="5" name="Text 3"/>
          <p:cNvSpPr/>
          <p:nvPr/>
        </p:nvSpPr>
        <p:spPr>
          <a:xfrm>
            <a:off x="457200" y="1600200"/>
            <a:ext cx="256032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LLM</a:t>
            </a:r>
            <a:endParaRPr lang="en-US" sz="1800" dirty="0"/>
          </a:p>
        </p:txBody>
      </p:sp>
      <p:sp>
        <p:nvSpPr>
          <p:cNvPr id="6" name="Shape 4"/>
          <p:cNvSpPr/>
          <p:nvPr/>
        </p:nvSpPr>
        <p:spPr>
          <a:xfrm>
            <a:off x="3200400" y="1280160"/>
            <a:ext cx="8503920" cy="1097280"/>
          </a:xfrm>
          <a:prstGeom prst="roundRect">
            <a:avLst>
              <a:gd name="adj" fmla="val 10000"/>
            </a:avLst>
          </a:prstGeom>
          <a:solidFill>
            <a:srgbClr val="F1F5F9"/>
          </a:solidFill>
          <a:ln/>
        </p:spPr>
      </p:sp>
      <p:sp>
        <p:nvSpPr>
          <p:cNvPr id="7" name="Text 5"/>
          <p:cNvSpPr/>
          <p:nvPr/>
        </p:nvSpPr>
        <p:spPr>
          <a:xfrm>
            <a:off x="3474720" y="1600200"/>
            <a:ext cx="7955280" cy="457200"/>
          </a:xfrm>
          <a:prstGeom prst="rect">
            <a:avLst/>
          </a:prstGeom>
          <a:noFill/>
          <a:ln/>
        </p:spPr>
        <p:txBody>
          <a:bodyPr wrap="square" lIns="0" tIns="0" rIns="0" bIns="0" rtlCol="0" anchor="ctr"/>
          <a:lstStyle/>
          <a:p>
            <a:pPr indent="0" marL="0">
              <a:buNone/>
            </a:pPr>
            <a:r>
              <a:rPr lang="en-US" sz="1500" dirty="0">
                <a:solidFill>
                  <a:srgbClr val="1E293B"/>
                </a:solidFill>
                <a:latin typeface="Arial" pitchFamily="34" charset="0"/>
                <a:ea typeface="Arial" pitchFamily="34" charset="-122"/>
                <a:cs typeface="Arial" pitchFamily="34" charset="-120"/>
              </a:rPr>
              <a:t>“I can write text, but I don’t know your private data and I cannot take actions.”</a:t>
            </a:r>
            <a:endParaRPr lang="en-US" sz="1500" dirty="0"/>
          </a:p>
        </p:txBody>
      </p:sp>
      <p:sp>
        <p:nvSpPr>
          <p:cNvPr id="8" name="Shape 6"/>
          <p:cNvSpPr/>
          <p:nvPr/>
        </p:nvSpPr>
        <p:spPr>
          <a:xfrm>
            <a:off x="457200" y="2560320"/>
            <a:ext cx="2560320" cy="1097280"/>
          </a:xfrm>
          <a:prstGeom prst="roundRect">
            <a:avLst>
              <a:gd name="adj" fmla="val 10000"/>
            </a:avLst>
          </a:prstGeom>
          <a:solidFill>
            <a:srgbClr val="2563EB"/>
          </a:solidFill>
          <a:ln/>
        </p:spPr>
      </p:sp>
      <p:sp>
        <p:nvSpPr>
          <p:cNvPr id="9" name="Text 7"/>
          <p:cNvSpPr/>
          <p:nvPr/>
        </p:nvSpPr>
        <p:spPr>
          <a:xfrm>
            <a:off x="457200" y="2880360"/>
            <a:ext cx="256032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RAG</a:t>
            </a:r>
            <a:endParaRPr lang="en-US" sz="1800" dirty="0"/>
          </a:p>
        </p:txBody>
      </p:sp>
      <p:sp>
        <p:nvSpPr>
          <p:cNvPr id="10" name="Shape 8"/>
          <p:cNvSpPr/>
          <p:nvPr/>
        </p:nvSpPr>
        <p:spPr>
          <a:xfrm>
            <a:off x="3200400" y="2560320"/>
            <a:ext cx="8503920" cy="1097280"/>
          </a:xfrm>
          <a:prstGeom prst="roundRect">
            <a:avLst>
              <a:gd name="adj" fmla="val 10000"/>
            </a:avLst>
          </a:prstGeom>
          <a:solidFill>
            <a:srgbClr val="F1F5F9"/>
          </a:solidFill>
          <a:ln/>
        </p:spPr>
      </p:sp>
      <p:sp>
        <p:nvSpPr>
          <p:cNvPr id="11" name="Text 9"/>
          <p:cNvSpPr/>
          <p:nvPr/>
        </p:nvSpPr>
        <p:spPr>
          <a:xfrm>
            <a:off x="3474720" y="2880360"/>
            <a:ext cx="7955280" cy="457200"/>
          </a:xfrm>
          <a:prstGeom prst="rect">
            <a:avLst/>
          </a:prstGeom>
          <a:noFill/>
          <a:ln/>
        </p:spPr>
        <p:txBody>
          <a:bodyPr wrap="square" lIns="0" tIns="0" rIns="0" bIns="0" rtlCol="0" anchor="ctr"/>
          <a:lstStyle/>
          <a:p>
            <a:pPr indent="0" marL="0">
              <a:buNone/>
            </a:pPr>
            <a:r>
              <a:rPr lang="en-US" sz="1500" dirty="0">
                <a:solidFill>
                  <a:srgbClr val="1E293B"/>
                </a:solidFill>
                <a:latin typeface="Arial" pitchFamily="34" charset="0"/>
                <a:ea typeface="Arial" pitchFamily="34" charset="-122"/>
                <a:cs typeface="Arial" pitchFamily="34" charset="-120"/>
              </a:rPr>
              <a:t>“I can now find and use your private documents.”</a:t>
            </a:r>
            <a:endParaRPr lang="en-US" sz="1500" dirty="0"/>
          </a:p>
        </p:txBody>
      </p:sp>
      <p:sp>
        <p:nvSpPr>
          <p:cNvPr id="12" name="Shape 10"/>
          <p:cNvSpPr/>
          <p:nvPr/>
        </p:nvSpPr>
        <p:spPr>
          <a:xfrm>
            <a:off x="457200" y="3840480"/>
            <a:ext cx="2560320" cy="1097280"/>
          </a:xfrm>
          <a:prstGeom prst="roundRect">
            <a:avLst>
              <a:gd name="adj" fmla="val 10000"/>
            </a:avLst>
          </a:prstGeom>
          <a:solidFill>
            <a:srgbClr val="2563EB"/>
          </a:solidFill>
          <a:ln/>
        </p:spPr>
      </p:sp>
      <p:sp>
        <p:nvSpPr>
          <p:cNvPr id="13" name="Text 11"/>
          <p:cNvSpPr/>
          <p:nvPr/>
        </p:nvSpPr>
        <p:spPr>
          <a:xfrm>
            <a:off x="457200" y="4160520"/>
            <a:ext cx="256032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MCP</a:t>
            </a:r>
            <a:endParaRPr lang="en-US" sz="1800" dirty="0"/>
          </a:p>
        </p:txBody>
      </p:sp>
      <p:sp>
        <p:nvSpPr>
          <p:cNvPr id="14" name="Shape 12"/>
          <p:cNvSpPr/>
          <p:nvPr/>
        </p:nvSpPr>
        <p:spPr>
          <a:xfrm>
            <a:off x="3200400" y="3840480"/>
            <a:ext cx="8503920" cy="1097280"/>
          </a:xfrm>
          <a:prstGeom prst="roundRect">
            <a:avLst>
              <a:gd name="adj" fmla="val 10000"/>
            </a:avLst>
          </a:prstGeom>
          <a:solidFill>
            <a:srgbClr val="F1F5F9"/>
          </a:solidFill>
          <a:ln/>
        </p:spPr>
      </p:sp>
      <p:sp>
        <p:nvSpPr>
          <p:cNvPr id="15" name="Text 13"/>
          <p:cNvSpPr/>
          <p:nvPr/>
        </p:nvSpPr>
        <p:spPr>
          <a:xfrm>
            <a:off x="3474720" y="4160520"/>
            <a:ext cx="7955280" cy="457200"/>
          </a:xfrm>
          <a:prstGeom prst="rect">
            <a:avLst/>
          </a:prstGeom>
          <a:noFill/>
          <a:ln/>
        </p:spPr>
        <p:txBody>
          <a:bodyPr wrap="square" lIns="0" tIns="0" rIns="0" bIns="0" rtlCol="0" anchor="ctr"/>
          <a:lstStyle/>
          <a:p>
            <a:pPr indent="0" marL="0">
              <a:buNone/>
            </a:pPr>
            <a:r>
              <a:rPr lang="en-US" sz="1500" dirty="0">
                <a:solidFill>
                  <a:srgbClr val="1E293B"/>
                </a:solidFill>
                <a:latin typeface="Arial" pitchFamily="34" charset="0"/>
                <a:ea typeface="Arial" pitchFamily="34" charset="-122"/>
                <a:cs typeface="Arial" pitchFamily="34" charset="-120"/>
              </a:rPr>
              <a:t>“I can now connect to tools and do real work.”</a:t>
            </a:r>
            <a:endParaRPr lang="en-US" sz="1500" dirty="0"/>
          </a:p>
        </p:txBody>
      </p:sp>
      <p:sp>
        <p:nvSpPr>
          <p:cNvPr id="16" name="Shape 14"/>
          <p:cNvSpPr/>
          <p:nvPr/>
        </p:nvSpPr>
        <p:spPr>
          <a:xfrm>
            <a:off x="457200" y="5120640"/>
            <a:ext cx="2560320" cy="1097280"/>
          </a:xfrm>
          <a:prstGeom prst="roundRect">
            <a:avLst>
              <a:gd name="adj" fmla="val 10000"/>
            </a:avLst>
          </a:prstGeom>
          <a:solidFill>
            <a:srgbClr val="2563EB"/>
          </a:solidFill>
          <a:ln/>
        </p:spPr>
      </p:sp>
      <p:sp>
        <p:nvSpPr>
          <p:cNvPr id="17" name="Text 15"/>
          <p:cNvSpPr/>
          <p:nvPr/>
        </p:nvSpPr>
        <p:spPr>
          <a:xfrm>
            <a:off x="457200" y="5440680"/>
            <a:ext cx="256032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Result</a:t>
            </a:r>
            <a:endParaRPr lang="en-US" sz="1800" dirty="0"/>
          </a:p>
        </p:txBody>
      </p:sp>
      <p:sp>
        <p:nvSpPr>
          <p:cNvPr id="18" name="Shape 16"/>
          <p:cNvSpPr/>
          <p:nvPr/>
        </p:nvSpPr>
        <p:spPr>
          <a:xfrm>
            <a:off x="3200400" y="5120640"/>
            <a:ext cx="8503920" cy="1097280"/>
          </a:xfrm>
          <a:prstGeom prst="roundRect">
            <a:avLst>
              <a:gd name="adj" fmla="val 10000"/>
            </a:avLst>
          </a:prstGeom>
          <a:solidFill>
            <a:srgbClr val="F1F5F9"/>
          </a:solidFill>
          <a:ln/>
        </p:spPr>
      </p:sp>
      <p:sp>
        <p:nvSpPr>
          <p:cNvPr id="19" name="Text 17"/>
          <p:cNvSpPr/>
          <p:nvPr/>
        </p:nvSpPr>
        <p:spPr>
          <a:xfrm>
            <a:off x="3474720" y="5440680"/>
            <a:ext cx="7955280" cy="457200"/>
          </a:xfrm>
          <a:prstGeom prst="rect">
            <a:avLst/>
          </a:prstGeom>
          <a:noFill/>
          <a:ln/>
        </p:spPr>
        <p:txBody>
          <a:bodyPr wrap="square" lIns="0" tIns="0" rIns="0" bIns="0" rtlCol="0" anchor="ctr"/>
          <a:lstStyle/>
          <a:p>
            <a:pPr indent="0" marL="0">
              <a:buNone/>
            </a:pPr>
            <a:r>
              <a:rPr lang="en-US" sz="1500" dirty="0">
                <a:solidFill>
                  <a:srgbClr val="1E293B"/>
                </a:solidFill>
                <a:latin typeface="Arial" pitchFamily="34" charset="0"/>
                <a:ea typeface="Arial" pitchFamily="34" charset="-122"/>
                <a:cs typeface="Arial" pitchFamily="34" charset="-120"/>
              </a:rPr>
              <a:t>A smart AI assistant that knows your data and can help you get things done.</a:t>
            </a:r>
            <a:endParaRPr lang="en-US" sz="15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indent="0" marL="0">
              <a:buNone/>
            </a:pPr>
            <a:r>
              <a:rPr lang="en-US" sz="2600" b="1" dirty="0">
                <a:solidFill>
                  <a:srgbClr val="0F172A"/>
                </a:solidFill>
                <a:latin typeface="Arial" pitchFamily="34" charset="0"/>
                <a:ea typeface="Arial" pitchFamily="34" charset="-122"/>
                <a:cs typeface="Arial" pitchFamily="34" charset="-120"/>
              </a:rPr>
              <a:t>Final Checklist — Can You Explain These?</a:t>
            </a:r>
            <a:endParaRPr lang="en-US" sz="2600" dirty="0"/>
          </a:p>
        </p:txBody>
      </p:sp>
      <p:sp>
        <p:nvSpPr>
          <p:cNvPr id="3" name="Shape 1"/>
          <p:cNvSpPr/>
          <p:nvPr/>
        </p:nvSpPr>
        <p:spPr>
          <a:xfrm>
            <a:off x="457200" y="868680"/>
            <a:ext cx="1463040" cy="64008"/>
          </a:xfrm>
          <a:prstGeom prst="rect">
            <a:avLst/>
          </a:prstGeom>
          <a:solidFill>
            <a:srgbClr val="2563EB"/>
          </a:solidFill>
          <a:ln/>
        </p:spPr>
      </p:sp>
      <p:sp>
        <p:nvSpPr>
          <p:cNvPr id="4" name="Shape 2"/>
          <p:cNvSpPr/>
          <p:nvPr/>
        </p:nvSpPr>
        <p:spPr>
          <a:xfrm>
            <a:off x="457200" y="1280160"/>
            <a:ext cx="5623560" cy="822960"/>
          </a:xfrm>
          <a:prstGeom prst="roundRect">
            <a:avLst>
              <a:gd name="adj" fmla="val 13333"/>
            </a:avLst>
          </a:prstGeom>
          <a:solidFill>
            <a:srgbClr val="F1F5F9"/>
          </a:solidFill>
          <a:ln/>
        </p:spPr>
      </p:sp>
      <p:sp>
        <p:nvSpPr>
          <p:cNvPr id="5" name="Text 3"/>
          <p:cNvSpPr/>
          <p:nvPr/>
        </p:nvSpPr>
        <p:spPr>
          <a:xfrm>
            <a:off x="731520" y="1508760"/>
            <a:ext cx="5120640" cy="365760"/>
          </a:xfrm>
          <a:prstGeom prst="rect">
            <a:avLst/>
          </a:prstGeom>
          <a:noFill/>
          <a:ln/>
        </p:spPr>
        <p:txBody>
          <a:bodyPr wrap="square" lIns="0" tIns="0" rIns="0" bIns="0" rtlCol="0" anchor="ctr"/>
          <a:lstStyle/>
          <a:p>
            <a:pPr indent="0" marL="0">
              <a:buNone/>
            </a:pPr>
            <a:r>
              <a:rPr lang="en-US" sz="1500" dirty="0">
                <a:solidFill>
                  <a:srgbClr val="0F172A"/>
                </a:solidFill>
                <a:latin typeface="Arial" pitchFamily="34" charset="0"/>
                <a:ea typeface="Arial" pitchFamily="34" charset="-122"/>
                <a:cs typeface="Arial" pitchFamily="34" charset="-120"/>
              </a:rPr>
              <a:t>☐   What is an LLM?</a:t>
            </a:r>
            <a:endParaRPr lang="en-US" sz="1500" dirty="0"/>
          </a:p>
        </p:txBody>
      </p:sp>
      <p:sp>
        <p:nvSpPr>
          <p:cNvPr id="6" name="Shape 4"/>
          <p:cNvSpPr/>
          <p:nvPr/>
        </p:nvSpPr>
        <p:spPr>
          <a:xfrm>
            <a:off x="6309360" y="1280160"/>
            <a:ext cx="5623560" cy="822960"/>
          </a:xfrm>
          <a:prstGeom prst="roundRect">
            <a:avLst>
              <a:gd name="adj" fmla="val 13333"/>
            </a:avLst>
          </a:prstGeom>
          <a:solidFill>
            <a:srgbClr val="F1F5F9"/>
          </a:solidFill>
          <a:ln/>
        </p:spPr>
      </p:sp>
      <p:sp>
        <p:nvSpPr>
          <p:cNvPr id="7" name="Text 5"/>
          <p:cNvSpPr/>
          <p:nvPr/>
        </p:nvSpPr>
        <p:spPr>
          <a:xfrm>
            <a:off x="6583680" y="1508760"/>
            <a:ext cx="5120640" cy="365760"/>
          </a:xfrm>
          <a:prstGeom prst="rect">
            <a:avLst/>
          </a:prstGeom>
          <a:noFill/>
          <a:ln/>
        </p:spPr>
        <p:txBody>
          <a:bodyPr wrap="square" lIns="0" tIns="0" rIns="0" bIns="0" rtlCol="0" anchor="ctr"/>
          <a:lstStyle/>
          <a:p>
            <a:pPr indent="0" marL="0">
              <a:buNone/>
            </a:pPr>
            <a:r>
              <a:rPr lang="en-US" sz="1500" dirty="0">
                <a:solidFill>
                  <a:srgbClr val="0F172A"/>
                </a:solidFill>
                <a:latin typeface="Arial" pitchFamily="34" charset="0"/>
                <a:ea typeface="Arial" pitchFamily="34" charset="-122"/>
                <a:cs typeface="Arial" pitchFamily="34" charset="-120"/>
              </a:rPr>
              <a:t>☐   Training vs Inference</a:t>
            </a:r>
            <a:endParaRPr lang="en-US" sz="1500" dirty="0"/>
          </a:p>
        </p:txBody>
      </p:sp>
      <p:sp>
        <p:nvSpPr>
          <p:cNvPr id="8" name="Shape 6"/>
          <p:cNvSpPr/>
          <p:nvPr/>
        </p:nvSpPr>
        <p:spPr>
          <a:xfrm>
            <a:off x="457200" y="2240280"/>
            <a:ext cx="5623560" cy="822960"/>
          </a:xfrm>
          <a:prstGeom prst="roundRect">
            <a:avLst>
              <a:gd name="adj" fmla="val 13333"/>
            </a:avLst>
          </a:prstGeom>
          <a:solidFill>
            <a:srgbClr val="F1F5F9"/>
          </a:solidFill>
          <a:ln/>
        </p:spPr>
      </p:sp>
      <p:sp>
        <p:nvSpPr>
          <p:cNvPr id="9" name="Text 7"/>
          <p:cNvSpPr/>
          <p:nvPr/>
        </p:nvSpPr>
        <p:spPr>
          <a:xfrm>
            <a:off x="731520" y="2468880"/>
            <a:ext cx="5120640" cy="365760"/>
          </a:xfrm>
          <a:prstGeom prst="rect">
            <a:avLst/>
          </a:prstGeom>
          <a:noFill/>
          <a:ln/>
        </p:spPr>
        <p:txBody>
          <a:bodyPr wrap="square" lIns="0" tIns="0" rIns="0" bIns="0" rtlCol="0" anchor="ctr"/>
          <a:lstStyle/>
          <a:p>
            <a:pPr indent="0" marL="0">
              <a:buNone/>
            </a:pPr>
            <a:r>
              <a:rPr lang="en-US" sz="1500" dirty="0">
                <a:solidFill>
                  <a:srgbClr val="0F172A"/>
                </a:solidFill>
                <a:latin typeface="Arial" pitchFamily="34" charset="0"/>
                <a:ea typeface="Arial" pitchFamily="34" charset="-122"/>
                <a:cs typeface="Arial" pitchFamily="34" charset="-120"/>
              </a:rPr>
              <a:t>☐   Tokens and Context Window</a:t>
            </a:r>
            <a:endParaRPr lang="en-US" sz="1500" dirty="0"/>
          </a:p>
        </p:txBody>
      </p:sp>
      <p:sp>
        <p:nvSpPr>
          <p:cNvPr id="10" name="Shape 8"/>
          <p:cNvSpPr/>
          <p:nvPr/>
        </p:nvSpPr>
        <p:spPr>
          <a:xfrm>
            <a:off x="6309360" y="2240280"/>
            <a:ext cx="5623560" cy="822960"/>
          </a:xfrm>
          <a:prstGeom prst="roundRect">
            <a:avLst>
              <a:gd name="adj" fmla="val 13333"/>
            </a:avLst>
          </a:prstGeom>
          <a:solidFill>
            <a:srgbClr val="F1F5F9"/>
          </a:solidFill>
          <a:ln/>
        </p:spPr>
      </p:sp>
      <p:sp>
        <p:nvSpPr>
          <p:cNvPr id="11" name="Text 9"/>
          <p:cNvSpPr/>
          <p:nvPr/>
        </p:nvSpPr>
        <p:spPr>
          <a:xfrm>
            <a:off x="6583680" y="2468880"/>
            <a:ext cx="5120640" cy="365760"/>
          </a:xfrm>
          <a:prstGeom prst="rect">
            <a:avLst/>
          </a:prstGeom>
          <a:noFill/>
          <a:ln/>
        </p:spPr>
        <p:txBody>
          <a:bodyPr wrap="square" lIns="0" tIns="0" rIns="0" bIns="0" rtlCol="0" anchor="ctr"/>
          <a:lstStyle/>
          <a:p>
            <a:pPr indent="0" marL="0">
              <a:buNone/>
            </a:pPr>
            <a:r>
              <a:rPr lang="en-US" sz="1500" dirty="0">
                <a:solidFill>
                  <a:srgbClr val="0F172A"/>
                </a:solidFill>
                <a:latin typeface="Arial" pitchFamily="34" charset="0"/>
                <a:ea typeface="Arial" pitchFamily="34" charset="-122"/>
                <a:cs typeface="Arial" pitchFamily="34" charset="-120"/>
              </a:rPr>
              <a:t>☐   What is a Prompt?</a:t>
            </a:r>
            <a:endParaRPr lang="en-US" sz="1500" dirty="0"/>
          </a:p>
        </p:txBody>
      </p:sp>
      <p:sp>
        <p:nvSpPr>
          <p:cNvPr id="12" name="Shape 10"/>
          <p:cNvSpPr/>
          <p:nvPr/>
        </p:nvSpPr>
        <p:spPr>
          <a:xfrm>
            <a:off x="457200" y="3200400"/>
            <a:ext cx="5623560" cy="822960"/>
          </a:xfrm>
          <a:prstGeom prst="roundRect">
            <a:avLst>
              <a:gd name="adj" fmla="val 13333"/>
            </a:avLst>
          </a:prstGeom>
          <a:solidFill>
            <a:srgbClr val="F1F5F9"/>
          </a:solidFill>
          <a:ln/>
        </p:spPr>
      </p:sp>
      <p:sp>
        <p:nvSpPr>
          <p:cNvPr id="13" name="Text 11"/>
          <p:cNvSpPr/>
          <p:nvPr/>
        </p:nvSpPr>
        <p:spPr>
          <a:xfrm>
            <a:off x="731520" y="3429000"/>
            <a:ext cx="5120640" cy="365760"/>
          </a:xfrm>
          <a:prstGeom prst="rect">
            <a:avLst/>
          </a:prstGeom>
          <a:noFill/>
          <a:ln/>
        </p:spPr>
        <p:txBody>
          <a:bodyPr wrap="square" lIns="0" tIns="0" rIns="0" bIns="0" rtlCol="0" anchor="ctr"/>
          <a:lstStyle/>
          <a:p>
            <a:pPr indent="0" marL="0">
              <a:buNone/>
            </a:pPr>
            <a:r>
              <a:rPr lang="en-US" sz="1500" dirty="0">
                <a:solidFill>
                  <a:srgbClr val="0F172A"/>
                </a:solidFill>
                <a:latin typeface="Arial" pitchFamily="34" charset="0"/>
                <a:ea typeface="Arial" pitchFamily="34" charset="-122"/>
                <a:cs typeface="Arial" pitchFamily="34" charset="-120"/>
              </a:rPr>
              <a:t>☐   What are Embeddings?</a:t>
            </a:r>
            <a:endParaRPr lang="en-US" sz="1500" dirty="0"/>
          </a:p>
        </p:txBody>
      </p:sp>
      <p:sp>
        <p:nvSpPr>
          <p:cNvPr id="14" name="Shape 12"/>
          <p:cNvSpPr/>
          <p:nvPr/>
        </p:nvSpPr>
        <p:spPr>
          <a:xfrm>
            <a:off x="6309360" y="3200400"/>
            <a:ext cx="5623560" cy="822960"/>
          </a:xfrm>
          <a:prstGeom prst="roundRect">
            <a:avLst>
              <a:gd name="adj" fmla="val 13333"/>
            </a:avLst>
          </a:prstGeom>
          <a:solidFill>
            <a:srgbClr val="F1F5F9"/>
          </a:solidFill>
          <a:ln/>
        </p:spPr>
      </p:sp>
      <p:sp>
        <p:nvSpPr>
          <p:cNvPr id="15" name="Text 13"/>
          <p:cNvSpPr/>
          <p:nvPr/>
        </p:nvSpPr>
        <p:spPr>
          <a:xfrm>
            <a:off x="6583680" y="3429000"/>
            <a:ext cx="5120640" cy="365760"/>
          </a:xfrm>
          <a:prstGeom prst="rect">
            <a:avLst/>
          </a:prstGeom>
          <a:noFill/>
          <a:ln/>
        </p:spPr>
        <p:txBody>
          <a:bodyPr wrap="square" lIns="0" tIns="0" rIns="0" bIns="0" rtlCol="0" anchor="ctr"/>
          <a:lstStyle/>
          <a:p>
            <a:pPr indent="0" marL="0">
              <a:buNone/>
            </a:pPr>
            <a:r>
              <a:rPr lang="en-US" sz="1500" dirty="0">
                <a:solidFill>
                  <a:srgbClr val="0F172A"/>
                </a:solidFill>
                <a:latin typeface="Arial" pitchFamily="34" charset="0"/>
                <a:ea typeface="Arial" pitchFamily="34" charset="-122"/>
                <a:cs typeface="Arial" pitchFamily="34" charset="-120"/>
              </a:rPr>
              <a:t>☐   What is RAG and why we need it?</a:t>
            </a:r>
            <a:endParaRPr lang="en-US" sz="1500" dirty="0"/>
          </a:p>
        </p:txBody>
      </p:sp>
      <p:sp>
        <p:nvSpPr>
          <p:cNvPr id="16" name="Shape 14"/>
          <p:cNvSpPr/>
          <p:nvPr/>
        </p:nvSpPr>
        <p:spPr>
          <a:xfrm>
            <a:off x="457200" y="4160520"/>
            <a:ext cx="5623560" cy="822960"/>
          </a:xfrm>
          <a:prstGeom prst="roundRect">
            <a:avLst>
              <a:gd name="adj" fmla="val 13333"/>
            </a:avLst>
          </a:prstGeom>
          <a:solidFill>
            <a:srgbClr val="F1F5F9"/>
          </a:solidFill>
          <a:ln/>
        </p:spPr>
      </p:sp>
      <p:sp>
        <p:nvSpPr>
          <p:cNvPr id="17" name="Text 15"/>
          <p:cNvSpPr/>
          <p:nvPr/>
        </p:nvSpPr>
        <p:spPr>
          <a:xfrm>
            <a:off x="731520" y="4389120"/>
            <a:ext cx="5120640" cy="365760"/>
          </a:xfrm>
          <a:prstGeom prst="rect">
            <a:avLst/>
          </a:prstGeom>
          <a:noFill/>
          <a:ln/>
        </p:spPr>
        <p:txBody>
          <a:bodyPr wrap="square" lIns="0" tIns="0" rIns="0" bIns="0" rtlCol="0" anchor="ctr"/>
          <a:lstStyle/>
          <a:p>
            <a:pPr indent="0" marL="0">
              <a:buNone/>
            </a:pPr>
            <a:r>
              <a:rPr lang="en-US" sz="1500" dirty="0">
                <a:solidFill>
                  <a:srgbClr val="0F172A"/>
                </a:solidFill>
                <a:latin typeface="Arial" pitchFamily="34" charset="0"/>
                <a:ea typeface="Arial" pitchFamily="34" charset="-122"/>
                <a:cs typeface="Arial" pitchFamily="34" charset="-120"/>
              </a:rPr>
              <a:t>☐   How does RAG find documents?</a:t>
            </a:r>
            <a:endParaRPr lang="en-US" sz="1500" dirty="0"/>
          </a:p>
        </p:txBody>
      </p:sp>
      <p:sp>
        <p:nvSpPr>
          <p:cNvPr id="18" name="Shape 16"/>
          <p:cNvSpPr/>
          <p:nvPr/>
        </p:nvSpPr>
        <p:spPr>
          <a:xfrm>
            <a:off x="6309360" y="4160520"/>
            <a:ext cx="5623560" cy="822960"/>
          </a:xfrm>
          <a:prstGeom prst="roundRect">
            <a:avLst>
              <a:gd name="adj" fmla="val 13333"/>
            </a:avLst>
          </a:prstGeom>
          <a:solidFill>
            <a:srgbClr val="F1F5F9"/>
          </a:solidFill>
          <a:ln/>
        </p:spPr>
      </p:sp>
      <p:sp>
        <p:nvSpPr>
          <p:cNvPr id="19" name="Text 17"/>
          <p:cNvSpPr/>
          <p:nvPr/>
        </p:nvSpPr>
        <p:spPr>
          <a:xfrm>
            <a:off x="6583680" y="4389120"/>
            <a:ext cx="5120640" cy="365760"/>
          </a:xfrm>
          <a:prstGeom prst="rect">
            <a:avLst/>
          </a:prstGeom>
          <a:noFill/>
          <a:ln/>
        </p:spPr>
        <p:txBody>
          <a:bodyPr wrap="square" lIns="0" tIns="0" rIns="0" bIns="0" rtlCol="0" anchor="ctr"/>
          <a:lstStyle/>
          <a:p>
            <a:pPr indent="0" marL="0">
              <a:buNone/>
            </a:pPr>
            <a:r>
              <a:rPr lang="en-US" sz="1500" dirty="0">
                <a:solidFill>
                  <a:srgbClr val="0F172A"/>
                </a:solidFill>
                <a:latin typeface="Arial" pitchFamily="34" charset="0"/>
                <a:ea typeface="Arial" pitchFamily="34" charset="-122"/>
                <a:cs typeface="Arial" pitchFamily="34" charset="-120"/>
              </a:rPr>
              <a:t>☐   What is MCP?</a:t>
            </a:r>
            <a:endParaRPr lang="en-US" sz="1500" dirty="0"/>
          </a:p>
        </p:txBody>
      </p:sp>
      <p:sp>
        <p:nvSpPr>
          <p:cNvPr id="20" name="Shape 18"/>
          <p:cNvSpPr/>
          <p:nvPr/>
        </p:nvSpPr>
        <p:spPr>
          <a:xfrm>
            <a:off x="457200" y="5120640"/>
            <a:ext cx="5623560" cy="822960"/>
          </a:xfrm>
          <a:prstGeom prst="roundRect">
            <a:avLst>
              <a:gd name="adj" fmla="val 13333"/>
            </a:avLst>
          </a:prstGeom>
          <a:solidFill>
            <a:srgbClr val="F1F5F9"/>
          </a:solidFill>
          <a:ln/>
        </p:spPr>
      </p:sp>
      <p:sp>
        <p:nvSpPr>
          <p:cNvPr id="21" name="Text 19"/>
          <p:cNvSpPr/>
          <p:nvPr/>
        </p:nvSpPr>
        <p:spPr>
          <a:xfrm>
            <a:off x="731520" y="5349240"/>
            <a:ext cx="5120640" cy="365760"/>
          </a:xfrm>
          <a:prstGeom prst="rect">
            <a:avLst/>
          </a:prstGeom>
          <a:noFill/>
          <a:ln/>
        </p:spPr>
        <p:txBody>
          <a:bodyPr wrap="square" lIns="0" tIns="0" rIns="0" bIns="0" rtlCol="0" anchor="ctr"/>
          <a:lstStyle/>
          <a:p>
            <a:pPr indent="0" marL="0">
              <a:buNone/>
            </a:pPr>
            <a:r>
              <a:rPr lang="en-US" sz="1500" dirty="0">
                <a:solidFill>
                  <a:srgbClr val="0F172A"/>
                </a:solidFill>
                <a:latin typeface="Arial" pitchFamily="34" charset="0"/>
                <a:ea typeface="Arial" pitchFamily="34" charset="-122"/>
                <a:cs typeface="Arial" pitchFamily="34" charset="-120"/>
              </a:rPr>
              <a:t>☐   Difference between Tool and Resource</a:t>
            </a:r>
            <a:endParaRPr lang="en-US" sz="1500" dirty="0"/>
          </a:p>
        </p:txBody>
      </p:sp>
      <p:sp>
        <p:nvSpPr>
          <p:cNvPr id="22" name="Shape 20"/>
          <p:cNvSpPr/>
          <p:nvPr/>
        </p:nvSpPr>
        <p:spPr>
          <a:xfrm>
            <a:off x="6309360" y="5120640"/>
            <a:ext cx="5623560" cy="822960"/>
          </a:xfrm>
          <a:prstGeom prst="roundRect">
            <a:avLst>
              <a:gd name="adj" fmla="val 13333"/>
            </a:avLst>
          </a:prstGeom>
          <a:solidFill>
            <a:srgbClr val="F1F5F9"/>
          </a:solidFill>
          <a:ln/>
        </p:spPr>
      </p:sp>
      <p:sp>
        <p:nvSpPr>
          <p:cNvPr id="23" name="Text 21"/>
          <p:cNvSpPr/>
          <p:nvPr/>
        </p:nvSpPr>
        <p:spPr>
          <a:xfrm>
            <a:off x="6583680" y="5349240"/>
            <a:ext cx="5120640" cy="365760"/>
          </a:xfrm>
          <a:prstGeom prst="rect">
            <a:avLst/>
          </a:prstGeom>
          <a:noFill/>
          <a:ln/>
        </p:spPr>
        <p:txBody>
          <a:bodyPr wrap="square" lIns="0" tIns="0" rIns="0" bIns="0" rtlCol="0" anchor="ctr"/>
          <a:lstStyle/>
          <a:p>
            <a:pPr indent="0" marL="0">
              <a:buNone/>
            </a:pPr>
            <a:r>
              <a:rPr lang="en-US" sz="1500" dirty="0">
                <a:solidFill>
                  <a:srgbClr val="0F172A"/>
                </a:solidFill>
                <a:latin typeface="Arial" pitchFamily="34" charset="0"/>
                <a:ea typeface="Arial" pitchFamily="34" charset="-122"/>
                <a:cs typeface="Arial" pitchFamily="34" charset="-120"/>
              </a:rPr>
              <a:t>☐   How LLM + RAG + MCP work together</a:t>
            </a:r>
            <a:endParaRPr lang="en-US" sz="15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194560"/>
            <a:ext cx="11247120" cy="457200"/>
          </a:xfrm>
          <a:prstGeom prst="rect">
            <a:avLst/>
          </a:prstGeom>
          <a:noFill/>
          <a:ln/>
        </p:spPr>
        <p:txBody>
          <a:bodyPr wrap="square" lIns="0" tIns="0" rIns="0" bIns="0" rtlCol="0" anchor="ctr"/>
          <a:lstStyle/>
          <a:p>
            <a:pPr algn="ctr" indent="0" marL="0">
              <a:buNone/>
            </a:pPr>
            <a:r>
              <a:rPr lang="en-US" sz="1800" b="1" dirty="0">
                <a:solidFill>
                  <a:srgbClr val="93C5FD"/>
                </a:solidFill>
                <a:latin typeface="Arial" pitchFamily="34" charset="0"/>
                <a:ea typeface="Arial" pitchFamily="34" charset="-122"/>
                <a:cs typeface="Arial" pitchFamily="34" charset="-120"/>
              </a:rPr>
              <a:t>You now understand the modern AI stack</a:t>
            </a:r>
            <a:endParaRPr lang="en-US" sz="1800" dirty="0"/>
          </a:p>
        </p:txBody>
      </p:sp>
      <p:sp>
        <p:nvSpPr>
          <p:cNvPr id="3" name="Text 1"/>
          <p:cNvSpPr/>
          <p:nvPr/>
        </p:nvSpPr>
        <p:spPr>
          <a:xfrm>
            <a:off x="457200" y="2834640"/>
            <a:ext cx="11247120" cy="731520"/>
          </a:xfrm>
          <a:prstGeom prst="rect">
            <a:avLst/>
          </a:prstGeom>
          <a:noFill/>
          <a:ln/>
        </p:spPr>
        <p:txBody>
          <a:bodyPr wrap="square" lIns="0" tIns="0" rIns="0" bIns="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LLM  →  RAG  →  MCP</a:t>
            </a:r>
            <a:endParaRPr lang="en-US" sz="4000" dirty="0"/>
          </a:p>
        </p:txBody>
      </p:sp>
      <p:sp>
        <p:nvSpPr>
          <p:cNvPr id="4" name="Text 2"/>
          <p:cNvSpPr/>
          <p:nvPr/>
        </p:nvSpPr>
        <p:spPr>
          <a:xfrm>
            <a:off x="457200" y="3749040"/>
            <a:ext cx="11247120" cy="457200"/>
          </a:xfrm>
          <a:prstGeom prst="rect">
            <a:avLst/>
          </a:prstGeom>
          <a:noFill/>
          <a:ln/>
        </p:spPr>
        <p:txBody>
          <a:bodyPr wrap="square" lIns="0" tIns="0" rIns="0" bIns="0" rtlCol="0" anchor="ctr"/>
          <a:lstStyle/>
          <a:p>
            <a:pPr algn="ctr" indent="0" marL="0">
              <a:buNone/>
            </a:pPr>
            <a:r>
              <a:rPr lang="en-US" sz="2000" dirty="0">
                <a:solidFill>
                  <a:srgbClr val="94A3B8"/>
                </a:solidFill>
                <a:latin typeface="Arial" pitchFamily="34" charset="0"/>
                <a:ea typeface="Arial" pitchFamily="34" charset="-122"/>
                <a:cs typeface="Arial" pitchFamily="34" charset="-120"/>
              </a:rPr>
              <a:t>Brain  →  Knowledge  →  Hands</a:t>
            </a:r>
            <a:endParaRPr lang="en-US" sz="2000" dirty="0"/>
          </a:p>
        </p:txBody>
      </p:sp>
      <p:sp>
        <p:nvSpPr>
          <p:cNvPr id="5" name="Text 3"/>
          <p:cNvSpPr/>
          <p:nvPr/>
        </p:nvSpPr>
        <p:spPr>
          <a:xfrm>
            <a:off x="457200" y="4846320"/>
            <a:ext cx="11247120" cy="457200"/>
          </a:xfrm>
          <a:prstGeom prst="rect">
            <a:avLst/>
          </a:prstGeom>
          <a:noFill/>
          <a:ln/>
        </p:spPr>
        <p:txBody>
          <a:bodyPr wrap="square" lIns="0" tIns="0" rIns="0" bIns="0" rtlCol="0" anchor="ctr"/>
          <a:lstStyle/>
          <a:p>
            <a:pPr algn="ctr" indent="0" marL="0">
              <a:buNone/>
            </a:pPr>
            <a:r>
              <a:rPr lang="en-US" sz="1800" dirty="0">
                <a:solidFill>
                  <a:srgbClr val="93C5FD"/>
                </a:solidFill>
                <a:latin typeface="Arial" pitchFamily="34" charset="0"/>
                <a:ea typeface="Arial" pitchFamily="34" charset="-122"/>
                <a:cs typeface="Arial" pitchFamily="34" charset="-120"/>
              </a:rPr>
              <a:t>Go build something useful.</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LLM + RAG + MCP — Super Simple Guide</dc:title>
  <dc:subject>PptxGenJS Presentation</dc:subject>
  <dc:creator>AI Education</dc:creator>
  <cp:lastModifiedBy>AI Education</cp:lastModifiedBy>
  <cp:revision>1</cp:revision>
  <dcterms:created xsi:type="dcterms:W3CDTF">2026-09-07T12:58:31Z</dcterms:created>
  <dcterms:modified xsi:type="dcterms:W3CDTF">2026-09-07T12:58:31Z</dcterms:modified>
</cp:coreProperties>
</file>